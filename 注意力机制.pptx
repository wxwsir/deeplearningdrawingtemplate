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3" r:id="rId8"/>
    <p:sldId id="264" r:id="rId9"/>
    <p:sldId id="265" r:id="rId10"/>
    <p:sldId id="260" r:id="rId11"/>
    <p:sldId id="266" r:id="rId12"/>
    <p:sldId id="267" r:id="rId13"/>
    <p:sldId id="268" r:id="rId14"/>
    <p:sldId id="269" r:id="rId15"/>
    <p:sldId id="261" r:id="rId16"/>
    <p:sldId id="26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DEDEDE"/>
    <a:srgbClr val="D7E3EB"/>
    <a:srgbClr val="5789AE"/>
    <a:srgbClr val="D7E6D4"/>
    <a:srgbClr val="FBDBE5"/>
    <a:srgbClr val="9E9E9E"/>
    <a:srgbClr val="F0799E"/>
    <a:srgbClr val="868686"/>
    <a:srgbClr val="E2E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92"/>
        <p:guide pos="381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4" Type="http://schemas.openxmlformats.org/officeDocument/2006/relationships/notesSlide" Target="../notesSlides/notesSlide2.xml"/><Relationship Id="rId53" Type="http://schemas.openxmlformats.org/officeDocument/2006/relationships/slideLayout" Target="../slideLayouts/slideLayout1.xml"/><Relationship Id="rId52" Type="http://schemas.openxmlformats.org/officeDocument/2006/relationships/tags" Target="../tags/tag112.xml"/><Relationship Id="rId51" Type="http://schemas.openxmlformats.org/officeDocument/2006/relationships/tags" Target="../tags/tag111.xml"/><Relationship Id="rId50" Type="http://schemas.openxmlformats.org/officeDocument/2006/relationships/tags" Target="../tags/tag110.xml"/><Relationship Id="rId5" Type="http://schemas.openxmlformats.org/officeDocument/2006/relationships/tags" Target="../tags/tag67.xml"/><Relationship Id="rId49" Type="http://schemas.openxmlformats.org/officeDocument/2006/relationships/tags" Target="../tags/tag109.xml"/><Relationship Id="rId48" Type="http://schemas.openxmlformats.org/officeDocument/2006/relationships/tags" Target="../tags/tag108.xml"/><Relationship Id="rId47" Type="http://schemas.openxmlformats.org/officeDocument/2006/relationships/tags" Target="../tags/tag107.xml"/><Relationship Id="rId46" Type="http://schemas.openxmlformats.org/officeDocument/2006/relationships/tags" Target="../tags/tag106.xml"/><Relationship Id="rId45" Type="http://schemas.openxmlformats.org/officeDocument/2006/relationships/tags" Target="../tags/tag105.xml"/><Relationship Id="rId44" Type="http://schemas.openxmlformats.org/officeDocument/2006/relationships/tags" Target="../tags/tag104.xml"/><Relationship Id="rId43" Type="http://schemas.openxmlformats.org/officeDocument/2006/relationships/tags" Target="../tags/tag103.xml"/><Relationship Id="rId42" Type="http://schemas.openxmlformats.org/officeDocument/2006/relationships/tags" Target="../tags/tag102.xml"/><Relationship Id="rId41" Type="http://schemas.openxmlformats.org/officeDocument/2006/relationships/tags" Target="../tags/tag101.xml"/><Relationship Id="rId40" Type="http://schemas.openxmlformats.org/officeDocument/2006/relationships/tags" Target="../tags/tag100.xml"/><Relationship Id="rId4" Type="http://schemas.openxmlformats.org/officeDocument/2006/relationships/tags" Target="../tags/tag66.xml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image" Target="../media/image6.svg"/><Relationship Id="rId31" Type="http://schemas.openxmlformats.org/officeDocument/2006/relationships/image" Target="../media/image5.png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image" Target="../media/image4.png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3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Relationship Id="rId32" Type="http://schemas.openxmlformats.org/officeDocument/2006/relationships/notesSlide" Target="../notesSlides/notesSlide4.xml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1.xml"/><Relationship Id="rId3" Type="http://schemas.openxmlformats.org/officeDocument/2006/relationships/oleObject" Target="../embeddings/oleObject2.bin"/><Relationship Id="rId29" Type="http://schemas.openxmlformats.org/officeDocument/2006/relationships/tags" Target="../tags/tag114.xml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7.bin"/><Relationship Id="rId26" Type="http://schemas.openxmlformats.org/officeDocument/2006/relationships/oleObject" Target="../embeddings/oleObject16.bin"/><Relationship Id="rId25" Type="http://schemas.openxmlformats.org/officeDocument/2006/relationships/oleObject" Target="../embeddings/oleObject15.bin"/><Relationship Id="rId24" Type="http://schemas.openxmlformats.org/officeDocument/2006/relationships/oleObject" Target="../embeddings/oleObject14.bin"/><Relationship Id="rId23" Type="http://schemas.openxmlformats.org/officeDocument/2006/relationships/image" Target="../media/image17.wmf"/><Relationship Id="rId22" Type="http://schemas.openxmlformats.org/officeDocument/2006/relationships/oleObject" Target="../embeddings/oleObject13.bin"/><Relationship Id="rId21" Type="http://schemas.openxmlformats.org/officeDocument/2006/relationships/image" Target="../media/image16.wmf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8.png"/><Relationship Id="rId19" Type="http://schemas.openxmlformats.org/officeDocument/2006/relationships/image" Target="../media/image15.wmf"/><Relationship Id="rId18" Type="http://schemas.openxmlformats.org/officeDocument/2006/relationships/oleObject" Target="../embeddings/oleObject11.bin"/><Relationship Id="rId17" Type="http://schemas.openxmlformats.org/officeDocument/2006/relationships/oleObject" Target="../embeddings/oleObject10.bin"/><Relationship Id="rId16" Type="http://schemas.openxmlformats.org/officeDocument/2006/relationships/oleObject" Target="../embeddings/oleObject9.bin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6" Type="http://schemas.openxmlformats.org/officeDocument/2006/relationships/notesSlide" Target="../notesSlides/notesSlide6.xml"/><Relationship Id="rId55" Type="http://schemas.openxmlformats.org/officeDocument/2006/relationships/slideLayout" Target="../slideLayouts/slideLayout1.xml"/><Relationship Id="rId54" Type="http://schemas.openxmlformats.org/officeDocument/2006/relationships/tags" Target="../tags/tag167.xml"/><Relationship Id="rId53" Type="http://schemas.openxmlformats.org/officeDocument/2006/relationships/tags" Target="../tags/tag166.xml"/><Relationship Id="rId52" Type="http://schemas.openxmlformats.org/officeDocument/2006/relationships/tags" Target="../tags/tag165.xml"/><Relationship Id="rId51" Type="http://schemas.openxmlformats.org/officeDocument/2006/relationships/tags" Target="../tags/tag164.xml"/><Relationship Id="rId50" Type="http://schemas.openxmlformats.org/officeDocument/2006/relationships/tags" Target="../tags/tag163.xml"/><Relationship Id="rId5" Type="http://schemas.openxmlformats.org/officeDocument/2006/relationships/tags" Target="../tags/tag118.xml"/><Relationship Id="rId49" Type="http://schemas.openxmlformats.org/officeDocument/2006/relationships/tags" Target="../tags/tag162.xml"/><Relationship Id="rId48" Type="http://schemas.openxmlformats.org/officeDocument/2006/relationships/tags" Target="../tags/tag161.xml"/><Relationship Id="rId47" Type="http://schemas.openxmlformats.org/officeDocument/2006/relationships/tags" Target="../tags/tag160.xml"/><Relationship Id="rId46" Type="http://schemas.openxmlformats.org/officeDocument/2006/relationships/tags" Target="../tags/tag159.xml"/><Relationship Id="rId45" Type="http://schemas.openxmlformats.org/officeDocument/2006/relationships/tags" Target="../tags/tag158.xml"/><Relationship Id="rId44" Type="http://schemas.openxmlformats.org/officeDocument/2006/relationships/tags" Target="../tags/tag157.xml"/><Relationship Id="rId43" Type="http://schemas.openxmlformats.org/officeDocument/2006/relationships/tags" Target="../tags/tag156.xml"/><Relationship Id="rId42" Type="http://schemas.openxmlformats.org/officeDocument/2006/relationships/tags" Target="../tags/tag155.xml"/><Relationship Id="rId41" Type="http://schemas.openxmlformats.org/officeDocument/2006/relationships/tags" Target="../tags/tag154.xml"/><Relationship Id="rId40" Type="http://schemas.openxmlformats.org/officeDocument/2006/relationships/tags" Target="../tags/tag153.xml"/><Relationship Id="rId4" Type="http://schemas.openxmlformats.org/officeDocument/2006/relationships/tags" Target="../tags/tag117.xml"/><Relationship Id="rId39" Type="http://schemas.openxmlformats.org/officeDocument/2006/relationships/tags" Target="../tags/tag152.xml"/><Relationship Id="rId38" Type="http://schemas.openxmlformats.org/officeDocument/2006/relationships/tags" Target="../tags/tag151.xml"/><Relationship Id="rId37" Type="http://schemas.openxmlformats.org/officeDocument/2006/relationships/tags" Target="../tags/tag150.xml"/><Relationship Id="rId36" Type="http://schemas.openxmlformats.org/officeDocument/2006/relationships/tags" Target="../tags/tag149.xml"/><Relationship Id="rId35" Type="http://schemas.openxmlformats.org/officeDocument/2006/relationships/tags" Target="../tags/tag148.xml"/><Relationship Id="rId34" Type="http://schemas.openxmlformats.org/officeDocument/2006/relationships/tags" Target="../tags/tag147.xml"/><Relationship Id="rId33" Type="http://schemas.openxmlformats.org/officeDocument/2006/relationships/tags" Target="../tags/tag146.xml"/><Relationship Id="rId32" Type="http://schemas.openxmlformats.org/officeDocument/2006/relationships/tags" Target="../tags/tag145.xml"/><Relationship Id="rId31" Type="http://schemas.openxmlformats.org/officeDocument/2006/relationships/tags" Target="../tags/tag144.xml"/><Relationship Id="rId30" Type="http://schemas.openxmlformats.org/officeDocument/2006/relationships/tags" Target="../tags/tag143.xml"/><Relationship Id="rId3" Type="http://schemas.openxmlformats.org/officeDocument/2006/relationships/tags" Target="../tags/tag116.xml"/><Relationship Id="rId29" Type="http://schemas.openxmlformats.org/officeDocument/2006/relationships/tags" Target="../tags/tag142.xml"/><Relationship Id="rId28" Type="http://schemas.openxmlformats.org/officeDocument/2006/relationships/tags" Target="../tags/tag141.xml"/><Relationship Id="rId27" Type="http://schemas.openxmlformats.org/officeDocument/2006/relationships/tags" Target="../tags/tag140.xml"/><Relationship Id="rId26" Type="http://schemas.openxmlformats.org/officeDocument/2006/relationships/tags" Target="../tags/tag139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image" Target="../media/image20.png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8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2" Type="http://schemas.openxmlformats.org/officeDocument/2006/relationships/notesSlide" Target="../notesSlides/notesSlide8.xml"/><Relationship Id="rId71" Type="http://schemas.openxmlformats.org/officeDocument/2006/relationships/vmlDrawing" Target="../drawings/vmlDrawing3.vml"/><Relationship Id="rId70" Type="http://schemas.openxmlformats.org/officeDocument/2006/relationships/slideLayout" Target="../slideLayouts/slideLayout1.xml"/><Relationship Id="rId7" Type="http://schemas.openxmlformats.org/officeDocument/2006/relationships/tags" Target="../tags/tag173.xml"/><Relationship Id="rId69" Type="http://schemas.openxmlformats.org/officeDocument/2006/relationships/tags" Target="../tags/tag232.xml"/><Relationship Id="rId68" Type="http://schemas.openxmlformats.org/officeDocument/2006/relationships/tags" Target="../tags/tag231.xml"/><Relationship Id="rId67" Type="http://schemas.openxmlformats.org/officeDocument/2006/relationships/tags" Target="../tags/tag230.xml"/><Relationship Id="rId66" Type="http://schemas.openxmlformats.org/officeDocument/2006/relationships/tags" Target="../tags/tag229.xml"/><Relationship Id="rId65" Type="http://schemas.openxmlformats.org/officeDocument/2006/relationships/tags" Target="../tags/tag228.xml"/><Relationship Id="rId64" Type="http://schemas.openxmlformats.org/officeDocument/2006/relationships/oleObject" Target="../embeddings/oleObject19.bin"/><Relationship Id="rId63" Type="http://schemas.openxmlformats.org/officeDocument/2006/relationships/tags" Target="../tags/tag227.xml"/><Relationship Id="rId62" Type="http://schemas.openxmlformats.org/officeDocument/2006/relationships/image" Target="../media/image23.wmf"/><Relationship Id="rId61" Type="http://schemas.openxmlformats.org/officeDocument/2006/relationships/oleObject" Target="../embeddings/oleObject18.bin"/><Relationship Id="rId60" Type="http://schemas.openxmlformats.org/officeDocument/2006/relationships/tags" Target="../tags/tag226.xml"/><Relationship Id="rId6" Type="http://schemas.openxmlformats.org/officeDocument/2006/relationships/tags" Target="../tags/tag172.xml"/><Relationship Id="rId59" Type="http://schemas.openxmlformats.org/officeDocument/2006/relationships/tags" Target="../tags/tag225.xml"/><Relationship Id="rId58" Type="http://schemas.openxmlformats.org/officeDocument/2006/relationships/tags" Target="../tags/tag224.xml"/><Relationship Id="rId57" Type="http://schemas.openxmlformats.org/officeDocument/2006/relationships/tags" Target="../tags/tag223.xml"/><Relationship Id="rId56" Type="http://schemas.openxmlformats.org/officeDocument/2006/relationships/tags" Target="../tags/tag222.xml"/><Relationship Id="rId55" Type="http://schemas.openxmlformats.org/officeDocument/2006/relationships/tags" Target="../tags/tag221.xml"/><Relationship Id="rId54" Type="http://schemas.openxmlformats.org/officeDocument/2006/relationships/tags" Target="../tags/tag220.xml"/><Relationship Id="rId53" Type="http://schemas.openxmlformats.org/officeDocument/2006/relationships/tags" Target="../tags/tag219.xml"/><Relationship Id="rId52" Type="http://schemas.openxmlformats.org/officeDocument/2006/relationships/tags" Target="../tags/tag218.xml"/><Relationship Id="rId51" Type="http://schemas.openxmlformats.org/officeDocument/2006/relationships/tags" Target="../tags/tag217.xml"/><Relationship Id="rId50" Type="http://schemas.openxmlformats.org/officeDocument/2006/relationships/tags" Target="../tags/tag216.xml"/><Relationship Id="rId5" Type="http://schemas.openxmlformats.org/officeDocument/2006/relationships/tags" Target="../tags/tag171.xml"/><Relationship Id="rId49" Type="http://schemas.openxmlformats.org/officeDocument/2006/relationships/tags" Target="../tags/tag215.xml"/><Relationship Id="rId48" Type="http://schemas.openxmlformats.org/officeDocument/2006/relationships/tags" Target="../tags/tag214.xml"/><Relationship Id="rId47" Type="http://schemas.openxmlformats.org/officeDocument/2006/relationships/tags" Target="../tags/tag213.xml"/><Relationship Id="rId46" Type="http://schemas.openxmlformats.org/officeDocument/2006/relationships/tags" Target="../tags/tag212.xml"/><Relationship Id="rId45" Type="http://schemas.openxmlformats.org/officeDocument/2006/relationships/tags" Target="../tags/tag211.xml"/><Relationship Id="rId44" Type="http://schemas.openxmlformats.org/officeDocument/2006/relationships/tags" Target="../tags/tag210.xml"/><Relationship Id="rId43" Type="http://schemas.openxmlformats.org/officeDocument/2006/relationships/tags" Target="../tags/tag209.xml"/><Relationship Id="rId42" Type="http://schemas.openxmlformats.org/officeDocument/2006/relationships/tags" Target="../tags/tag208.xml"/><Relationship Id="rId41" Type="http://schemas.openxmlformats.org/officeDocument/2006/relationships/tags" Target="../tags/tag207.xml"/><Relationship Id="rId40" Type="http://schemas.openxmlformats.org/officeDocument/2006/relationships/tags" Target="../tags/tag206.xml"/><Relationship Id="rId4" Type="http://schemas.openxmlformats.org/officeDocument/2006/relationships/tags" Target="../tags/tag170.xml"/><Relationship Id="rId39" Type="http://schemas.openxmlformats.org/officeDocument/2006/relationships/tags" Target="../tags/tag205.xml"/><Relationship Id="rId38" Type="http://schemas.openxmlformats.org/officeDocument/2006/relationships/tags" Target="../tags/tag204.xml"/><Relationship Id="rId37" Type="http://schemas.openxmlformats.org/officeDocument/2006/relationships/tags" Target="../tags/tag203.xml"/><Relationship Id="rId36" Type="http://schemas.openxmlformats.org/officeDocument/2006/relationships/tags" Target="../tags/tag202.xml"/><Relationship Id="rId35" Type="http://schemas.openxmlformats.org/officeDocument/2006/relationships/tags" Target="../tags/tag201.xml"/><Relationship Id="rId34" Type="http://schemas.openxmlformats.org/officeDocument/2006/relationships/tags" Target="../tags/tag200.xml"/><Relationship Id="rId33" Type="http://schemas.openxmlformats.org/officeDocument/2006/relationships/tags" Target="../tags/tag199.xml"/><Relationship Id="rId32" Type="http://schemas.openxmlformats.org/officeDocument/2006/relationships/tags" Target="../tags/tag198.xml"/><Relationship Id="rId31" Type="http://schemas.openxmlformats.org/officeDocument/2006/relationships/tags" Target="../tags/tag197.xml"/><Relationship Id="rId30" Type="http://schemas.openxmlformats.org/officeDocument/2006/relationships/tags" Target="../tags/tag196.xml"/><Relationship Id="rId3" Type="http://schemas.openxmlformats.org/officeDocument/2006/relationships/tags" Target="../tags/tag169.xml"/><Relationship Id="rId29" Type="http://schemas.openxmlformats.org/officeDocument/2006/relationships/tags" Target="../tags/tag195.xml"/><Relationship Id="rId28" Type="http://schemas.openxmlformats.org/officeDocument/2006/relationships/tags" Target="../tags/tag194.xml"/><Relationship Id="rId27" Type="http://schemas.openxmlformats.org/officeDocument/2006/relationships/tags" Target="../tags/tag193.xml"/><Relationship Id="rId26" Type="http://schemas.openxmlformats.org/officeDocument/2006/relationships/tags" Target="../tags/tag19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tags" Target="../tags/tag189.xml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image" Target="../media/image22.png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2" Type="http://schemas.openxmlformats.org/officeDocument/2006/relationships/notesSlide" Target="../notesSlides/notesSlide9.xml"/><Relationship Id="rId61" Type="http://schemas.openxmlformats.org/officeDocument/2006/relationships/slideLayout" Target="../slideLayouts/slideLayout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image" Target="../media/image24.png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1.xml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2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3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4.xml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82470" y="2717800"/>
            <a:ext cx="8025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b="1">
                <a:latin typeface="微软雅黑" panose="020B0503020204020204" charset="-122"/>
                <a:ea typeface="微软雅黑" panose="020B0503020204020204" charset="-122"/>
              </a:rPr>
              <a:t>注意力机制</a:t>
            </a:r>
            <a:endParaRPr lang="zh-CN" altLang="en-US" sz="5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109334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Scaled Dot-Product Attention/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Multi-Head Attention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(多头注意力)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rcRect l="14857" t="13159" r="12416" b="15051"/>
          <a:stretch>
            <a:fillRect/>
          </a:stretch>
        </p:blipFill>
        <p:spPr>
          <a:xfrm>
            <a:off x="6179820" y="2943225"/>
            <a:ext cx="5638800" cy="33845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1" name="组合 140"/>
          <p:cNvGrpSpPr/>
          <p:nvPr/>
        </p:nvGrpSpPr>
        <p:grpSpPr>
          <a:xfrm>
            <a:off x="452755" y="2754630"/>
            <a:ext cx="2477770" cy="3434080"/>
            <a:chOff x="3004" y="3812"/>
            <a:chExt cx="3902" cy="5408"/>
          </a:xfrm>
        </p:grpSpPr>
        <p:grpSp>
          <p:nvGrpSpPr>
            <p:cNvPr id="94" name="组合 93"/>
            <p:cNvGrpSpPr/>
            <p:nvPr/>
          </p:nvGrpSpPr>
          <p:grpSpPr>
            <a:xfrm>
              <a:off x="3004" y="3812"/>
              <a:ext cx="3903" cy="5409"/>
              <a:chOff x="2778" y="1848"/>
              <a:chExt cx="3903" cy="5409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3329" y="2452"/>
                <a:ext cx="2287" cy="4805"/>
                <a:chOff x="3216" y="2212"/>
                <a:chExt cx="2287" cy="4805"/>
              </a:xfrm>
            </p:grpSpPr>
            <p:sp>
              <p:nvSpPr>
                <p:cNvPr id="9" name="圆角矩形 8"/>
                <p:cNvSpPr/>
                <p:nvPr/>
              </p:nvSpPr>
              <p:spPr>
                <a:xfrm>
                  <a:off x="3911" y="2565"/>
                  <a:ext cx="1475" cy="454"/>
                </a:xfrm>
                <a:prstGeom prst="roundRect">
                  <a:avLst/>
                </a:prstGeom>
                <a:solidFill>
                  <a:srgbClr val="C5BE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MatMul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圆角矩形 33"/>
                <p:cNvSpPr/>
                <p:nvPr/>
              </p:nvSpPr>
              <p:spPr>
                <a:xfrm>
                  <a:off x="3345" y="3372"/>
                  <a:ext cx="1475" cy="454"/>
                </a:xfrm>
                <a:prstGeom prst="roundRect">
                  <a:avLst/>
                </a:prstGeom>
                <a:solidFill>
                  <a:srgbClr val="CCE7C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S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oftMax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圆角矩形 56"/>
                <p:cNvSpPr/>
                <p:nvPr/>
              </p:nvSpPr>
              <p:spPr>
                <a:xfrm>
                  <a:off x="3216" y="4179"/>
                  <a:ext cx="1716" cy="454"/>
                </a:xfrm>
                <a:prstGeom prst="roundRect">
                  <a:avLst/>
                </a:prstGeom>
                <a:solidFill>
                  <a:srgbClr val="F9CB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Mask (opt.)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圆角矩形 57"/>
                <p:cNvSpPr/>
                <p:nvPr/>
              </p:nvSpPr>
              <p:spPr>
                <a:xfrm>
                  <a:off x="3556" y="4986"/>
                  <a:ext cx="1055" cy="454"/>
                </a:xfrm>
                <a:prstGeom prst="roundRect">
                  <a:avLst/>
                </a:prstGeom>
                <a:solidFill>
                  <a:srgbClr val="FDF9C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S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cale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圆角矩形 59"/>
                <p:cNvSpPr/>
                <p:nvPr/>
              </p:nvSpPr>
              <p:spPr>
                <a:xfrm>
                  <a:off x="3345" y="5793"/>
                  <a:ext cx="1475" cy="454"/>
                </a:xfrm>
                <a:prstGeom prst="roundRect">
                  <a:avLst/>
                </a:prstGeom>
                <a:solidFill>
                  <a:srgbClr val="C5BE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MatMul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" name="直接箭头连接符 62"/>
                <p:cNvCxnSpPr/>
                <p:nvPr/>
              </p:nvCxnSpPr>
              <p:spPr>
                <a:xfrm flipV="1">
                  <a:off x="4649" y="2212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 flipV="1">
                  <a:off x="4082" y="4633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 flipV="1">
                  <a:off x="4082" y="5440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/>
                <p:nvPr/>
              </p:nvCxnSpPr>
              <p:spPr>
                <a:xfrm flipV="1">
                  <a:off x="4083" y="3019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76"/>
                <p:cNvCxnSpPr>
                  <a:stCxn id="86" idx="0"/>
                </p:cNvCxnSpPr>
                <p:nvPr/>
              </p:nvCxnSpPr>
              <p:spPr>
                <a:xfrm flipH="1" flipV="1">
                  <a:off x="5159" y="3019"/>
                  <a:ext cx="1" cy="35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/>
                <p:cNvCxnSpPr/>
                <p:nvPr/>
              </p:nvCxnSpPr>
              <p:spPr>
                <a:xfrm flipV="1">
                  <a:off x="3685" y="6247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87"/>
                <p:cNvCxnSpPr/>
                <p:nvPr/>
              </p:nvCxnSpPr>
              <p:spPr>
                <a:xfrm flipV="1">
                  <a:off x="4478" y="6247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9" name="文本框 88"/>
                <p:cNvSpPr txBox="1"/>
                <p:nvPr/>
              </p:nvSpPr>
              <p:spPr>
                <a:xfrm>
                  <a:off x="3400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Q</a:t>
                  </a:r>
                  <a:endParaRPr lang="en-US" altLang="zh-CN" sz="1400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4249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K</a:t>
                  </a:r>
                  <a:endParaRPr lang="en-US" altLang="zh-CN" sz="1400"/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4932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V</a:t>
                  </a:r>
                  <a:endParaRPr lang="en-US" altLang="zh-CN" sz="1400"/>
                </a:p>
              </p:txBody>
            </p:sp>
          </p:grpSp>
          <p:sp>
            <p:nvSpPr>
              <p:cNvPr id="93" name="文本框 92"/>
              <p:cNvSpPr txBox="1"/>
              <p:nvPr/>
            </p:nvSpPr>
            <p:spPr>
              <a:xfrm>
                <a:off x="2778" y="1848"/>
                <a:ext cx="390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Scaled Dot-Product Attention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>
            <a:xfrm flipV="1">
              <a:off x="4422" y="6029"/>
              <a:ext cx="0" cy="3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0" name="文本框 289"/>
          <p:cNvSpPr txBox="1"/>
          <p:nvPr/>
        </p:nvSpPr>
        <p:spPr>
          <a:xfrm>
            <a:off x="8731250" y="206121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076325"/>
            <a:ext cx="8130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i="1">
                <a:latin typeface="Times New Roman" panose="02020603050405020304" charset="0"/>
                <a:cs typeface="Times New Roman" panose="02020603050405020304" charset="0"/>
              </a:rPr>
              <a:t>https://proceedings.neurips.cc/paper/2017/file/3f5ee243547dee91fbd053c1c4a845aa-Paper.pdf</a:t>
            </a:r>
            <a:endParaRPr lang="zh-CN" alt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79090" y="2767965"/>
            <a:ext cx="2640330" cy="3528695"/>
            <a:chOff x="4919" y="4153"/>
            <a:chExt cx="4158" cy="5557"/>
          </a:xfrm>
        </p:grpSpPr>
        <p:grpSp>
          <p:nvGrpSpPr>
            <p:cNvPr id="149" name="组合 148"/>
            <p:cNvGrpSpPr/>
            <p:nvPr/>
          </p:nvGrpSpPr>
          <p:grpSpPr>
            <a:xfrm>
              <a:off x="4919" y="4153"/>
              <a:ext cx="4158" cy="5098"/>
              <a:chOff x="4919" y="4153"/>
              <a:chExt cx="4158" cy="5098"/>
            </a:xfrm>
          </p:grpSpPr>
          <p:grpSp>
            <p:nvGrpSpPr>
              <p:cNvPr id="144" name="组合 143"/>
              <p:cNvGrpSpPr/>
              <p:nvPr/>
            </p:nvGrpSpPr>
            <p:grpSpPr>
              <a:xfrm>
                <a:off x="4919" y="4153"/>
                <a:ext cx="4158" cy="5098"/>
                <a:chOff x="8162" y="3933"/>
                <a:chExt cx="4158" cy="5098"/>
              </a:xfrm>
            </p:grpSpPr>
            <p:cxnSp>
              <p:nvCxnSpPr>
                <p:cNvPr id="139" name="直接连接符 138"/>
                <p:cNvCxnSpPr/>
                <p:nvPr/>
              </p:nvCxnSpPr>
              <p:spPr>
                <a:xfrm flipV="1">
                  <a:off x="11456" y="8235"/>
                  <a:ext cx="177" cy="22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  <a:alpha val="84000"/>
                    </a:schemeClr>
                  </a:solidFill>
                </a:ln>
                <a:effectLst>
                  <a:outerShdw blurRad="50800" dist="38100" sx="65000" sy="65000" algn="l" rotWithShape="0">
                    <a:schemeClr val="tx1">
                      <a:lumMod val="75000"/>
                      <a:lumOff val="25000"/>
                      <a:alpha val="70000"/>
                    </a:scheme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 flipV="1">
                  <a:off x="11455" y="8122"/>
                  <a:ext cx="177" cy="340"/>
                </a:xfrm>
                <a:prstGeom prst="line">
                  <a:avLst/>
                </a:prstGeom>
                <a:ln>
                  <a:solidFill>
                    <a:schemeClr val="tx1">
                      <a:alpha val="63000"/>
                    </a:schemeClr>
                  </a:solidFill>
                </a:ln>
                <a:effectLst>
                  <a:glow rad="63500">
                    <a:schemeClr val="bg2">
                      <a:alpha val="13000"/>
                    </a:schemeClr>
                  </a:glow>
                  <a:outerShdw blurRad="50800" dist="25400" dir="5400000" sx="90000" sy="90000" algn="t" rotWithShape="0">
                    <a:prstClr val="black">
                      <a:alpha val="10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/>
                <p:cNvCxnSpPr/>
                <p:nvPr/>
              </p:nvCxnSpPr>
              <p:spPr>
                <a:xfrm flipV="1">
                  <a:off x="10145" y="8235"/>
                  <a:ext cx="177" cy="22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  <a:alpha val="84000"/>
                    </a:schemeClr>
                  </a:solidFill>
                </a:ln>
                <a:effectLst>
                  <a:outerShdw blurRad="50800" dist="38100" sx="65000" sy="65000" algn="l" rotWithShape="0">
                    <a:schemeClr val="tx1">
                      <a:lumMod val="75000"/>
                      <a:lumOff val="25000"/>
                      <a:alpha val="70000"/>
                    </a:scheme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/>
                <p:cNvCxnSpPr/>
                <p:nvPr/>
              </p:nvCxnSpPr>
              <p:spPr>
                <a:xfrm flipV="1">
                  <a:off x="10144" y="8122"/>
                  <a:ext cx="177" cy="340"/>
                </a:xfrm>
                <a:prstGeom prst="line">
                  <a:avLst/>
                </a:prstGeom>
                <a:ln>
                  <a:solidFill>
                    <a:schemeClr val="tx1">
                      <a:alpha val="63000"/>
                    </a:schemeClr>
                  </a:solidFill>
                </a:ln>
                <a:effectLst>
                  <a:glow rad="63500">
                    <a:schemeClr val="bg2">
                      <a:alpha val="13000"/>
                    </a:schemeClr>
                  </a:glow>
                  <a:outerShdw blurRad="50800" dist="25400" dir="5400000" sx="90000" sy="90000" algn="t" rotWithShape="0">
                    <a:prstClr val="black">
                      <a:alpha val="10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/>
                <p:cNvCxnSpPr/>
                <p:nvPr/>
              </p:nvCxnSpPr>
              <p:spPr>
                <a:xfrm flipV="1">
                  <a:off x="8725" y="8235"/>
                  <a:ext cx="177" cy="22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  <a:alpha val="84000"/>
                    </a:schemeClr>
                  </a:solidFill>
                </a:ln>
                <a:effectLst>
                  <a:outerShdw blurRad="50800" dist="38100" sx="65000" sy="65000" algn="l" rotWithShape="0">
                    <a:schemeClr val="tx1">
                      <a:lumMod val="75000"/>
                      <a:lumOff val="25000"/>
                      <a:alpha val="70000"/>
                    </a:scheme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/>
                <p:cNvCxnSpPr/>
                <p:nvPr/>
              </p:nvCxnSpPr>
              <p:spPr>
                <a:xfrm flipV="1">
                  <a:off x="8724" y="8122"/>
                  <a:ext cx="177" cy="340"/>
                </a:xfrm>
                <a:prstGeom prst="line">
                  <a:avLst/>
                </a:prstGeom>
                <a:ln>
                  <a:solidFill>
                    <a:schemeClr val="tx1">
                      <a:alpha val="63000"/>
                    </a:schemeClr>
                  </a:solidFill>
                </a:ln>
                <a:effectLst>
                  <a:glow rad="63500">
                    <a:schemeClr val="bg2">
                      <a:alpha val="13000"/>
                    </a:schemeClr>
                  </a:glow>
                  <a:outerShdw blurRad="50800" dist="25400" dir="5400000" sx="90000" sy="90000" algn="t" rotWithShape="0">
                    <a:prstClr val="black">
                      <a:alpha val="10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6" name="圆角矩形 95"/>
                <p:cNvSpPr/>
                <p:nvPr/>
              </p:nvSpPr>
              <p:spPr>
                <a:xfrm>
                  <a:off x="9519" y="5739"/>
                  <a:ext cx="1238" cy="454"/>
                </a:xfrm>
                <a:prstGeom prst="roundRect">
                  <a:avLst/>
                </a:prstGeom>
                <a:solidFill>
                  <a:srgbClr val="FDF9C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Concat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圆角矩形 96"/>
                <p:cNvSpPr/>
                <p:nvPr/>
              </p:nvSpPr>
              <p:spPr>
                <a:xfrm>
                  <a:off x="9581" y="4946"/>
                  <a:ext cx="1113" cy="454"/>
                </a:xfrm>
                <a:prstGeom prst="roundRect">
                  <a:avLst/>
                </a:prstGeom>
                <a:solidFill>
                  <a:srgbClr val="E8EEEB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Linear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8" name="直接箭头连接符 97"/>
                <p:cNvCxnSpPr/>
                <p:nvPr/>
              </p:nvCxnSpPr>
              <p:spPr>
                <a:xfrm flipV="1">
                  <a:off x="10137" y="5400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箭头连接符 98"/>
                <p:cNvCxnSpPr/>
                <p:nvPr/>
              </p:nvCxnSpPr>
              <p:spPr>
                <a:xfrm flipV="1">
                  <a:off x="10137" y="4593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05" name="圆角矩形 104"/>
                <p:cNvSpPr/>
                <p:nvPr/>
              </p:nvSpPr>
              <p:spPr>
                <a:xfrm>
                  <a:off x="9014" y="6383"/>
                  <a:ext cx="2920" cy="743"/>
                </a:xfrm>
                <a:prstGeom prst="roundRect">
                  <a:avLst/>
                </a:prstGeom>
                <a:solidFill>
                  <a:srgbClr val="E9E6F1"/>
                </a:solidFill>
                <a:ln w="19050">
                  <a:solidFill>
                    <a:schemeClr val="tx1">
                      <a:alpha val="38000"/>
                    </a:schemeClr>
                  </a:solidFill>
                </a:ln>
                <a:effectLst>
                  <a:glow rad="228600">
                    <a:srgbClr val="E4E0EF">
                      <a:alpha val="2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圆角矩形 103"/>
                <p:cNvSpPr/>
                <p:nvPr/>
              </p:nvSpPr>
              <p:spPr>
                <a:xfrm>
                  <a:off x="8833" y="6502"/>
                  <a:ext cx="2920" cy="743"/>
                </a:xfrm>
                <a:prstGeom prst="roundRect">
                  <a:avLst/>
                </a:prstGeom>
                <a:solidFill>
                  <a:srgbClr val="D2CCE6"/>
                </a:solidFill>
                <a:ln w="19050">
                  <a:solidFill>
                    <a:srgbClr val="4D4D4D">
                      <a:alpha val="78000"/>
                    </a:srgbClr>
                  </a:solidFill>
                </a:ln>
                <a:effectLst>
                  <a:glow rad="228600">
                    <a:srgbClr val="D2CCE6">
                      <a:alpha val="1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  <a:effectLst/>
                  </a:endParaRPr>
                </a:p>
              </p:txBody>
            </p:sp>
            <p:cxnSp>
              <p:nvCxnSpPr>
                <p:cNvPr id="103" name="直接箭头连接符 102"/>
                <p:cNvCxnSpPr/>
                <p:nvPr/>
              </p:nvCxnSpPr>
              <p:spPr>
                <a:xfrm flipV="1">
                  <a:off x="10148" y="6194"/>
                  <a:ext cx="0" cy="4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箭头连接符 105"/>
                <p:cNvCxnSpPr/>
                <p:nvPr/>
              </p:nvCxnSpPr>
              <p:spPr>
                <a:xfrm flipV="1">
                  <a:off x="10293" y="6194"/>
                  <a:ext cx="0" cy="302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54000"/>
                    </a:schemeClr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箭头连接符 107"/>
                <p:cNvCxnSpPr/>
                <p:nvPr/>
              </p:nvCxnSpPr>
              <p:spPr>
                <a:xfrm flipV="1">
                  <a:off x="10443" y="6193"/>
                  <a:ext cx="0" cy="1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23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20" name="组合 119"/>
                <p:cNvGrpSpPr/>
                <p:nvPr/>
              </p:nvGrpSpPr>
              <p:grpSpPr>
                <a:xfrm>
                  <a:off x="8162" y="7575"/>
                  <a:ext cx="1446" cy="713"/>
                  <a:chOff x="7569" y="7756"/>
                  <a:chExt cx="1446" cy="713"/>
                </a:xfrm>
              </p:grpSpPr>
              <p:sp>
                <p:nvSpPr>
                  <p:cNvPr id="110" name="圆角矩形 109"/>
                  <p:cNvSpPr/>
                  <p:nvPr/>
                </p:nvSpPr>
                <p:spPr>
                  <a:xfrm>
                    <a:off x="7905" y="7756"/>
                    <a:ext cx="1111" cy="454"/>
                  </a:xfrm>
                  <a:prstGeom prst="roundRect">
                    <a:avLst/>
                  </a:prstGeom>
                  <a:solidFill>
                    <a:srgbClr val="F7F9F8"/>
                  </a:solidFill>
                  <a:ln w="19050">
                    <a:solidFill>
                      <a:schemeClr val="tx1">
                        <a:alpha val="23000"/>
                      </a:schemeClr>
                    </a:solidFill>
                  </a:ln>
                  <a:effectLst>
                    <a:glow rad="228600">
                      <a:srgbClr val="E4E0EF">
                        <a:alpha val="2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圆角矩形 110"/>
                  <p:cNvSpPr/>
                  <p:nvPr/>
                </p:nvSpPr>
                <p:spPr>
                  <a:xfrm>
                    <a:off x="7724" y="7875"/>
                    <a:ext cx="1111" cy="454"/>
                  </a:xfrm>
                  <a:prstGeom prst="roundRect">
                    <a:avLst/>
                  </a:prstGeom>
                  <a:solidFill>
                    <a:srgbClr val="EDF1EF"/>
                  </a:solidFill>
                  <a:ln w="19050">
                    <a:solidFill>
                      <a:srgbClr val="4D4D4D">
                        <a:alpha val="78000"/>
                      </a:srgbClr>
                    </a:solidFill>
                  </a:ln>
                  <a:effectLst>
                    <a:glow rad="228600">
                      <a:srgbClr val="D2CCE6">
                        <a:alpha val="1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  <p:sp>
                <p:nvSpPr>
                  <p:cNvPr id="112" name="圆角矩形 111"/>
                  <p:cNvSpPr/>
                  <p:nvPr/>
                </p:nvSpPr>
                <p:spPr>
                  <a:xfrm>
                    <a:off x="7569" y="8015"/>
                    <a:ext cx="1111" cy="454"/>
                  </a:xfrm>
                  <a:prstGeom prst="roundRect">
                    <a:avLst/>
                  </a:prstGeom>
                  <a:solidFill>
                    <a:srgbClr val="E8EEEB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</a:rPr>
                      <a:t>Linear</a:t>
                    </a:r>
                    <a:endParaRPr lang="en-US" altLang="zh-CN" sz="12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1" name="组合 120"/>
                <p:cNvGrpSpPr/>
                <p:nvPr/>
              </p:nvGrpSpPr>
              <p:grpSpPr>
                <a:xfrm>
                  <a:off x="9518" y="7573"/>
                  <a:ext cx="1446" cy="713"/>
                  <a:chOff x="9164" y="7781"/>
                  <a:chExt cx="1446" cy="713"/>
                </a:xfrm>
              </p:grpSpPr>
              <p:sp>
                <p:nvSpPr>
                  <p:cNvPr id="113" name="圆角矩形 112"/>
                  <p:cNvSpPr/>
                  <p:nvPr/>
                </p:nvSpPr>
                <p:spPr>
                  <a:xfrm>
                    <a:off x="9500" y="7781"/>
                    <a:ext cx="1111" cy="454"/>
                  </a:xfrm>
                  <a:prstGeom prst="roundRect">
                    <a:avLst/>
                  </a:prstGeom>
                  <a:solidFill>
                    <a:srgbClr val="F7F9F8"/>
                  </a:solidFill>
                  <a:ln w="19050">
                    <a:solidFill>
                      <a:schemeClr val="tx1">
                        <a:alpha val="23000"/>
                      </a:schemeClr>
                    </a:solidFill>
                  </a:ln>
                  <a:effectLst>
                    <a:glow rad="228600">
                      <a:srgbClr val="E4E0EF">
                        <a:alpha val="2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圆角矩形 113"/>
                  <p:cNvSpPr/>
                  <p:nvPr/>
                </p:nvSpPr>
                <p:spPr>
                  <a:xfrm>
                    <a:off x="9319" y="7900"/>
                    <a:ext cx="1111" cy="454"/>
                  </a:xfrm>
                  <a:prstGeom prst="roundRect">
                    <a:avLst/>
                  </a:prstGeom>
                  <a:solidFill>
                    <a:srgbClr val="EDF1EF"/>
                  </a:solidFill>
                  <a:ln w="19050">
                    <a:solidFill>
                      <a:srgbClr val="4D4D4D">
                        <a:alpha val="78000"/>
                      </a:srgbClr>
                    </a:solidFill>
                  </a:ln>
                  <a:effectLst>
                    <a:glow rad="228600">
                      <a:srgbClr val="D2CCE6">
                        <a:alpha val="1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  <p:sp>
                <p:nvSpPr>
                  <p:cNvPr id="115" name="圆角矩形 114"/>
                  <p:cNvSpPr/>
                  <p:nvPr/>
                </p:nvSpPr>
                <p:spPr>
                  <a:xfrm>
                    <a:off x="9164" y="8040"/>
                    <a:ext cx="1111" cy="454"/>
                  </a:xfrm>
                  <a:prstGeom prst="roundRect">
                    <a:avLst/>
                  </a:prstGeom>
                  <a:solidFill>
                    <a:srgbClr val="E8EEEB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</a:rPr>
                      <a:t>Linear</a:t>
                    </a:r>
                    <a:endParaRPr lang="en-US" altLang="zh-CN" sz="12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9" name="组合 118"/>
                <p:cNvGrpSpPr/>
                <p:nvPr/>
              </p:nvGrpSpPr>
              <p:grpSpPr>
                <a:xfrm>
                  <a:off x="10874" y="7576"/>
                  <a:ext cx="1446" cy="713"/>
                  <a:chOff x="11159" y="7756"/>
                  <a:chExt cx="1446" cy="713"/>
                </a:xfrm>
              </p:grpSpPr>
              <p:sp>
                <p:nvSpPr>
                  <p:cNvPr id="116" name="圆角矩形 115"/>
                  <p:cNvSpPr/>
                  <p:nvPr/>
                </p:nvSpPr>
                <p:spPr>
                  <a:xfrm>
                    <a:off x="11495" y="7756"/>
                    <a:ext cx="1111" cy="454"/>
                  </a:xfrm>
                  <a:prstGeom prst="roundRect">
                    <a:avLst/>
                  </a:prstGeom>
                  <a:solidFill>
                    <a:srgbClr val="F7F9F8"/>
                  </a:solidFill>
                  <a:ln w="19050">
                    <a:solidFill>
                      <a:schemeClr val="tx1">
                        <a:alpha val="23000"/>
                      </a:schemeClr>
                    </a:solidFill>
                  </a:ln>
                  <a:effectLst>
                    <a:glow rad="228600">
                      <a:srgbClr val="E4E0EF">
                        <a:alpha val="2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7" name="圆角矩形 116"/>
                  <p:cNvSpPr/>
                  <p:nvPr/>
                </p:nvSpPr>
                <p:spPr>
                  <a:xfrm>
                    <a:off x="11314" y="7875"/>
                    <a:ext cx="1111" cy="454"/>
                  </a:xfrm>
                  <a:prstGeom prst="roundRect">
                    <a:avLst/>
                  </a:prstGeom>
                  <a:solidFill>
                    <a:srgbClr val="EDF1EF"/>
                  </a:solidFill>
                  <a:ln w="19050">
                    <a:solidFill>
                      <a:srgbClr val="4D4D4D">
                        <a:alpha val="78000"/>
                      </a:srgbClr>
                    </a:solidFill>
                  </a:ln>
                  <a:effectLst>
                    <a:glow rad="228600">
                      <a:srgbClr val="D2CCE6">
                        <a:alpha val="10000"/>
                      </a:srgbClr>
                    </a:glow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effectLst/>
                    </a:endParaRPr>
                  </a:p>
                </p:txBody>
              </p:sp>
              <p:sp>
                <p:nvSpPr>
                  <p:cNvPr id="118" name="圆角矩形 117"/>
                  <p:cNvSpPr/>
                  <p:nvPr/>
                </p:nvSpPr>
                <p:spPr>
                  <a:xfrm>
                    <a:off x="11159" y="8015"/>
                    <a:ext cx="1111" cy="454"/>
                  </a:xfrm>
                  <a:prstGeom prst="roundRect">
                    <a:avLst/>
                  </a:prstGeom>
                  <a:solidFill>
                    <a:srgbClr val="E8EEEB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</a:rPr>
                      <a:t>Linear</a:t>
                    </a:r>
                    <a:endParaRPr lang="en-US" altLang="zh-CN" sz="120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122" name="直接箭头连接符 121"/>
                <p:cNvCxnSpPr/>
                <p:nvPr/>
              </p:nvCxnSpPr>
              <p:spPr>
                <a:xfrm flipV="1">
                  <a:off x="8833" y="7369"/>
                  <a:ext cx="0" cy="4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箭头连接符 122"/>
                <p:cNvCxnSpPr/>
                <p:nvPr/>
              </p:nvCxnSpPr>
              <p:spPr>
                <a:xfrm flipV="1">
                  <a:off x="10148" y="7365"/>
                  <a:ext cx="0" cy="4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23"/>
                <p:cNvCxnSpPr/>
                <p:nvPr/>
              </p:nvCxnSpPr>
              <p:spPr>
                <a:xfrm flipV="1">
                  <a:off x="11237" y="7387"/>
                  <a:ext cx="0" cy="4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24"/>
                <p:cNvCxnSpPr/>
                <p:nvPr/>
              </p:nvCxnSpPr>
              <p:spPr>
                <a:xfrm flipV="1">
                  <a:off x="8947" y="7385"/>
                  <a:ext cx="0" cy="302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54000"/>
                    </a:schemeClr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/>
                <p:cNvCxnSpPr/>
                <p:nvPr/>
              </p:nvCxnSpPr>
              <p:spPr>
                <a:xfrm flipV="1">
                  <a:off x="9054" y="7393"/>
                  <a:ext cx="0" cy="1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23000"/>
                    </a:schemeClr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26"/>
                <p:cNvCxnSpPr/>
                <p:nvPr/>
              </p:nvCxnSpPr>
              <p:spPr>
                <a:xfrm flipV="1">
                  <a:off x="10262" y="7387"/>
                  <a:ext cx="0" cy="302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54000"/>
                    </a:schemeClr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箭头连接符 127"/>
                <p:cNvCxnSpPr/>
                <p:nvPr/>
              </p:nvCxnSpPr>
              <p:spPr>
                <a:xfrm flipV="1">
                  <a:off x="10375" y="7387"/>
                  <a:ext cx="0" cy="1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23000"/>
                    </a:schemeClr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28"/>
                <p:cNvCxnSpPr/>
                <p:nvPr/>
              </p:nvCxnSpPr>
              <p:spPr>
                <a:xfrm flipV="1">
                  <a:off x="11351" y="7385"/>
                  <a:ext cx="0" cy="302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54000"/>
                    </a:schemeClr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29"/>
                <p:cNvCxnSpPr/>
                <p:nvPr/>
              </p:nvCxnSpPr>
              <p:spPr>
                <a:xfrm flipV="1">
                  <a:off x="11448" y="7393"/>
                  <a:ext cx="0" cy="1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alpha val="23000"/>
                    </a:schemeClr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箭头连接符 130"/>
                <p:cNvCxnSpPr>
                  <a:stCxn id="132" idx="0"/>
                </p:cNvCxnSpPr>
                <p:nvPr/>
              </p:nvCxnSpPr>
              <p:spPr>
                <a:xfrm flipH="1" flipV="1">
                  <a:off x="8718" y="8286"/>
                  <a:ext cx="7" cy="74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箭头连接符 132"/>
                <p:cNvCxnSpPr/>
                <p:nvPr/>
              </p:nvCxnSpPr>
              <p:spPr>
                <a:xfrm flipH="1" flipV="1">
                  <a:off x="10130" y="8288"/>
                  <a:ext cx="7" cy="74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箭头连接符 133"/>
                <p:cNvCxnSpPr/>
                <p:nvPr/>
              </p:nvCxnSpPr>
              <p:spPr>
                <a:xfrm flipH="1" flipV="1">
                  <a:off x="11448" y="8286"/>
                  <a:ext cx="7" cy="74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42" name="文本框 141"/>
                <p:cNvSpPr txBox="1"/>
                <p:nvPr/>
              </p:nvSpPr>
              <p:spPr>
                <a:xfrm>
                  <a:off x="8561" y="3933"/>
                  <a:ext cx="309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Multi-Head Attention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2" name="圆角矩形 101"/>
                <p:cNvSpPr/>
                <p:nvPr/>
              </p:nvSpPr>
              <p:spPr>
                <a:xfrm>
                  <a:off x="8678" y="6642"/>
                  <a:ext cx="2920" cy="743"/>
                </a:xfrm>
                <a:prstGeom prst="roundRect">
                  <a:avLst/>
                </a:prstGeom>
                <a:solidFill>
                  <a:srgbClr val="C5BE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Scaled Dot-Product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Attention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6" name="右中括号 145"/>
              <p:cNvSpPr/>
              <p:nvPr/>
            </p:nvSpPr>
            <p:spPr>
              <a:xfrm rot="2460000">
                <a:off x="8455" y="6853"/>
                <a:ext cx="120" cy="689"/>
              </a:xfrm>
              <a:prstGeom prst="rightBracket">
                <a:avLst>
                  <a:gd name="adj" fmla="val 136114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7" name="直接连接符 146"/>
              <p:cNvCxnSpPr>
                <a:stCxn id="146" idx="2"/>
              </p:cNvCxnSpPr>
              <p:nvPr/>
            </p:nvCxnSpPr>
            <p:spPr>
              <a:xfrm>
                <a:off x="8560" y="7237"/>
                <a:ext cx="283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48" name="对象 14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8843" y="7101"/>
              <a:ext cx="200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3" imgW="127000" imgH="177165" progId="Equation.KSEE3">
                      <p:embed/>
                    </p:oleObj>
                  </mc:Choice>
                  <mc:Fallback>
                    <p:oleObj name="" r:id="rId3" imgW="1270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843" y="7101"/>
                            <a:ext cx="200" cy="27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" name="文本框 4"/>
            <p:cNvSpPr txBox="1"/>
            <p:nvPr/>
          </p:nvSpPr>
          <p:spPr>
            <a:xfrm>
              <a:off x="7901" y="9227"/>
              <a:ext cx="57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Q</a:t>
              </a:r>
              <a:endParaRPr lang="en-US" altLang="zh-CN" sz="140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611" y="9227"/>
              <a:ext cx="57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K</a:t>
              </a:r>
              <a:endParaRPr lang="en-US" altLang="zh-CN" sz="140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200" y="9227"/>
              <a:ext cx="57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V</a:t>
              </a:r>
              <a:endParaRPr lang="en-US" altLang="zh-CN" sz="1400"/>
            </a:p>
          </p:txBody>
        </p:sp>
      </p:grp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3183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GAM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" y="583565"/>
            <a:ext cx="4289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https://ar5iv.labs.arxiv.org/html/2112.05561</a:t>
            </a:r>
            <a:endParaRPr lang="zh-CN" alt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14715"/>
          <a:stretch>
            <a:fillRect/>
          </a:stretch>
        </p:blipFill>
        <p:spPr>
          <a:xfrm>
            <a:off x="2999740" y="1196975"/>
            <a:ext cx="6908800" cy="2451100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3150870" y="4077335"/>
            <a:ext cx="6553200" cy="2235200"/>
            <a:chOff x="3222" y="6324"/>
            <a:chExt cx="10320" cy="3520"/>
          </a:xfrm>
        </p:grpSpPr>
        <p:grpSp>
          <p:nvGrpSpPr>
            <p:cNvPr id="45" name="组合 44"/>
            <p:cNvGrpSpPr/>
            <p:nvPr>
              <p:custDataLst>
                <p:tags r:id="rId4"/>
              </p:custDataLst>
            </p:nvPr>
          </p:nvGrpSpPr>
          <p:grpSpPr>
            <a:xfrm>
              <a:off x="3222" y="6324"/>
              <a:ext cx="10320" cy="3520"/>
              <a:chOff x="2459" y="6888"/>
              <a:chExt cx="10320" cy="3520"/>
            </a:xfrm>
          </p:grpSpPr>
          <p:sp>
            <p:nvSpPr>
              <p:cNvPr id="9" name="圆角矩形 8"/>
              <p:cNvSpPr/>
              <p:nvPr>
                <p:custDataLst>
                  <p:tags r:id="rId5"/>
                </p:custDataLst>
              </p:nvPr>
            </p:nvSpPr>
            <p:spPr>
              <a:xfrm>
                <a:off x="2459" y="6888"/>
                <a:ext cx="10320" cy="3520"/>
              </a:xfrm>
              <a:prstGeom prst="roundRect">
                <a:avLst>
                  <a:gd name="adj" fmla="val 9857"/>
                </a:avLst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1" name="组合 10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3016" y="8424"/>
                <a:ext cx="1264" cy="1200"/>
                <a:chOff x="3416" y="7768"/>
                <a:chExt cx="1264" cy="1200"/>
              </a:xfrm>
            </p:grpSpPr>
            <p:sp>
              <p:nvSpPr>
                <p:cNvPr id="10" name="矩形 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416" y="7768"/>
                  <a:ext cx="864" cy="800"/>
                </a:xfrm>
                <a:prstGeom prst="rect">
                  <a:avLst/>
                </a:prstGeom>
                <a:solidFill>
                  <a:srgbClr val="39AFE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矩形 11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616" y="7968"/>
                  <a:ext cx="864" cy="800"/>
                </a:xfrm>
                <a:prstGeom prst="rect">
                  <a:avLst/>
                </a:prstGeom>
                <a:solidFill>
                  <a:srgbClr val="39AFE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816" y="8168"/>
                  <a:ext cx="864" cy="800"/>
                </a:xfrm>
                <a:prstGeom prst="rect">
                  <a:avLst/>
                </a:prstGeom>
                <a:solidFill>
                  <a:srgbClr val="39AFE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11132" y="8424"/>
                <a:ext cx="1264" cy="1200"/>
                <a:chOff x="10288" y="8024"/>
                <a:chExt cx="1264" cy="1200"/>
              </a:xfrm>
            </p:grpSpPr>
            <p:sp>
              <p:nvSpPr>
                <p:cNvPr id="21" name="矩形 2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0288" y="8024"/>
                  <a:ext cx="864" cy="8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488" y="8224"/>
                  <a:ext cx="864" cy="8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688" y="8424"/>
                  <a:ext cx="864" cy="8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0288" y="8024"/>
                  <a:ext cx="864" cy="800"/>
                </a:xfrm>
                <a:prstGeom prst="rect">
                  <a:avLst/>
                </a:prstGeom>
                <a:solidFill>
                  <a:srgbClr val="39AFEA">
                    <a:alpha val="78000"/>
                  </a:srgbClr>
                </a:solidFill>
                <a:ln w="19050">
                  <a:solidFill>
                    <a:schemeClr val="tx1"/>
                  </a:solidFill>
                </a:ln>
                <a:effectLst>
                  <a:glow>
                    <a:schemeClr val="accent1">
                      <a:alpha val="40000"/>
                    </a:schemeClr>
                  </a:glow>
                  <a:softEdge rad="139700"/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88" y="8224"/>
                  <a:ext cx="864" cy="800"/>
                </a:xfrm>
                <a:prstGeom prst="rect">
                  <a:avLst/>
                </a:prstGeom>
                <a:solidFill>
                  <a:srgbClr val="39AFEA">
                    <a:alpha val="76000"/>
                  </a:srgbClr>
                </a:solidFill>
                <a:ln w="19050">
                  <a:solidFill>
                    <a:schemeClr val="tx1"/>
                  </a:solidFill>
                </a:ln>
                <a:effectLst>
                  <a:softEdge rad="133350"/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0688" y="8424"/>
                  <a:ext cx="864" cy="800"/>
                </a:xfrm>
                <a:prstGeom prst="rect">
                  <a:avLst/>
                </a:prstGeom>
                <a:solidFill>
                  <a:srgbClr val="39AFEA">
                    <a:alpha val="78000"/>
                  </a:srgbClr>
                </a:solidFill>
                <a:ln w="19050">
                  <a:solidFill>
                    <a:schemeClr val="tx1"/>
                  </a:solidFill>
                </a:ln>
                <a:effectLst>
                  <a:softEdge rad="127000"/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9AFEA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8" name="矩形 27"/>
              <p:cNvSpPr/>
              <p:nvPr>
                <p:custDataLst>
                  <p:tags r:id="rId17"/>
                </p:custDataLst>
              </p:nvPr>
            </p:nvSpPr>
            <p:spPr>
              <a:xfrm>
                <a:off x="4992" y="7228"/>
                <a:ext cx="1848" cy="996"/>
              </a:xfrm>
              <a:prstGeom prst="rect">
                <a:avLst/>
              </a:prstGeom>
              <a:noFill/>
              <a:ln w="38100">
                <a:solidFill>
                  <a:srgbClr val="60B6E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956" y="7228"/>
                <a:ext cx="1848" cy="996"/>
              </a:xfrm>
              <a:prstGeom prst="rect">
                <a:avLst/>
              </a:prstGeom>
              <a:noFill/>
              <a:ln w="38100">
                <a:solidFill>
                  <a:srgbClr val="D5F7B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0" name="直接箭头连接符 29"/>
              <p:cNvCxnSpPr/>
              <p:nvPr>
                <p:custDataLst>
                  <p:tags r:id="rId19"/>
                </p:custDataLst>
              </p:nvPr>
            </p:nvCxnSpPr>
            <p:spPr>
              <a:xfrm flipV="1">
                <a:off x="4560" y="9346"/>
                <a:ext cx="2551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>
                <p:custDataLst>
                  <p:tags r:id="rId20"/>
                </p:custDataLst>
              </p:nvPr>
            </p:nvCxnSpPr>
            <p:spPr>
              <a:xfrm flipV="1">
                <a:off x="7636" y="9346"/>
                <a:ext cx="223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>
                <p:custDataLst>
                  <p:tags r:id="rId21"/>
                </p:custDataLst>
              </p:nvPr>
            </p:nvCxnSpPr>
            <p:spPr>
              <a:xfrm flipV="1">
                <a:off x="10471" y="9346"/>
                <a:ext cx="567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>
                <p:custDataLst>
                  <p:tags r:id="rId22"/>
                </p:custDataLst>
              </p:nvPr>
            </p:nvCxnSpPr>
            <p:spPr>
              <a:xfrm flipV="1">
                <a:off x="4488" y="8326"/>
                <a:ext cx="804" cy="61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>
                <p:custDataLst>
                  <p:tags r:id="rId23"/>
                </p:custDataLst>
              </p:nvPr>
            </p:nvCxnSpPr>
            <p:spPr>
              <a:xfrm flipV="1">
                <a:off x="7584" y="8326"/>
                <a:ext cx="804" cy="61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>
                <p:custDataLst>
                  <p:tags r:id="rId24"/>
                </p:custDataLst>
              </p:nvPr>
            </p:nvCxnSpPr>
            <p:spPr>
              <a:xfrm flipH="1" flipV="1">
                <a:off x="6336" y="8326"/>
                <a:ext cx="804" cy="61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>
                <p:custDataLst>
                  <p:tags r:id="rId25"/>
                </p:custDataLst>
              </p:nvPr>
            </p:nvCxnSpPr>
            <p:spPr>
              <a:xfrm flipH="1" flipV="1">
                <a:off x="9138" y="8326"/>
                <a:ext cx="804" cy="61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8" name="组合 37"/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5498" y="7672"/>
                <a:ext cx="767" cy="420"/>
                <a:chOff x="5335" y="3486"/>
                <a:chExt cx="767" cy="420"/>
              </a:xfrm>
            </p:grpSpPr>
            <p:sp>
              <p:nvSpPr>
                <p:cNvPr id="39" name="等腰三角形 38"/>
                <p:cNvSpPr/>
                <p:nvPr>
                  <p:custDataLst>
                    <p:tags r:id="rId27"/>
                  </p:custDataLst>
                </p:nvPr>
              </p:nvSpPr>
              <p:spPr>
                <a:xfrm rot="5400000">
                  <a:off x="5311" y="3510"/>
                  <a:ext cx="420" cy="372"/>
                </a:xfrm>
                <a:prstGeom prst="triangle">
                  <a:avLst/>
                </a:prstGeom>
                <a:solidFill>
                  <a:srgbClr val="60B6E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0" name="等腰三角形 39"/>
                <p:cNvSpPr/>
                <p:nvPr>
                  <p:custDataLst>
                    <p:tags r:id="rId28"/>
                  </p:custDataLst>
                </p:nvPr>
              </p:nvSpPr>
              <p:spPr>
                <a:xfrm rot="16200000">
                  <a:off x="5706" y="3510"/>
                  <a:ext cx="420" cy="372"/>
                </a:xfrm>
                <a:prstGeom prst="triangle">
                  <a:avLst/>
                </a:prstGeom>
                <a:solidFill>
                  <a:srgbClr val="60B6E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1" name="组合 40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8070" y="7690"/>
                <a:ext cx="440" cy="440"/>
                <a:chOff x="7873" y="2806"/>
                <a:chExt cx="440" cy="440"/>
              </a:xfrm>
            </p:grpSpPr>
            <p:pic>
              <p:nvPicPr>
                <p:cNvPr id="42" name="图片 41" descr="正方体"/>
                <p:cNvPicPr>
                  <a:picLocks noChangeAspect="1"/>
                </p:cNvPicPr>
                <p:nvPr>
                  <p:custDataLst>
                    <p:tags r:id="rId30"/>
                  </p:custDataLst>
                </p:nvPr>
              </p:nvPicPr>
              <p:blipFill>
                <a:blip r:embed="rId31">
                  <a:extLs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73" y="2806"/>
                  <a:ext cx="441" cy="441"/>
                </a:xfrm>
                <a:prstGeom prst="rect">
                  <a:avLst/>
                </a:prstGeom>
              </p:spPr>
            </p:pic>
            <p:sp>
              <p:nvSpPr>
                <p:cNvPr id="43" name="椭圆 42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8034" y="2966"/>
                  <a:ext cx="120" cy="120"/>
                </a:xfrm>
                <a:prstGeom prst="ellipse">
                  <a:avLst/>
                </a:prstGeom>
                <a:solidFill>
                  <a:srgbClr val="D5F6BC">
                    <a:alpha val="18000"/>
                  </a:srgbClr>
                </a:solidFill>
                <a:ln>
                  <a:solidFill>
                    <a:srgbClr val="D5F7BA">
                      <a:alpha val="0"/>
                    </a:srgbClr>
                  </a:solidFill>
                </a:ln>
                <a:effectLst>
                  <a:glow rad="88900">
                    <a:srgbClr val="D5F6BC">
                      <a:alpha val="83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>
                <p:custDataLst>
                  <p:tags r:id="rId34"/>
                </p:custDataLst>
              </p:nvPr>
            </p:nvGrpSpPr>
            <p:grpSpPr>
              <a:xfrm>
                <a:off x="8938" y="7690"/>
                <a:ext cx="440" cy="440"/>
                <a:chOff x="7873" y="2806"/>
                <a:chExt cx="440" cy="440"/>
              </a:xfrm>
            </p:grpSpPr>
            <p:pic>
              <p:nvPicPr>
                <p:cNvPr id="48" name="图片 47" descr="正方体"/>
                <p:cNvPicPr>
                  <a:picLocks noChangeAspect="1"/>
                </p:cNvPicPr>
                <p:nvPr>
                  <p:custDataLst>
                    <p:tags r:id="rId35"/>
                  </p:custDataLst>
                </p:nvPr>
              </p:nvPicPr>
              <p:blipFill>
                <a:blip r:embed="rId31">
                  <a:extLs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73" y="2806"/>
                  <a:ext cx="441" cy="441"/>
                </a:xfrm>
                <a:prstGeom prst="rect">
                  <a:avLst/>
                </a:prstGeom>
              </p:spPr>
            </p:pic>
            <p:sp>
              <p:nvSpPr>
                <p:cNvPr id="55" name="椭圆 54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8034" y="2966"/>
                  <a:ext cx="120" cy="120"/>
                </a:xfrm>
                <a:prstGeom prst="ellipse">
                  <a:avLst/>
                </a:prstGeom>
                <a:solidFill>
                  <a:srgbClr val="D5F6BC">
                    <a:alpha val="18000"/>
                  </a:srgbClr>
                </a:solidFill>
                <a:ln>
                  <a:solidFill>
                    <a:srgbClr val="D5F7BA">
                      <a:alpha val="0"/>
                    </a:srgbClr>
                  </a:solidFill>
                </a:ln>
                <a:effectLst>
                  <a:glow rad="88900">
                    <a:srgbClr val="D5F6BC">
                      <a:alpha val="83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>
                <p:custDataLst>
                  <p:tags r:id="rId37"/>
                </p:custDataLst>
              </p:nvPr>
            </p:nvGrpSpPr>
            <p:grpSpPr>
              <a:xfrm>
                <a:off x="8563" y="7762"/>
                <a:ext cx="324" cy="296"/>
                <a:chOff x="8663" y="7672"/>
                <a:chExt cx="324" cy="296"/>
              </a:xfrm>
            </p:grpSpPr>
            <p:sp>
              <p:nvSpPr>
                <p:cNvPr id="58" name="立方体 5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8663" y="7672"/>
                  <a:ext cx="324" cy="296"/>
                </a:xfrm>
                <a:prstGeom prst="cube">
                  <a:avLst/>
                </a:prstGeom>
                <a:noFill/>
                <a:ln w="9525">
                  <a:solidFill>
                    <a:schemeClr val="tx1"/>
                  </a:solidFill>
                </a:ln>
                <a:scene3d>
                  <a:camera prst="isometricLeftDown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65" y="7760"/>
                  <a:ext cx="120" cy="120"/>
                </a:xfrm>
                <a:prstGeom prst="ellipse">
                  <a:avLst/>
                </a:prstGeom>
                <a:solidFill>
                  <a:srgbClr val="D5F6BC">
                    <a:alpha val="18000"/>
                  </a:srgbClr>
                </a:solidFill>
                <a:ln>
                  <a:solidFill>
                    <a:srgbClr val="D5F7BA">
                      <a:alpha val="0"/>
                    </a:srgbClr>
                  </a:solidFill>
                </a:ln>
                <a:effectLst>
                  <a:glow rad="88900">
                    <a:srgbClr val="D5F6BC">
                      <a:alpha val="83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4" name="文本框 6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5968" y="7600"/>
                <a:ext cx="114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  <a:r>
                  <a:rPr lang="en-US" altLang="zh-CN" sz="1600" i="1" baseline="-25000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en-US" altLang="zh-CN" sz="1600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4381" y="7286"/>
                <a:ext cx="3071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Microsoft YaHei UI" panose="020B0503020204020204" charset="-122"/>
                    <a:ea typeface="Microsoft YaHei UI" panose="020B0503020204020204" charset="-122"/>
                  </a:rPr>
                  <a:t>Channel Attention</a:t>
                </a:r>
                <a:endParaRPr lang="en-US" altLang="zh-CN" sz="1000">
                  <a:latin typeface="Microsoft YaHei UI" panose="020B0503020204020204" charset="-122"/>
                  <a:ea typeface="Microsoft YaHei UI" panose="020B0503020204020204" charset="-122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7697" y="7286"/>
                <a:ext cx="237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Microsoft YaHei UI" panose="020B0503020204020204" charset="-122"/>
                    <a:ea typeface="Microsoft YaHei UI" panose="020B0503020204020204" charset="-122"/>
                  </a:rPr>
                  <a:t>Spatial Attention</a:t>
                </a:r>
                <a:endParaRPr lang="en-US" altLang="zh-CN" sz="1000">
                  <a:latin typeface="Microsoft YaHei UI" panose="020B0503020204020204" charset="-122"/>
                  <a:ea typeface="Microsoft YaHei UI" panose="020B0503020204020204" charset="-122"/>
                </a:endParaRPr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9007" y="7616"/>
                <a:ext cx="106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  <a:r>
                  <a:rPr lang="en-US" altLang="zh-CN" sz="1600" i="1" baseline="-25000">
                    <a:latin typeface="Times New Roman" panose="02020603050405020304" charset="0"/>
                    <a:cs typeface="Times New Roman" panose="02020603050405020304" charset="0"/>
                  </a:rPr>
                  <a:t>s</a:t>
                </a:r>
                <a:endParaRPr lang="en-US" altLang="zh-CN" sz="1600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269" name="组合 268"/>
              <p:cNvGrpSpPr/>
              <p:nvPr/>
            </p:nvGrpSpPr>
            <p:grpSpPr>
              <a:xfrm>
                <a:off x="7162" y="9056"/>
                <a:ext cx="340" cy="340"/>
                <a:chOff x="6405" y="7371"/>
                <a:chExt cx="680" cy="680"/>
              </a:xfrm>
            </p:grpSpPr>
            <p:sp>
              <p:nvSpPr>
                <p:cNvPr id="270" name="椭圆 269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71" name="直接连接符 270"/>
                <p:cNvCxnSpPr>
                  <a:stCxn id="270" idx="1"/>
                  <a:endCxn id="270" idx="5"/>
                </p:cNvCxnSpPr>
                <p:nvPr>
                  <p:custDataLst>
                    <p:tags r:id="rId45"/>
                  </p:custDataLst>
                </p:nvPr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接连接符 271"/>
                <p:cNvCxnSpPr>
                  <a:stCxn id="270" idx="7"/>
                  <a:endCxn id="270" idx="3"/>
                </p:cNvCxnSpPr>
                <p:nvPr>
                  <p:custDataLst>
                    <p:tags r:id="rId46"/>
                  </p:custDataLst>
                </p:nvPr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组合 71"/>
              <p:cNvGrpSpPr/>
              <p:nvPr/>
            </p:nvGrpSpPr>
            <p:grpSpPr>
              <a:xfrm>
                <a:off x="10022" y="9174"/>
                <a:ext cx="340" cy="340"/>
                <a:chOff x="6405" y="7371"/>
                <a:chExt cx="680" cy="680"/>
              </a:xfrm>
            </p:grpSpPr>
            <p:sp>
              <p:nvSpPr>
                <p:cNvPr id="73" name="椭圆 72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4" name="直接连接符 73"/>
                <p:cNvCxnSpPr>
                  <a:stCxn id="73" idx="1"/>
                  <a:endCxn id="73" idx="5"/>
                </p:cNvCxnSpPr>
                <p:nvPr>
                  <p:custDataLst>
                    <p:tags r:id="rId48"/>
                  </p:custDataLst>
                </p:nvPr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>
                  <a:stCxn id="73" idx="7"/>
                  <a:endCxn id="73" idx="3"/>
                </p:cNvCxnSpPr>
                <p:nvPr>
                  <p:custDataLst>
                    <p:tags r:id="rId49"/>
                  </p:custDataLst>
                </p:nvPr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6" name="文本框 75"/>
            <p:cNvSpPr txBox="1"/>
            <p:nvPr>
              <p:custDataLst>
                <p:tags r:id="rId50"/>
              </p:custDataLst>
            </p:nvPr>
          </p:nvSpPr>
          <p:spPr>
            <a:xfrm>
              <a:off x="3222" y="9084"/>
              <a:ext cx="293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Input features </a:t>
              </a:r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1600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en-US" altLang="zh-CN" sz="16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51"/>
              </p:custDataLst>
            </p:nvPr>
          </p:nvSpPr>
          <p:spPr>
            <a:xfrm>
              <a:off x="10567" y="9084"/>
              <a:ext cx="29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Output features </a:t>
              </a:r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1600" baseline="-25000">
                  <a:latin typeface="Times New Roman" panose="02020603050405020304" charset="0"/>
                  <a:cs typeface="Times New Roman" panose="02020603050405020304" charset="0"/>
                </a:rPr>
                <a:t>3</a:t>
              </a:r>
              <a:endParaRPr lang="en-US" altLang="zh-CN" sz="16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1315085" y="213296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831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CBAM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235" y="920750"/>
            <a:ext cx="9415780" cy="2995295"/>
          </a:xfrm>
          <a:prstGeom prst="rect">
            <a:avLst/>
          </a:prstGeom>
        </p:spPr>
      </p:pic>
      <p:sp>
        <p:nvSpPr>
          <p:cNvPr id="290" name="文本框 289"/>
          <p:cNvSpPr txBox="1"/>
          <p:nvPr/>
        </p:nvSpPr>
        <p:spPr>
          <a:xfrm>
            <a:off x="258445" y="22510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58356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i="1">
                <a:latin typeface="Times New Roman" panose="02020603050405020304" charset="0"/>
                <a:cs typeface="Times New Roman" panose="02020603050405020304" charset="0"/>
              </a:rPr>
              <a:t>https://arxiv.org/abs/1807.06521</a:t>
            </a:r>
            <a:endParaRPr lang="zh-CN" alt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43405" y="4115435"/>
            <a:ext cx="8982710" cy="2540000"/>
            <a:chOff x="3328" y="5536"/>
            <a:chExt cx="14146" cy="4000"/>
          </a:xfrm>
        </p:grpSpPr>
        <p:grpSp>
          <p:nvGrpSpPr>
            <p:cNvPr id="54" name="组合 53"/>
            <p:cNvGrpSpPr/>
            <p:nvPr/>
          </p:nvGrpSpPr>
          <p:grpSpPr>
            <a:xfrm>
              <a:off x="3958" y="6621"/>
              <a:ext cx="13516" cy="2736"/>
              <a:chOff x="1506" y="6066"/>
              <a:chExt cx="13516" cy="2736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1506" y="6066"/>
                <a:ext cx="13516" cy="2736"/>
                <a:chOff x="1506" y="6066"/>
                <a:chExt cx="13516" cy="2736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507" y="6066"/>
                  <a:ext cx="13088" cy="2736"/>
                  <a:chOff x="1507" y="6066"/>
                  <a:chExt cx="13088" cy="2736"/>
                </a:xfrm>
              </p:grpSpPr>
              <p:sp>
                <p:nvSpPr>
                  <p:cNvPr id="340" name="Google Shape;340;p21"/>
                  <p:cNvSpPr/>
                  <p:nvPr/>
                </p:nvSpPr>
                <p:spPr>
                  <a:xfrm>
                    <a:off x="1507" y="6743"/>
                    <a:ext cx="1700" cy="2042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DEEBF7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13" name="直接箭头连接符 12"/>
                  <p:cNvCxnSpPr>
                    <a:endCxn id="17" idx="2"/>
                  </p:cNvCxnSpPr>
                  <p:nvPr/>
                </p:nvCxnSpPr>
                <p:spPr>
                  <a:xfrm>
                    <a:off x="3458" y="8235"/>
                    <a:ext cx="3627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6" name="组合 15"/>
                  <p:cNvGrpSpPr/>
                  <p:nvPr/>
                </p:nvGrpSpPr>
                <p:grpSpPr>
                  <a:xfrm>
                    <a:off x="12894" y="6761"/>
                    <a:ext cx="1701" cy="2041"/>
                    <a:chOff x="11396" y="6874"/>
                    <a:chExt cx="1890" cy="2268"/>
                  </a:xfrm>
                </p:grpSpPr>
                <p:sp>
                  <p:nvSpPr>
                    <p:cNvPr id="14" name="Google Shape;340;p21"/>
                    <p:cNvSpPr/>
                    <p:nvPr/>
                  </p:nvSpPr>
                  <p:spPr>
                    <a:xfrm>
                      <a:off x="11396" y="6874"/>
                      <a:ext cx="1890" cy="2268"/>
                    </a:xfrm>
                    <a:prstGeom prst="cube">
                      <a:avLst>
                        <a:gd name="adj" fmla="val 25000"/>
                      </a:avLst>
                    </a:prstGeom>
                    <a:solidFill>
                      <a:srgbClr val="DEEBF7"/>
                    </a:solidFill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15" name="椭圆 14"/>
                    <p:cNvSpPr/>
                    <p:nvPr/>
                  </p:nvSpPr>
                  <p:spPr>
                    <a:xfrm>
                      <a:off x="11407" y="7236"/>
                      <a:ext cx="1667" cy="1590"/>
                    </a:xfrm>
                    <a:prstGeom prst="ellipse">
                      <a:avLst/>
                    </a:prstGeom>
                    <a:solidFill>
                      <a:srgbClr val="3C7FBB"/>
                    </a:solidFill>
                    <a:ln>
                      <a:noFill/>
                    </a:ln>
                    <a:effectLst>
                      <a:glow rad="152400">
                        <a:srgbClr val="A1C4E3">
                          <a:alpha val="25000"/>
                        </a:srgbClr>
                      </a:glow>
                      <a:outerShdw dist="50800" dir="5400000" sx="1000" sy="1000" algn="ctr" rotWithShape="0">
                        <a:srgbClr val="000000">
                          <a:alpha val="100000"/>
                        </a:srgbClr>
                      </a:outerShdw>
                      <a:softEdge rad="317500"/>
                    </a:effec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3" name="组合 22"/>
                  <p:cNvGrpSpPr/>
                  <p:nvPr/>
                </p:nvGrpSpPr>
                <p:grpSpPr>
                  <a:xfrm>
                    <a:off x="7085" y="7895"/>
                    <a:ext cx="680" cy="680"/>
                    <a:chOff x="10302" y="8122"/>
                    <a:chExt cx="680" cy="680"/>
                  </a:xfrm>
                </p:grpSpPr>
                <p:sp>
                  <p:nvSpPr>
                    <p:cNvPr id="17" name="椭圆 16"/>
                    <p:cNvSpPr/>
                    <p:nvPr/>
                  </p:nvSpPr>
                  <p:spPr>
                    <a:xfrm>
                      <a:off x="10302" y="8122"/>
                      <a:ext cx="680" cy="680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9" name="直接连接符 18"/>
                    <p:cNvCxnSpPr/>
                    <p:nvPr/>
                  </p:nvCxnSpPr>
                  <p:spPr>
                    <a:xfrm>
                      <a:off x="10458" y="8278"/>
                      <a:ext cx="369" cy="369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" name="椭圆 32"/>
                  <p:cNvSpPr/>
                  <p:nvPr/>
                </p:nvSpPr>
                <p:spPr>
                  <a:xfrm>
                    <a:off x="11326" y="7895"/>
                    <a:ext cx="680" cy="680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9" name="直接箭头连接符 48"/>
                  <p:cNvCxnSpPr>
                    <a:endCxn id="33" idx="2"/>
                  </p:cNvCxnSpPr>
                  <p:nvPr/>
                </p:nvCxnSpPr>
                <p:spPr>
                  <a:xfrm>
                    <a:off x="7880" y="8235"/>
                    <a:ext cx="3446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箭头连接符 49"/>
                  <p:cNvCxnSpPr/>
                  <p:nvPr/>
                </p:nvCxnSpPr>
                <p:spPr>
                  <a:xfrm>
                    <a:off x="12121" y="8235"/>
                    <a:ext cx="658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圆角矩形 50"/>
                  <p:cNvSpPr/>
                  <p:nvPr/>
                </p:nvSpPr>
                <p:spPr>
                  <a:xfrm>
                    <a:off x="4188" y="6084"/>
                    <a:ext cx="2155" cy="1911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70AD47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" name="圆角矩形 51"/>
                  <p:cNvSpPr/>
                  <p:nvPr/>
                </p:nvSpPr>
                <p:spPr>
                  <a:xfrm>
                    <a:off x="8447" y="6066"/>
                    <a:ext cx="2155" cy="1929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7030A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3" name="曲线连接符 52"/>
                  <p:cNvCxnSpPr>
                    <a:stCxn id="54" idx="6"/>
                    <a:endCxn id="55" idx="2"/>
                  </p:cNvCxnSpPr>
                  <p:nvPr/>
                </p:nvCxnSpPr>
                <p:spPr>
                  <a:xfrm flipV="1">
                    <a:off x="3461" y="7161"/>
                    <a:ext cx="677" cy="864"/>
                  </a:xfrm>
                  <a:prstGeom prst="curvedConnector3">
                    <a:avLst>
                      <a:gd name="adj1" fmla="val 50074"/>
                    </a:avLst>
                  </a:prstGeom>
                  <a:ln w="38100">
                    <a:solidFill>
                      <a:schemeClr val="tx1"/>
                    </a:solidFill>
                    <a:headEnd type="none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曲线连接符 56"/>
                  <p:cNvCxnSpPr/>
                  <p:nvPr/>
                </p:nvCxnSpPr>
                <p:spPr>
                  <a:xfrm flipV="1">
                    <a:off x="7712" y="7049"/>
                    <a:ext cx="677" cy="864"/>
                  </a:xfrm>
                  <a:prstGeom prst="curvedConnector3">
                    <a:avLst>
                      <a:gd name="adj1" fmla="val 50074"/>
                    </a:avLst>
                  </a:prstGeom>
                  <a:ln w="38100">
                    <a:solidFill>
                      <a:schemeClr val="tx1"/>
                    </a:solidFill>
                    <a:headEnd type="none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曲线连接符 59"/>
                  <p:cNvCxnSpPr>
                    <a:stCxn id="58" idx="6"/>
                    <a:endCxn id="59" idx="2"/>
                  </p:cNvCxnSpPr>
                  <p:nvPr/>
                </p:nvCxnSpPr>
                <p:spPr>
                  <a:xfrm>
                    <a:off x="6393" y="7167"/>
                    <a:ext cx="747" cy="769"/>
                  </a:xfrm>
                  <a:prstGeom prst="curvedConnector3">
                    <a:avLst>
                      <a:gd name="adj1" fmla="val 50067"/>
                    </a:avLst>
                  </a:prstGeom>
                  <a:ln w="38100">
                    <a:solidFill>
                      <a:schemeClr val="tx1"/>
                    </a:solidFill>
                    <a:headEnd type="none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曲线连接符 60"/>
                  <p:cNvCxnSpPr/>
                  <p:nvPr/>
                </p:nvCxnSpPr>
                <p:spPr>
                  <a:xfrm>
                    <a:off x="10660" y="7144"/>
                    <a:ext cx="747" cy="769"/>
                  </a:xfrm>
                  <a:prstGeom prst="curvedConnector3">
                    <a:avLst>
                      <a:gd name="adj1" fmla="val 50067"/>
                    </a:avLst>
                  </a:prstGeom>
                  <a:ln w="38100">
                    <a:solidFill>
                      <a:schemeClr val="tx1"/>
                    </a:solidFill>
                    <a:headEnd type="none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3" name="文本框 62"/>
                <p:cNvSpPr txBox="1"/>
                <p:nvPr/>
              </p:nvSpPr>
              <p:spPr>
                <a:xfrm>
                  <a:off x="1506" y="6194"/>
                  <a:ext cx="2002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Input Feature</a:t>
                  </a:r>
                  <a:endParaRPr lang="en-US" altLang="zh-CN" sz="1400"/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12706" y="6194"/>
                  <a:ext cx="2316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Refined Feature</a:t>
                  </a:r>
                  <a:endParaRPr lang="en-US" altLang="zh-CN" sz="1400"/>
                </a:p>
              </p:txBody>
            </p:sp>
            <p:sp>
              <p:nvSpPr>
                <p:cNvPr id="153" name="Google Shape;153;p21"/>
                <p:cNvSpPr/>
                <p:nvPr/>
              </p:nvSpPr>
              <p:spPr>
                <a:xfrm>
                  <a:off x="4595" y="7442"/>
                  <a:ext cx="1342" cy="417"/>
                </a:xfrm>
                <a:prstGeom prst="cube">
                  <a:avLst>
                    <a:gd name="adj" fmla="val 25000"/>
                  </a:avLst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55000">
                      <a:srgbClr val="BADEA9">
                        <a:alpha val="100000"/>
                      </a:srgbClr>
                    </a:gs>
                    <a:gs pos="46000">
                      <a:srgbClr val="B7DDA5"/>
                    </a:gs>
                    <a:gs pos="100000">
                      <a:schemeClr val="bg1"/>
                    </a:gs>
                  </a:gsLst>
                  <a:lin ang="10800000" scaled="0"/>
                </a:gra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4365" y="6194"/>
                  <a:ext cx="1821" cy="1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/>
                    <a:t>Channel</a:t>
                  </a:r>
                  <a:endParaRPr lang="en-US" altLang="zh-CN" sz="1400"/>
                </a:p>
                <a:p>
                  <a:pPr algn="ctr"/>
                  <a:r>
                    <a:rPr lang="en-US" altLang="zh-CN" sz="1400"/>
                    <a:t>Attention Module</a:t>
                  </a:r>
                  <a:endParaRPr lang="en-US" altLang="zh-CN" sz="1400"/>
                </a:p>
              </p:txBody>
            </p:sp>
            <p:sp>
              <p:nvSpPr>
                <p:cNvPr id="68" name="文本框 67"/>
                <p:cNvSpPr txBox="1"/>
                <p:nvPr/>
              </p:nvSpPr>
              <p:spPr>
                <a:xfrm>
                  <a:off x="8448" y="6459"/>
                  <a:ext cx="1585" cy="1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/>
                    <a:t>Spatial</a:t>
                  </a:r>
                  <a:endParaRPr lang="en-US" altLang="zh-CN" sz="1400"/>
                </a:p>
                <a:p>
                  <a:pPr algn="ctr"/>
                  <a:r>
                    <a:rPr lang="en-US" altLang="zh-CN" sz="1400"/>
                    <a:t>Attention Module</a:t>
                  </a:r>
                  <a:endParaRPr lang="en-US" altLang="zh-CN" sz="1400"/>
                </a:p>
              </p:txBody>
            </p:sp>
            <p:sp>
              <p:nvSpPr>
                <p:cNvPr id="116" name="Google Shape;116;p19"/>
                <p:cNvSpPr/>
                <p:nvPr/>
              </p:nvSpPr>
              <p:spPr>
                <a:xfrm>
                  <a:off x="9925" y="6308"/>
                  <a:ext cx="455" cy="1463"/>
                </a:xfrm>
                <a:prstGeom prst="cube">
                  <a:avLst>
                    <a:gd name="adj" fmla="val 68741"/>
                  </a:avLst>
                </a:prstGeom>
                <a:gradFill>
                  <a:gsLst>
                    <a:gs pos="9000">
                      <a:schemeClr val="bg1"/>
                    </a:gs>
                    <a:gs pos="86000">
                      <a:schemeClr val="bg1"/>
                    </a:gs>
                    <a:gs pos="57000">
                      <a:srgbClr val="A294B7"/>
                    </a:gs>
                    <a:gs pos="44000">
                      <a:srgbClr val="A599B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cxnSp>
            <p:nvCxnSpPr>
              <p:cNvPr id="2" name="直接连接符 1"/>
              <p:cNvCxnSpPr/>
              <p:nvPr/>
            </p:nvCxnSpPr>
            <p:spPr>
              <a:xfrm rot="5400000">
                <a:off x="7241" y="8051"/>
                <a:ext cx="369" cy="3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5400000">
                <a:off x="11482" y="8051"/>
                <a:ext cx="369" cy="3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1482" y="8051"/>
                <a:ext cx="369" cy="3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" name="圆角矩形 5"/>
            <p:cNvSpPr/>
            <p:nvPr/>
          </p:nvSpPr>
          <p:spPr>
            <a:xfrm>
              <a:off x="3328" y="5536"/>
              <a:ext cx="14144" cy="40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641" y="5725"/>
              <a:ext cx="7663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</a:rPr>
                <a:t>Convolutional Block Attention Module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64414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Squeeze-and-Excitation block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 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注意力机制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9721" b="16535"/>
          <a:stretch>
            <a:fillRect/>
          </a:stretch>
        </p:blipFill>
        <p:spPr>
          <a:xfrm>
            <a:off x="2333625" y="1444625"/>
            <a:ext cx="8040370" cy="2229485"/>
          </a:xfrm>
          <a:prstGeom prst="rect">
            <a:avLst/>
          </a:prstGeom>
        </p:spPr>
      </p:pic>
      <p:grpSp>
        <p:nvGrpSpPr>
          <p:cNvPr id="98" name="组合 97"/>
          <p:cNvGrpSpPr/>
          <p:nvPr/>
        </p:nvGrpSpPr>
        <p:grpSpPr>
          <a:xfrm>
            <a:off x="2459990" y="3933190"/>
            <a:ext cx="8175625" cy="1704340"/>
            <a:chOff x="1794" y="5384"/>
            <a:chExt cx="12875" cy="2684"/>
          </a:xfrm>
        </p:grpSpPr>
        <p:grpSp>
          <p:nvGrpSpPr>
            <p:cNvPr id="96" name="组合 95"/>
            <p:cNvGrpSpPr/>
            <p:nvPr/>
          </p:nvGrpSpPr>
          <p:grpSpPr>
            <a:xfrm>
              <a:off x="1794" y="5384"/>
              <a:ext cx="12875" cy="2684"/>
              <a:chOff x="1794" y="5384"/>
              <a:chExt cx="12875" cy="2684"/>
            </a:xfrm>
          </p:grpSpPr>
          <p:sp>
            <p:nvSpPr>
              <p:cNvPr id="340" name="Google Shape;340;p21"/>
              <p:cNvSpPr/>
              <p:nvPr/>
            </p:nvSpPr>
            <p:spPr>
              <a:xfrm>
                <a:off x="2425" y="5967"/>
                <a:ext cx="1235" cy="1662"/>
              </a:xfrm>
              <a:prstGeom prst="cube">
                <a:avLst>
                  <a:gd name="adj" fmla="val 35708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" name="Google Shape;340;p21"/>
              <p:cNvSpPr/>
              <p:nvPr/>
            </p:nvSpPr>
            <p:spPr>
              <a:xfrm>
                <a:off x="5046" y="5967"/>
                <a:ext cx="1480" cy="1662"/>
              </a:xfrm>
              <a:prstGeom prst="cube">
                <a:avLst>
                  <a:gd name="adj" fmla="val 30850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aphicFrame>
            <p:nvGraphicFramePr>
              <p:cNvPr id="180" name="对象 17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105" y="5627"/>
              <a:ext cx="235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3" imgW="165100" imgH="165100" progId="Equation.KSEE3">
                      <p:embed/>
                    </p:oleObj>
                  </mc:Choice>
                  <mc:Fallback>
                    <p:oleObj name="" r:id="rId3" imgW="165100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105" y="5627"/>
                            <a:ext cx="235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953" y="5604"/>
              <a:ext cx="235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5" imgW="165100" imgH="177165" progId="Equation.KSEE3">
                      <p:embed/>
                    </p:oleObj>
                  </mc:Choice>
                  <mc:Fallback>
                    <p:oleObj name="" r:id="rId5" imgW="1651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953" y="5604"/>
                            <a:ext cx="235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" name="直接箭头连接符 6"/>
              <p:cNvCxnSpPr/>
              <p:nvPr/>
            </p:nvCxnSpPr>
            <p:spPr>
              <a:xfrm>
                <a:off x="1794" y="7015"/>
                <a:ext cx="552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>
                <a:off x="3786" y="7017"/>
                <a:ext cx="11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对象 1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113" y="6534"/>
              <a:ext cx="367" cy="4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" name="" r:id="rId7" imgW="190500" imgH="228600" progId="Equation.KSEE3">
                      <p:embed/>
                    </p:oleObj>
                  </mc:Choice>
                  <mc:Fallback>
                    <p:oleObj name="" r:id="rId7" imgW="1905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113" y="6534"/>
                            <a:ext cx="367" cy="42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2766" y="6761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" name="" r:id="rId9" imgW="177165" imgH="165100" progId="Equation.KSEE3">
                      <p:embed/>
                    </p:oleObj>
                  </mc:Choice>
                  <mc:Fallback>
                    <p:oleObj name="" r:id="rId9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766" y="6761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文本框 19"/>
              <p:cNvSpPr txBox="1"/>
              <p:nvPr/>
            </p:nvSpPr>
            <p:spPr>
              <a:xfrm>
                <a:off x="2926" y="6647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766" y="7629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3675" y="7214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aphicFrame>
            <p:nvGraphicFramePr>
              <p:cNvPr id="23" name="对象 2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2652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" name="" r:id="rId11" imgW="152400" imgH="177165" progId="Equation.KSEE3">
                      <p:embed/>
                    </p:oleObj>
                  </mc:Choice>
                  <mc:Fallback>
                    <p:oleObj name="" r:id="rId11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652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533" y="7309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" name="" r:id="rId13" imgW="177165" imgH="177165" progId="Equation.KSEE3">
                      <p:embed/>
                    </p:oleObj>
                  </mc:Choice>
                  <mc:Fallback>
                    <p:oleObj name="" r:id="rId13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533" y="7309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487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" name="" r:id="rId15" imgW="152400" imgH="177165" progId="Equation.KSEE3">
                      <p:embed/>
                    </p:oleObj>
                  </mc:Choice>
                  <mc:Fallback>
                    <p:oleObj name="" r:id="rId15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487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744" y="6761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" name="" r:id="rId16" imgW="177165" imgH="165100" progId="Equation.KSEE3">
                      <p:embed/>
                    </p:oleObj>
                  </mc:Choice>
                  <mc:Fallback>
                    <p:oleObj name="" r:id="rId16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744" y="6761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407" y="7309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" name="" r:id="rId17" imgW="177165" imgH="177165" progId="Equation.KSEE3">
                      <p:embed/>
                    </p:oleObj>
                  </mc:Choice>
                  <mc:Fallback>
                    <p:oleObj name="" r:id="rId17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407" y="7309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3" name="直接箭头连接符 32"/>
              <p:cNvCxnSpPr/>
              <p:nvPr/>
            </p:nvCxnSpPr>
            <p:spPr>
              <a:xfrm flipV="1">
                <a:off x="6660" y="5967"/>
                <a:ext cx="907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5" name="组合 54"/>
              <p:cNvGrpSpPr/>
              <p:nvPr/>
            </p:nvGrpSpPr>
            <p:grpSpPr>
              <a:xfrm>
                <a:off x="7708" y="5709"/>
                <a:ext cx="1026" cy="226"/>
                <a:chOff x="8788" y="5709"/>
                <a:chExt cx="1026" cy="226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8788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8901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9014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9127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9242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355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9468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9581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9696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0202" y="5697"/>
                <a:ext cx="1026" cy="226"/>
                <a:chOff x="11112" y="5709"/>
                <a:chExt cx="1026" cy="226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11112" y="5709"/>
                  <a:ext cx="119" cy="227"/>
                </a:xfrm>
                <a:prstGeom prst="rect">
                  <a:avLst/>
                </a:prstGeom>
                <a:solidFill>
                  <a:srgbClr val="9A33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11225" y="5709"/>
                  <a:ext cx="119" cy="227"/>
                </a:xfrm>
                <a:prstGeom prst="rect">
                  <a:avLst/>
                </a:prstGeom>
                <a:solidFill>
                  <a:srgbClr val="FF33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11338" y="5709"/>
                  <a:ext cx="119" cy="227"/>
                </a:xfrm>
                <a:prstGeom prst="rect">
                  <a:avLst/>
                </a:prstGeom>
                <a:solidFill>
                  <a:srgbClr val="FF66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11451" y="5709"/>
                  <a:ext cx="119" cy="227"/>
                </a:xfrm>
                <a:prstGeom prst="rect">
                  <a:avLst/>
                </a:prstGeom>
                <a:solidFill>
                  <a:srgbClr val="FF6699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11566" y="5709"/>
                  <a:ext cx="119" cy="227"/>
                </a:xfrm>
                <a:prstGeom prst="rect">
                  <a:avLst/>
                </a:prstGeom>
                <a:solidFill>
                  <a:srgbClr val="CC00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11679" y="5709"/>
                  <a:ext cx="119" cy="227"/>
                </a:xfrm>
                <a:prstGeom prst="rect">
                  <a:avLst/>
                </a:prstGeom>
                <a:solidFill>
                  <a:srgbClr val="990099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792" y="5709"/>
                  <a:ext cx="119" cy="227"/>
                </a:xfrm>
                <a:prstGeom prst="rect">
                  <a:avLst/>
                </a:prstGeom>
                <a:solidFill>
                  <a:srgbClr val="FFCCF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905" y="5709"/>
                  <a:ext cx="119" cy="227"/>
                </a:xfrm>
                <a:prstGeom prst="rect">
                  <a:avLst/>
                </a:prstGeom>
                <a:solidFill>
                  <a:srgbClr val="FFCCCC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2020" y="5709"/>
                  <a:ext cx="119" cy="227"/>
                </a:xfrm>
                <a:prstGeom prst="rect">
                  <a:avLst/>
                </a:prstGeom>
                <a:solidFill>
                  <a:srgbClr val="FF9C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2" name="文本框 51"/>
              <p:cNvSpPr txBox="1"/>
              <p:nvPr/>
            </p:nvSpPr>
            <p:spPr>
              <a:xfrm>
                <a:off x="7664" y="5967"/>
                <a:ext cx="1134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000" i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</a:t>
                </a:r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graphicFrame>
            <p:nvGraphicFramePr>
              <p:cNvPr id="53" name="对象 5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668" y="5697"/>
              <a:ext cx="710" cy="4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" name="" r:id="rId18" imgW="368300" imgH="241300" progId="Equation.KSEE3">
                      <p:embed/>
                    </p:oleObj>
                  </mc:Choice>
                  <mc:Fallback>
                    <p:oleObj name="" r:id="rId18" imgW="368300" imgH="2413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668" y="5697"/>
                            <a:ext cx="710" cy="45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7" name="直接箭头连接符 56"/>
              <p:cNvCxnSpPr/>
              <p:nvPr/>
            </p:nvCxnSpPr>
            <p:spPr>
              <a:xfrm>
                <a:off x="8901" y="5822"/>
                <a:ext cx="11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58" name="对象 5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8901" y="5384"/>
              <a:ext cx="1102" cy="4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" name="" r:id="rId20" imgW="571500" imgH="228600" progId="Equation.KSEE3">
                      <p:embed/>
                    </p:oleObj>
                  </mc:Choice>
                  <mc:Fallback>
                    <p:oleObj name="" r:id="rId20" imgW="5715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8901" y="5384"/>
                            <a:ext cx="1102" cy="4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0" name="直接箭头连接符 59"/>
              <p:cNvCxnSpPr/>
              <p:nvPr/>
            </p:nvCxnSpPr>
            <p:spPr>
              <a:xfrm>
                <a:off x="11336" y="5854"/>
                <a:ext cx="1021" cy="9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>
                <a:off x="6693" y="7013"/>
                <a:ext cx="5669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62" name="对象 6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1110" y="6534"/>
              <a:ext cx="1029" cy="4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" name="" r:id="rId22" imgW="533400" imgH="228600" progId="Equation.KSEE3">
                      <p:embed/>
                    </p:oleObj>
                  </mc:Choice>
                  <mc:Fallback>
                    <p:oleObj name="" r:id="rId22" imgW="5334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1110" y="6534"/>
                            <a:ext cx="1029" cy="4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" name="Google Shape;340;p21"/>
              <p:cNvSpPr/>
              <p:nvPr/>
            </p:nvSpPr>
            <p:spPr>
              <a:xfrm>
                <a:off x="12490" y="5980"/>
                <a:ext cx="1480" cy="1662"/>
              </a:xfrm>
              <a:prstGeom prst="cube">
                <a:avLst>
                  <a:gd name="adj" fmla="val 30850"/>
                </a:avLst>
              </a:prstGeom>
              <a:solidFill>
                <a:srgbClr val="FF9C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340;p21"/>
              <p:cNvSpPr/>
              <p:nvPr/>
            </p:nvSpPr>
            <p:spPr>
              <a:xfrm>
                <a:off x="12483" y="5979"/>
                <a:ext cx="1487" cy="1662"/>
              </a:xfrm>
              <a:prstGeom prst="cube">
                <a:avLst>
                  <a:gd name="adj" fmla="val 30850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12482" y="6434"/>
                <a:ext cx="1028" cy="1208"/>
                <a:chOff x="11112" y="4728"/>
                <a:chExt cx="1028" cy="1208"/>
              </a:xfrm>
            </p:grpSpPr>
            <p:sp>
              <p:nvSpPr>
                <p:cNvPr id="67" name="矩形 66"/>
                <p:cNvSpPr/>
                <p:nvPr/>
              </p:nvSpPr>
              <p:spPr>
                <a:xfrm>
                  <a:off x="11112" y="4729"/>
                  <a:ext cx="120" cy="1207"/>
                </a:xfrm>
                <a:prstGeom prst="rect">
                  <a:avLst/>
                </a:prstGeom>
                <a:solidFill>
                  <a:srgbClr val="9A33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11225" y="4728"/>
                  <a:ext cx="120" cy="1208"/>
                </a:xfrm>
                <a:prstGeom prst="rect">
                  <a:avLst/>
                </a:prstGeom>
                <a:solidFill>
                  <a:srgbClr val="FF33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11338" y="4729"/>
                  <a:ext cx="120" cy="1207"/>
                </a:xfrm>
                <a:prstGeom prst="rect">
                  <a:avLst/>
                </a:prstGeom>
                <a:solidFill>
                  <a:srgbClr val="FF66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11451" y="4728"/>
                  <a:ext cx="120" cy="1208"/>
                </a:xfrm>
                <a:prstGeom prst="rect">
                  <a:avLst/>
                </a:prstGeom>
                <a:solidFill>
                  <a:srgbClr val="FF66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11566" y="4728"/>
                  <a:ext cx="120" cy="1208"/>
                </a:xfrm>
                <a:prstGeom prst="rect">
                  <a:avLst/>
                </a:prstGeom>
                <a:solidFill>
                  <a:srgbClr val="CC0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11679" y="4729"/>
                  <a:ext cx="120" cy="1207"/>
                </a:xfrm>
                <a:prstGeom prst="rect">
                  <a:avLst/>
                </a:prstGeom>
                <a:solidFill>
                  <a:srgbClr val="9900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11792" y="4729"/>
                  <a:ext cx="120" cy="1207"/>
                </a:xfrm>
                <a:prstGeom prst="rect">
                  <a:avLst/>
                </a:prstGeom>
                <a:solidFill>
                  <a:srgbClr val="FFCC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11905" y="4729"/>
                  <a:ext cx="120" cy="1207"/>
                </a:xfrm>
                <a:prstGeom prst="rect">
                  <a:avLst/>
                </a:prstGeom>
                <a:solidFill>
                  <a:srgbClr val="FFCCC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12020" y="4729"/>
                  <a:ext cx="120" cy="1207"/>
                </a:xfrm>
                <a:prstGeom prst="rect">
                  <a:avLst/>
                </a:prstGeom>
                <a:solidFill>
                  <a:srgbClr val="FF9C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6" name="矩形 75"/>
              <p:cNvSpPr/>
              <p:nvPr/>
            </p:nvSpPr>
            <p:spPr>
              <a:xfrm rot="20880000">
                <a:off x="12697" y="5602"/>
                <a:ext cx="120" cy="1207"/>
              </a:xfrm>
              <a:prstGeom prst="rect">
                <a:avLst/>
              </a:prstGeom>
              <a:solidFill>
                <a:srgbClr val="9A33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 rot="20880000">
                <a:off x="12805" y="5600"/>
                <a:ext cx="120" cy="1207"/>
              </a:xfrm>
              <a:prstGeom prst="rect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 rot="20880000">
                <a:off x="12918" y="5599"/>
                <a:ext cx="120" cy="1207"/>
              </a:xfrm>
              <a:prstGeom prst="rect">
                <a:avLst/>
              </a:prstGeom>
              <a:solidFill>
                <a:srgbClr val="FF66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 rot="20880000">
                <a:off x="13031" y="5603"/>
                <a:ext cx="120" cy="1207"/>
              </a:xfrm>
              <a:prstGeom prst="rect">
                <a:avLst/>
              </a:prstGeom>
              <a:solidFill>
                <a:srgbClr val="FF669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 rot="20880000">
                <a:off x="13151" y="5600"/>
                <a:ext cx="120" cy="1207"/>
              </a:xfrm>
              <a:prstGeom prst="rect">
                <a:avLst/>
              </a:prstGeom>
              <a:solidFill>
                <a:srgbClr val="CC00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 rot="20880000">
                <a:off x="13266" y="5603"/>
                <a:ext cx="120" cy="1207"/>
              </a:xfrm>
              <a:prstGeom prst="rect">
                <a:avLst/>
              </a:prstGeom>
              <a:solidFill>
                <a:srgbClr val="99009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 rot="20880000">
                <a:off x="13390" y="5598"/>
                <a:ext cx="120" cy="1207"/>
              </a:xfrm>
              <a:prstGeom prst="rect">
                <a:avLst/>
              </a:prstGeom>
              <a:solidFill>
                <a:srgbClr val="FEA9FF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 rot="20880000">
                <a:off x="13606" y="5603"/>
                <a:ext cx="120" cy="1207"/>
              </a:xfrm>
              <a:prstGeom prst="rect">
                <a:avLst/>
              </a:prstGeom>
              <a:solidFill>
                <a:srgbClr val="FF9C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 rot="20880000">
                <a:off x="13496" y="5603"/>
                <a:ext cx="120" cy="1207"/>
              </a:xfrm>
              <a:prstGeom prst="rect">
                <a:avLst/>
              </a:prstGeom>
              <a:solidFill>
                <a:srgbClr val="FFA9A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87" name="对象 8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984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" name="" r:id="rId24" imgW="152400" imgH="177165" progId="Equation.KSEE3">
                      <p:embed/>
                    </p:oleObj>
                  </mc:Choice>
                  <mc:Fallback>
                    <p:oleObj name="" r:id="rId24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2984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" name="对象 8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850" y="7328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" name="" r:id="rId25" imgW="177165" imgH="177165" progId="Equation.KSEE3">
                      <p:embed/>
                    </p:oleObj>
                  </mc:Choice>
                  <mc:Fallback>
                    <p:oleObj name="" r:id="rId25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3850" y="7328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" name="对象 9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4004" y="6225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" name="" r:id="rId26" imgW="177165" imgH="165100" progId="Equation.KSEE3">
                      <p:embed/>
                    </p:oleObj>
                  </mc:Choice>
                  <mc:Fallback>
                    <p:oleObj name="" r:id="rId26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004" y="6225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" name="对象 9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323" y="5579"/>
              <a:ext cx="235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" name="" r:id="rId27" imgW="165100" imgH="203200" progId="Equation.KSEE3">
                      <p:embed/>
                    </p:oleObj>
                  </mc:Choice>
                  <mc:Fallback>
                    <p:oleObj name="" r:id="rId27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13323" y="5579"/>
                            <a:ext cx="235" cy="38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5" name="直接箭头连接符 94"/>
              <p:cNvCxnSpPr/>
              <p:nvPr/>
            </p:nvCxnSpPr>
            <p:spPr>
              <a:xfrm>
                <a:off x="14117" y="7011"/>
                <a:ext cx="552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97" name="文本框 96"/>
            <p:cNvSpPr txBox="1"/>
            <p:nvPr/>
          </p:nvSpPr>
          <p:spPr>
            <a:xfrm>
              <a:off x="10149" y="5967"/>
              <a:ext cx="113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zh-CN" altLang="en-US" sz="10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zh-CN" altLang="en-US" sz="1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000" i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</a:t>
              </a:r>
              <a:endParaRPr lang="en-US" altLang="zh-CN" sz="1000" i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568960" y="235521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" y="1076325"/>
            <a:ext cx="330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i="1">
                <a:latin typeface="Times New Roman" panose="02020603050405020304" charset="0"/>
                <a:cs typeface="Times New Roman" panose="02020603050405020304" charset="0"/>
              </a:rPr>
              <a:t>https://arxiv.org/abs/1709.01507</a:t>
            </a:r>
            <a:endParaRPr lang="zh-CN" altLang="en-US" sz="1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73253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efficient channel attention module ECA 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注意力机制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9482455" y="179006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" y="1076325"/>
            <a:ext cx="3438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https://arxiv.org/pdf/1910.03151</a:t>
            </a:r>
            <a:endParaRPr lang="en-US" altLang="zh-CN" sz="1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50" y="2692400"/>
            <a:ext cx="6751955" cy="3956685"/>
          </a:xfrm>
          <a:prstGeom prst="rect">
            <a:avLst/>
          </a:prstGeom>
        </p:spPr>
      </p:pic>
      <p:grpSp>
        <p:nvGrpSpPr>
          <p:cNvPr id="137" name="组合 136"/>
          <p:cNvGrpSpPr/>
          <p:nvPr/>
        </p:nvGrpSpPr>
        <p:grpSpPr>
          <a:xfrm>
            <a:off x="84455" y="3181985"/>
            <a:ext cx="6584950" cy="3101975"/>
            <a:chOff x="133" y="5011"/>
            <a:chExt cx="10370" cy="4885"/>
          </a:xfrm>
        </p:grpSpPr>
        <p:grpSp>
          <p:nvGrpSpPr>
            <p:cNvPr id="134" name="组合 133"/>
            <p:cNvGrpSpPr/>
            <p:nvPr/>
          </p:nvGrpSpPr>
          <p:grpSpPr>
            <a:xfrm>
              <a:off x="133" y="5011"/>
              <a:ext cx="9960" cy="4182"/>
              <a:chOff x="333" y="4134"/>
              <a:chExt cx="9960" cy="4182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333" y="4134"/>
                <a:ext cx="9961" cy="4183"/>
                <a:chOff x="8487" y="4230"/>
                <a:chExt cx="9961" cy="4183"/>
              </a:xfrm>
            </p:grpSpPr>
            <p:grpSp>
              <p:nvGrpSpPr>
                <p:cNvPr id="116" name="组合 115"/>
                <p:cNvGrpSpPr/>
                <p:nvPr/>
              </p:nvGrpSpPr>
              <p:grpSpPr>
                <a:xfrm>
                  <a:off x="9228" y="4230"/>
                  <a:ext cx="9220" cy="3725"/>
                  <a:chOff x="9228" y="4230"/>
                  <a:chExt cx="9220" cy="3725"/>
                </a:xfrm>
              </p:grpSpPr>
              <p:sp>
                <p:nvSpPr>
                  <p:cNvPr id="340" name="Google Shape;340;p21"/>
                  <p:cNvSpPr/>
                  <p:nvPr/>
                </p:nvSpPr>
                <p:spPr>
                  <a:xfrm>
                    <a:off x="9228" y="6297"/>
                    <a:ext cx="1511" cy="1533"/>
                  </a:xfrm>
                  <a:prstGeom prst="cube">
                    <a:avLst>
                      <a:gd name="adj" fmla="val 56452"/>
                    </a:avLst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DEEBF7"/>
                        </a:solidFill>
                      </a14:hiddenFill>
                    </a:ext>
                  </a:ex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11902" y="5963"/>
                    <a:ext cx="250" cy="1992"/>
                    <a:chOff x="12367" y="5996"/>
                    <a:chExt cx="250" cy="1992"/>
                  </a:xfrm>
                </p:grpSpPr>
                <p:sp>
                  <p:nvSpPr>
                    <p:cNvPr id="3" name="圆角矩形 2"/>
                    <p:cNvSpPr/>
                    <p:nvPr/>
                  </p:nvSpPr>
                  <p:spPr>
                    <a:xfrm>
                      <a:off x="12367" y="5996"/>
                      <a:ext cx="250" cy="199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" name="椭圆 4"/>
                    <p:cNvSpPr/>
                    <p:nvPr/>
                  </p:nvSpPr>
                  <p:spPr>
                    <a:xfrm>
                      <a:off x="12368" y="5996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" name="椭圆 14"/>
                    <p:cNvSpPr/>
                    <p:nvPr/>
                  </p:nvSpPr>
                  <p:spPr>
                    <a:xfrm>
                      <a:off x="12367" y="6245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" name="椭圆 15"/>
                    <p:cNvSpPr/>
                    <p:nvPr/>
                  </p:nvSpPr>
                  <p:spPr>
                    <a:xfrm>
                      <a:off x="12368" y="6494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" name="椭圆 16"/>
                    <p:cNvSpPr/>
                    <p:nvPr/>
                  </p:nvSpPr>
                  <p:spPr>
                    <a:xfrm>
                      <a:off x="12367" y="6743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" name="椭圆 17"/>
                    <p:cNvSpPr/>
                    <p:nvPr/>
                  </p:nvSpPr>
                  <p:spPr>
                    <a:xfrm>
                      <a:off x="12368" y="6992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" name="椭圆 18"/>
                    <p:cNvSpPr/>
                    <p:nvPr/>
                  </p:nvSpPr>
                  <p:spPr>
                    <a:xfrm>
                      <a:off x="12368" y="7241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" name="椭圆 19"/>
                    <p:cNvSpPr/>
                    <p:nvPr/>
                  </p:nvSpPr>
                  <p:spPr>
                    <a:xfrm>
                      <a:off x="12368" y="7490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" name="椭圆 20"/>
                    <p:cNvSpPr/>
                    <p:nvPr/>
                  </p:nvSpPr>
                  <p:spPr>
                    <a:xfrm>
                      <a:off x="12367" y="7739"/>
                      <a:ext cx="249" cy="249"/>
                    </a:xfrm>
                    <a:prstGeom prst="ellipse">
                      <a:avLst/>
                    </a:prstGeom>
                    <a:solidFill>
                      <a:srgbClr val="92CDDC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3" name="组合 32"/>
                  <p:cNvGrpSpPr/>
                  <p:nvPr/>
                </p:nvGrpSpPr>
                <p:grpSpPr>
                  <a:xfrm>
                    <a:off x="13766" y="5963"/>
                    <a:ext cx="250" cy="1992"/>
                    <a:chOff x="14051" y="5963"/>
                    <a:chExt cx="250" cy="1992"/>
                  </a:xfrm>
                </p:grpSpPr>
                <p:sp>
                  <p:nvSpPr>
                    <p:cNvPr id="22" name="圆角矩形 21"/>
                    <p:cNvSpPr/>
                    <p:nvPr/>
                  </p:nvSpPr>
                  <p:spPr>
                    <a:xfrm>
                      <a:off x="14051" y="5963"/>
                      <a:ext cx="250" cy="199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32" name="组合 31"/>
                    <p:cNvGrpSpPr/>
                    <p:nvPr/>
                  </p:nvGrpSpPr>
                  <p:grpSpPr>
                    <a:xfrm>
                      <a:off x="14051" y="5963"/>
                      <a:ext cx="249" cy="1991"/>
                      <a:chOff x="14051" y="5963"/>
                      <a:chExt cx="249" cy="1991"/>
                    </a:xfrm>
                  </p:grpSpPr>
                  <p:sp>
                    <p:nvSpPr>
                      <p:cNvPr id="23" name="椭圆 22"/>
                      <p:cNvSpPr/>
                      <p:nvPr/>
                    </p:nvSpPr>
                    <p:spPr>
                      <a:xfrm>
                        <a:off x="14052" y="5963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" name="椭圆 23"/>
                      <p:cNvSpPr/>
                      <p:nvPr/>
                    </p:nvSpPr>
                    <p:spPr>
                      <a:xfrm>
                        <a:off x="14051" y="6212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椭圆 24"/>
                      <p:cNvSpPr/>
                      <p:nvPr/>
                    </p:nvSpPr>
                    <p:spPr>
                      <a:xfrm>
                        <a:off x="14052" y="6461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椭圆 25"/>
                      <p:cNvSpPr/>
                      <p:nvPr/>
                    </p:nvSpPr>
                    <p:spPr>
                      <a:xfrm>
                        <a:off x="14051" y="6710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" name="椭圆 26"/>
                      <p:cNvSpPr/>
                      <p:nvPr/>
                    </p:nvSpPr>
                    <p:spPr>
                      <a:xfrm>
                        <a:off x="14052" y="6959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8" name="椭圆 27"/>
                      <p:cNvSpPr/>
                      <p:nvPr/>
                    </p:nvSpPr>
                    <p:spPr>
                      <a:xfrm>
                        <a:off x="14052" y="7208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椭圆 28"/>
                      <p:cNvSpPr/>
                      <p:nvPr/>
                    </p:nvSpPr>
                    <p:spPr>
                      <a:xfrm>
                        <a:off x="14052" y="7457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0" name="椭圆 29"/>
                      <p:cNvSpPr/>
                      <p:nvPr/>
                    </p:nvSpPr>
                    <p:spPr>
                      <a:xfrm>
                        <a:off x="14051" y="7706"/>
                        <a:ext cx="249" cy="249"/>
                      </a:xfrm>
                      <a:prstGeom prst="ellipse">
                        <a:avLst/>
                      </a:prstGeom>
                      <a:solidFill>
                        <a:srgbClr val="C4D6A0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4" name="圆角矩形 33"/>
                  <p:cNvSpPr/>
                  <p:nvPr/>
                </p:nvSpPr>
                <p:spPr>
                  <a:xfrm>
                    <a:off x="14704" y="5963"/>
                    <a:ext cx="250" cy="1992"/>
                  </a:xfrm>
                  <a:prstGeom prst="roundRect">
                    <a:avLst/>
                  </a:prstGeom>
                  <a:gradFill>
                    <a:gsLst>
                      <a:gs pos="0">
                        <a:srgbClr val="F8CBAD"/>
                      </a:gs>
                      <a:gs pos="28000">
                        <a:srgbClr val="EBAD83"/>
                      </a:gs>
                      <a:gs pos="54000">
                        <a:srgbClr val="CD6C2A"/>
                      </a:gs>
                      <a:gs pos="100000">
                        <a:srgbClr val="C55A11"/>
                      </a:gs>
                    </a:gsLst>
                    <a:lin ang="16200000" scaled="0"/>
                  </a:gra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15523" y="6806"/>
                    <a:ext cx="340" cy="340"/>
                    <a:chOff x="6405" y="7365"/>
                    <a:chExt cx="680" cy="680"/>
                  </a:xfrm>
                </p:grpSpPr>
                <p:sp>
                  <p:nvSpPr>
                    <p:cNvPr id="40" name="椭圆 39"/>
                    <p:cNvSpPr/>
                    <p:nvPr/>
                  </p:nvSpPr>
                  <p:spPr>
                    <a:xfrm>
                      <a:off x="6405" y="7365"/>
                      <a:ext cx="680" cy="680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1" name="直接连接符 40"/>
                    <p:cNvCxnSpPr/>
                    <p:nvPr/>
                  </p:nvCxnSpPr>
                  <p:spPr>
                    <a:xfrm>
                      <a:off x="6561" y="7527"/>
                      <a:ext cx="369" cy="36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连接符 41"/>
                    <p:cNvCxnSpPr/>
                    <p:nvPr/>
                  </p:nvCxnSpPr>
                  <p:spPr>
                    <a:xfrm rot="5400000">
                      <a:off x="6561" y="7527"/>
                      <a:ext cx="369" cy="36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组合 92"/>
                  <p:cNvGrpSpPr/>
                  <p:nvPr/>
                </p:nvGrpSpPr>
                <p:grpSpPr>
                  <a:xfrm>
                    <a:off x="16239" y="6273"/>
                    <a:ext cx="1497" cy="1550"/>
                    <a:chOff x="15675" y="7657"/>
                    <a:chExt cx="1497" cy="1550"/>
                  </a:xfrm>
                </p:grpSpPr>
                <p:grpSp>
                  <p:nvGrpSpPr>
                    <p:cNvPr id="62" name="组合 61"/>
                    <p:cNvGrpSpPr/>
                    <p:nvPr/>
                  </p:nvGrpSpPr>
                  <p:grpSpPr>
                    <a:xfrm>
                      <a:off x="16268" y="7657"/>
                      <a:ext cx="905" cy="938"/>
                      <a:chOff x="16268" y="7657"/>
                      <a:chExt cx="905" cy="938"/>
                    </a:xfrm>
                    <a:gradFill>
                      <a:gsLst>
                        <a:gs pos="16000">
                          <a:srgbClr val="F7CAAB"/>
                        </a:gs>
                        <a:gs pos="0">
                          <a:srgbClr val="FBE2D1"/>
                        </a:gs>
                        <a:gs pos="74000">
                          <a:srgbClr val="EC7F38"/>
                        </a:gs>
                        <a:gs pos="30000">
                          <a:srgbClr val="F4B78D"/>
                        </a:gs>
                        <a:gs pos="50000">
                          <a:srgbClr val="F09356"/>
                        </a:gs>
                        <a:gs pos="100000">
                          <a:srgbClr val="C55A11"/>
                        </a:gs>
                      </a:gsLst>
                      <a:lin ang="20400000" scaled="0"/>
                    </a:gradFill>
                  </p:grpSpPr>
                  <p:sp>
                    <p:nvSpPr>
                      <p:cNvPr id="43" name="Google Shape;340;p21"/>
                      <p:cNvSpPr/>
                      <p:nvPr/>
                    </p:nvSpPr>
                    <p:spPr>
                      <a:xfrm>
                        <a:off x="16493" y="765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48" name="Google Shape;340;p21"/>
                      <p:cNvSpPr/>
                      <p:nvPr/>
                    </p:nvSpPr>
                    <p:spPr>
                      <a:xfrm>
                        <a:off x="16466" y="7683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55" name="Google Shape;340;p21"/>
                      <p:cNvSpPr/>
                      <p:nvPr/>
                    </p:nvSpPr>
                    <p:spPr>
                      <a:xfrm>
                        <a:off x="16444" y="770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56" name="Google Shape;340;p21"/>
                      <p:cNvSpPr/>
                      <p:nvPr/>
                    </p:nvSpPr>
                    <p:spPr>
                      <a:xfrm>
                        <a:off x="16420" y="7735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57" name="Google Shape;340;p21"/>
                      <p:cNvSpPr/>
                      <p:nvPr/>
                    </p:nvSpPr>
                    <p:spPr>
                      <a:xfrm>
                        <a:off x="16386" y="776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58" name="Google Shape;340;p21"/>
                      <p:cNvSpPr/>
                      <p:nvPr/>
                    </p:nvSpPr>
                    <p:spPr>
                      <a:xfrm>
                        <a:off x="16361" y="779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59" name="Google Shape;340;p21"/>
                      <p:cNvSpPr/>
                      <p:nvPr/>
                    </p:nvSpPr>
                    <p:spPr>
                      <a:xfrm>
                        <a:off x="16330" y="782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0" name="Google Shape;340;p21"/>
                      <p:cNvSpPr/>
                      <p:nvPr/>
                    </p:nvSpPr>
                    <p:spPr>
                      <a:xfrm>
                        <a:off x="16299" y="785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1" name="Google Shape;340;p21"/>
                      <p:cNvSpPr/>
                      <p:nvPr/>
                    </p:nvSpPr>
                    <p:spPr>
                      <a:xfrm>
                        <a:off x="16268" y="788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  <a:gs pos="100000">
                              <a:srgbClr val="D8691E"/>
                            </a:gs>
                          </a:gsLst>
                          <a:path path="circle">
                            <a:fillToRect t="100000" r="100000"/>
                          </a:path>
                          <a:tileRect l="-100000" b="-100000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</p:grpSp>
                <p:grpSp>
                  <p:nvGrpSpPr>
                    <p:cNvPr id="63" name="组合 62"/>
                    <p:cNvGrpSpPr/>
                    <p:nvPr/>
                  </p:nvGrpSpPr>
                  <p:grpSpPr>
                    <a:xfrm>
                      <a:off x="16013" y="7917"/>
                      <a:ext cx="905" cy="937"/>
                      <a:chOff x="16268" y="7657"/>
                      <a:chExt cx="905" cy="937"/>
                    </a:xfrm>
                    <a:gradFill>
                      <a:gsLst>
                        <a:gs pos="0">
                          <a:srgbClr val="FBE2D1"/>
                        </a:gs>
                        <a:gs pos="88000">
                          <a:srgbClr val="EC7F38"/>
                        </a:gs>
                        <a:gs pos="30000">
                          <a:srgbClr val="F4B78D"/>
                        </a:gs>
                        <a:gs pos="50000">
                          <a:srgbClr val="F09356"/>
                        </a:gs>
                      </a:gsLst>
                      <a:lin ang="20400000" scaled="0"/>
                    </a:gradFill>
                  </p:grpSpPr>
                  <p:sp>
                    <p:nvSpPr>
                      <p:cNvPr id="64" name="Google Shape;340;p21"/>
                      <p:cNvSpPr/>
                      <p:nvPr/>
                    </p:nvSpPr>
                    <p:spPr>
                      <a:xfrm>
                        <a:off x="16493" y="765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5" name="Google Shape;340;p21"/>
                      <p:cNvSpPr/>
                      <p:nvPr/>
                    </p:nvSpPr>
                    <p:spPr>
                      <a:xfrm>
                        <a:off x="16466" y="7683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6" name="Google Shape;340;p21"/>
                      <p:cNvSpPr/>
                      <p:nvPr/>
                    </p:nvSpPr>
                    <p:spPr>
                      <a:xfrm>
                        <a:off x="16444" y="770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7" name="Google Shape;340;p21"/>
                      <p:cNvSpPr/>
                      <p:nvPr/>
                    </p:nvSpPr>
                    <p:spPr>
                      <a:xfrm>
                        <a:off x="16420" y="7735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8" name="Google Shape;340;p21"/>
                      <p:cNvSpPr/>
                      <p:nvPr/>
                    </p:nvSpPr>
                    <p:spPr>
                      <a:xfrm>
                        <a:off x="16386" y="776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69" name="Google Shape;340;p21"/>
                      <p:cNvSpPr/>
                      <p:nvPr/>
                    </p:nvSpPr>
                    <p:spPr>
                      <a:xfrm>
                        <a:off x="16361" y="779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0" name="Google Shape;340;p21"/>
                      <p:cNvSpPr/>
                      <p:nvPr/>
                    </p:nvSpPr>
                    <p:spPr>
                      <a:xfrm>
                        <a:off x="16330" y="782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1" name="Google Shape;340;p21"/>
                      <p:cNvSpPr/>
                      <p:nvPr/>
                    </p:nvSpPr>
                    <p:spPr>
                      <a:xfrm>
                        <a:off x="16299" y="785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2" name="Google Shape;340;p21"/>
                      <p:cNvSpPr/>
                      <p:nvPr/>
                    </p:nvSpPr>
                    <p:spPr>
                      <a:xfrm>
                        <a:off x="16268" y="788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  <a:gs pos="75000">
                              <a:srgbClr val="ED8B4A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</p:grpSp>
                <p:grpSp>
                  <p:nvGrpSpPr>
                    <p:cNvPr id="73" name="组合 72"/>
                    <p:cNvGrpSpPr/>
                    <p:nvPr/>
                  </p:nvGrpSpPr>
                  <p:grpSpPr>
                    <a:xfrm>
                      <a:off x="15761" y="8178"/>
                      <a:ext cx="905" cy="937"/>
                      <a:chOff x="16268" y="7657"/>
                      <a:chExt cx="905" cy="937"/>
                    </a:xfrm>
                    <a:gradFill>
                      <a:gsLst>
                        <a:gs pos="0">
                          <a:srgbClr val="FBE2D1"/>
                        </a:gs>
                        <a:gs pos="30000">
                          <a:srgbClr val="F4B78D"/>
                        </a:gs>
                        <a:gs pos="90000">
                          <a:srgbClr val="F09356"/>
                        </a:gs>
                      </a:gsLst>
                      <a:lin ang="20400000" scaled="0"/>
                    </a:gradFill>
                  </p:grpSpPr>
                  <p:sp>
                    <p:nvSpPr>
                      <p:cNvPr id="74" name="Google Shape;340;p21"/>
                      <p:cNvSpPr/>
                      <p:nvPr/>
                    </p:nvSpPr>
                    <p:spPr>
                      <a:xfrm>
                        <a:off x="16493" y="765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5" name="Google Shape;340;p21"/>
                      <p:cNvSpPr/>
                      <p:nvPr/>
                    </p:nvSpPr>
                    <p:spPr>
                      <a:xfrm>
                        <a:off x="16466" y="7683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6" name="Google Shape;340;p21"/>
                      <p:cNvSpPr/>
                      <p:nvPr/>
                    </p:nvSpPr>
                    <p:spPr>
                      <a:xfrm>
                        <a:off x="16444" y="770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7" name="Google Shape;340;p21"/>
                      <p:cNvSpPr/>
                      <p:nvPr/>
                    </p:nvSpPr>
                    <p:spPr>
                      <a:xfrm>
                        <a:off x="16420" y="7735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8" name="Google Shape;340;p21"/>
                      <p:cNvSpPr/>
                      <p:nvPr/>
                    </p:nvSpPr>
                    <p:spPr>
                      <a:xfrm>
                        <a:off x="16386" y="776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79" name="Google Shape;340;p21"/>
                      <p:cNvSpPr/>
                      <p:nvPr/>
                    </p:nvSpPr>
                    <p:spPr>
                      <a:xfrm>
                        <a:off x="16361" y="779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80" name="Google Shape;340;p21"/>
                      <p:cNvSpPr/>
                      <p:nvPr/>
                    </p:nvSpPr>
                    <p:spPr>
                      <a:xfrm>
                        <a:off x="16330" y="782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81" name="Google Shape;340;p21"/>
                      <p:cNvSpPr/>
                      <p:nvPr/>
                    </p:nvSpPr>
                    <p:spPr>
                      <a:xfrm>
                        <a:off x="16299" y="785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82" name="Google Shape;340;p21"/>
                      <p:cNvSpPr/>
                      <p:nvPr/>
                    </p:nvSpPr>
                    <p:spPr>
                      <a:xfrm>
                        <a:off x="16268" y="788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48000">
                              <a:srgbClr val="F5B487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</p:grpSp>
                <p:grpSp>
                  <p:nvGrpSpPr>
                    <p:cNvPr id="83" name="组合 82"/>
                    <p:cNvGrpSpPr/>
                    <p:nvPr/>
                  </p:nvGrpSpPr>
                  <p:grpSpPr>
                    <a:xfrm>
                      <a:off x="15675" y="8439"/>
                      <a:ext cx="742" cy="768"/>
                      <a:chOff x="16268" y="7827"/>
                      <a:chExt cx="742" cy="768"/>
                    </a:xfrm>
                    <a:gradFill>
                      <a:gsLst>
                        <a:gs pos="0">
                          <a:srgbClr val="FBE2D1"/>
                        </a:gs>
                        <a:gs pos="71000">
                          <a:srgbClr val="F8CBAC">
                            <a:alpha val="100000"/>
                          </a:srgbClr>
                        </a:gs>
                        <a:gs pos="100000">
                          <a:srgbClr val="F5B487"/>
                        </a:gs>
                        <a:gs pos="48000">
                          <a:srgbClr val="F9D3B8"/>
                        </a:gs>
                      </a:gsLst>
                      <a:lin ang="20400000" scaled="0"/>
                    </a:gradFill>
                  </p:grpSpPr>
                  <p:sp>
                    <p:nvSpPr>
                      <p:cNvPr id="90" name="Google Shape;340;p21"/>
                      <p:cNvSpPr/>
                      <p:nvPr/>
                    </p:nvSpPr>
                    <p:spPr>
                      <a:xfrm>
                        <a:off x="16330" y="7827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91" name="Google Shape;340;p21"/>
                      <p:cNvSpPr/>
                      <p:nvPr/>
                    </p:nvSpPr>
                    <p:spPr>
                      <a:xfrm>
                        <a:off x="16299" y="7856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92" name="Google Shape;340;p21"/>
                      <p:cNvSpPr/>
                      <p:nvPr/>
                    </p:nvSpPr>
                    <p:spPr>
                      <a:xfrm>
                        <a:off x="16268" y="7888"/>
                        <a:ext cx="680" cy="707"/>
                      </a:xfrm>
                      <a:prstGeom prst="cube">
                        <a:avLst>
                          <a:gd name="adj" fmla="val 4411"/>
                        </a:avLst>
                      </a:prstGeom>
                      <a:grpFill/>
                      <a:ln w="9525" cap="flat" cmpd="sng">
                        <a:gradFill>
                          <a:gsLst>
                            <a:gs pos="0">
                              <a:srgbClr val="FADCC9"/>
                            </a:gs>
                            <a:gs pos="21000">
                              <a:srgbClr val="F8CBAC"/>
                            </a:gs>
                          </a:gsLst>
                          <a:lin ang="16200000" scaled="1"/>
                        </a:gradFill>
                        <a:prstDash val="solid"/>
                        <a:round/>
                        <a:headEnd type="none" w="sm" len="sm"/>
                        <a:tailEnd type="none" w="sm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CBAD"/>
                            </a:solidFill>
                          </a14:hiddenFill>
                        </a:ext>
                      </a:ex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</p:grpSp>
              </p:grpSp>
              <p:cxnSp>
                <p:nvCxnSpPr>
                  <p:cNvPr id="94" name="曲线连接符 93"/>
                  <p:cNvCxnSpPr>
                    <a:stCxn id="340" idx="3"/>
                    <a:endCxn id="40" idx="4"/>
                  </p:cNvCxnSpPr>
                  <p:nvPr/>
                </p:nvCxnSpPr>
                <p:spPr>
                  <a:xfrm rot="5400000" flipH="1" flipV="1">
                    <a:off x="12283" y="4420"/>
                    <a:ext cx="684" cy="6136"/>
                  </a:xfrm>
                  <a:prstGeom prst="curvedConnector3">
                    <a:avLst>
                      <a:gd name="adj1" fmla="val -212719"/>
                    </a:avLst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接箭头连接符 94"/>
                  <p:cNvCxnSpPr/>
                  <p:nvPr/>
                </p:nvCxnSpPr>
                <p:spPr>
                  <a:xfrm flipV="1">
                    <a:off x="10831" y="6970"/>
                    <a:ext cx="103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接箭头连接符 95"/>
                  <p:cNvCxnSpPr>
                    <a:stCxn id="5" idx="6"/>
                    <a:endCxn id="25" idx="2"/>
                  </p:cNvCxnSpPr>
                  <p:nvPr/>
                </p:nvCxnSpPr>
                <p:spPr>
                  <a:xfrm>
                    <a:off x="12152" y="6088"/>
                    <a:ext cx="1615" cy="498"/>
                  </a:xfrm>
                  <a:prstGeom prst="straightConnector1">
                    <a:avLst/>
                  </a:prstGeom>
                  <a:ln>
                    <a:solidFill>
                      <a:srgbClr val="FF4C4C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接箭头连接符 96"/>
                  <p:cNvCxnSpPr>
                    <a:stCxn id="15" idx="6"/>
                    <a:endCxn id="25" idx="2"/>
                  </p:cNvCxnSpPr>
                  <p:nvPr/>
                </p:nvCxnSpPr>
                <p:spPr>
                  <a:xfrm>
                    <a:off x="12151" y="6337"/>
                    <a:ext cx="1616" cy="249"/>
                  </a:xfrm>
                  <a:prstGeom prst="straightConnector1">
                    <a:avLst/>
                  </a:prstGeom>
                  <a:ln>
                    <a:solidFill>
                      <a:srgbClr val="9869BA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接箭头连接符 97"/>
                  <p:cNvCxnSpPr>
                    <a:stCxn id="16" idx="6"/>
                    <a:endCxn id="25" idx="2"/>
                  </p:cNvCxnSpPr>
                  <p:nvPr/>
                </p:nvCxnSpPr>
                <p:spPr>
                  <a:xfrm>
                    <a:off x="12152" y="6586"/>
                    <a:ext cx="1615" cy="0"/>
                  </a:xfrm>
                  <a:prstGeom prst="straightConnector1">
                    <a:avLst/>
                  </a:prstGeom>
                  <a:ln>
                    <a:solidFill>
                      <a:srgbClr val="71FF7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箭头连接符 98"/>
                  <p:cNvCxnSpPr>
                    <a:stCxn id="17" idx="6"/>
                    <a:endCxn id="25" idx="2"/>
                  </p:cNvCxnSpPr>
                  <p:nvPr/>
                </p:nvCxnSpPr>
                <p:spPr>
                  <a:xfrm flipV="1">
                    <a:off x="12151" y="6586"/>
                    <a:ext cx="1616" cy="249"/>
                  </a:xfrm>
                  <a:prstGeom prst="straightConnector1">
                    <a:avLst/>
                  </a:prstGeom>
                  <a:ln>
                    <a:solidFill>
                      <a:srgbClr val="144BBB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箭头连接符 99"/>
                  <p:cNvCxnSpPr>
                    <a:stCxn id="17" idx="6"/>
                    <a:endCxn id="28" idx="2"/>
                  </p:cNvCxnSpPr>
                  <p:nvPr/>
                </p:nvCxnSpPr>
                <p:spPr>
                  <a:xfrm>
                    <a:off x="12151" y="6835"/>
                    <a:ext cx="1616" cy="498"/>
                  </a:xfrm>
                  <a:prstGeom prst="straightConnector1">
                    <a:avLst/>
                  </a:prstGeom>
                  <a:ln>
                    <a:solidFill>
                      <a:srgbClr val="FF4C4C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接箭头连接符 101"/>
                  <p:cNvCxnSpPr>
                    <a:stCxn id="18" idx="6"/>
                    <a:endCxn id="28" idx="2"/>
                  </p:cNvCxnSpPr>
                  <p:nvPr/>
                </p:nvCxnSpPr>
                <p:spPr>
                  <a:xfrm>
                    <a:off x="12152" y="7084"/>
                    <a:ext cx="1615" cy="249"/>
                  </a:xfrm>
                  <a:prstGeom prst="straightConnector1">
                    <a:avLst/>
                  </a:prstGeom>
                  <a:ln>
                    <a:solidFill>
                      <a:srgbClr val="9869BA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接箭头连接符 102"/>
                  <p:cNvCxnSpPr>
                    <a:stCxn id="19" idx="6"/>
                    <a:endCxn id="28" idx="2"/>
                  </p:cNvCxnSpPr>
                  <p:nvPr/>
                </p:nvCxnSpPr>
                <p:spPr>
                  <a:xfrm>
                    <a:off x="12152" y="7333"/>
                    <a:ext cx="1615" cy="0"/>
                  </a:xfrm>
                  <a:prstGeom prst="straightConnector1">
                    <a:avLst/>
                  </a:prstGeom>
                  <a:ln>
                    <a:solidFill>
                      <a:srgbClr val="71FF7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接箭头连接符 103"/>
                  <p:cNvCxnSpPr>
                    <a:stCxn id="20" idx="6"/>
                    <a:endCxn id="28" idx="2"/>
                  </p:cNvCxnSpPr>
                  <p:nvPr/>
                </p:nvCxnSpPr>
                <p:spPr>
                  <a:xfrm flipV="1">
                    <a:off x="12152" y="7333"/>
                    <a:ext cx="1615" cy="249"/>
                  </a:xfrm>
                  <a:prstGeom prst="straightConnector1">
                    <a:avLst/>
                  </a:prstGeom>
                  <a:ln>
                    <a:solidFill>
                      <a:srgbClr val="144BBB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直接箭头连接符 104"/>
                  <p:cNvCxnSpPr>
                    <a:stCxn id="21" idx="6"/>
                    <a:endCxn id="28" idx="2"/>
                  </p:cNvCxnSpPr>
                  <p:nvPr/>
                </p:nvCxnSpPr>
                <p:spPr>
                  <a:xfrm flipV="1">
                    <a:off x="12151" y="7333"/>
                    <a:ext cx="1616" cy="49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接箭头连接符 105"/>
                  <p:cNvCxnSpPr>
                    <a:stCxn id="18" idx="6"/>
                    <a:endCxn id="25" idx="2"/>
                  </p:cNvCxnSpPr>
                  <p:nvPr/>
                </p:nvCxnSpPr>
                <p:spPr>
                  <a:xfrm flipV="1">
                    <a:off x="12152" y="6586"/>
                    <a:ext cx="1615" cy="49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接箭头连接符 106"/>
                  <p:cNvCxnSpPr/>
                  <p:nvPr/>
                </p:nvCxnSpPr>
                <p:spPr>
                  <a:xfrm flipV="1">
                    <a:off x="14016" y="6970"/>
                    <a:ext cx="68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接箭头连接符 107"/>
                  <p:cNvCxnSpPr>
                    <a:endCxn id="40" idx="2"/>
                  </p:cNvCxnSpPr>
                  <p:nvPr/>
                </p:nvCxnSpPr>
                <p:spPr>
                  <a:xfrm>
                    <a:off x="14956" y="6976"/>
                    <a:ext cx="567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接箭头连接符 108"/>
                  <p:cNvCxnSpPr/>
                  <p:nvPr/>
                </p:nvCxnSpPr>
                <p:spPr>
                  <a:xfrm>
                    <a:off x="15863" y="6970"/>
                    <a:ext cx="397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接箭头连接符 109"/>
                  <p:cNvCxnSpPr/>
                  <p:nvPr/>
                </p:nvCxnSpPr>
                <p:spPr>
                  <a:xfrm>
                    <a:off x="17824" y="6959"/>
                    <a:ext cx="624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直接箭头连接符 111"/>
                  <p:cNvCxnSpPr/>
                  <p:nvPr/>
                </p:nvCxnSpPr>
                <p:spPr>
                  <a:xfrm rot="16200000" flipV="1">
                    <a:off x="11757" y="5694"/>
                    <a:ext cx="53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直接箭头连接符 112"/>
                  <p:cNvCxnSpPr/>
                  <p:nvPr/>
                </p:nvCxnSpPr>
                <p:spPr>
                  <a:xfrm rot="5400000" flipV="1">
                    <a:off x="12819" y="5608"/>
                    <a:ext cx="36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" name="圆角矩形 113"/>
                  <p:cNvSpPr/>
                  <p:nvPr/>
                </p:nvSpPr>
                <p:spPr>
                  <a:xfrm>
                    <a:off x="11698" y="4273"/>
                    <a:ext cx="2626" cy="1152"/>
                  </a:xfrm>
                  <a:prstGeom prst="roundRect">
                    <a:avLst>
                      <a:gd name="adj" fmla="val 21093"/>
                    </a:avLst>
                  </a:prstGeom>
                  <a:solidFill>
                    <a:srgbClr val="FFF2CC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5" name="文本框 114"/>
                  <p:cNvSpPr txBox="1"/>
                  <p:nvPr/>
                </p:nvSpPr>
                <p:spPr>
                  <a:xfrm>
                    <a:off x="11609" y="4230"/>
                    <a:ext cx="2787" cy="12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>
                        <a:latin typeface="Times New Roman" panose="02020603050405020304" charset="0"/>
                        <a:cs typeface="Times New Roman" panose="02020603050405020304" charset="0"/>
                      </a:rPr>
                      <a:t>Adaptive Seletion of</a:t>
                    </a:r>
                    <a:endParaRPr lang="en-US" altLang="zh-CN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r>
                      <a:rPr lang="en-US" altLang="zh-CN" sz="1400">
                        <a:latin typeface="Times New Roman" panose="02020603050405020304" charset="0"/>
                        <a:cs typeface="Times New Roman" panose="02020603050405020304" charset="0"/>
                      </a:rPr>
                      <a:t>Kernel Size:</a:t>
                    </a:r>
                    <a:endParaRPr lang="en-US" altLang="zh-CN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r>
                      <a:rPr lang="en-US" altLang="zh-CN" i="1">
                        <a:latin typeface="Times New Roman" panose="02020603050405020304" charset="0"/>
                        <a:cs typeface="Times New Roman" panose="02020603050405020304" charset="0"/>
                      </a:rPr>
                      <a:t>k</a:t>
                    </a:r>
                    <a:r>
                      <a:rPr lang="en-US" altLang="zh-CN">
                        <a:latin typeface="Times New Roman" panose="02020603050405020304" charset="0"/>
                        <a:cs typeface="Times New Roman" panose="02020603050405020304" charset="0"/>
                      </a:rPr>
                      <a:t> = </a:t>
                    </a:r>
                    <a:r>
                      <a:rPr lang="en-US" altLang="zh-CN" i="1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ψ </a:t>
                    </a:r>
                    <a:r>
                      <a:rPr lang="en-US" altLang="zh-CN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(</a:t>
                    </a:r>
                    <a:r>
                      <a:rPr lang="en-US" altLang="zh-CN" i="1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C</a:t>
                    </a:r>
                    <a:r>
                      <a:rPr lang="en-US" altLang="zh-CN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)</a:t>
                    </a:r>
                    <a:endParaRPr lang="en-US" altLang="zh-CN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117" name="文本框 116"/>
                <p:cNvSpPr txBox="1"/>
                <p:nvPr/>
              </p:nvSpPr>
              <p:spPr>
                <a:xfrm>
                  <a:off x="9228" y="6249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C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118" name="直接箭头连接符 117"/>
                <p:cNvCxnSpPr/>
                <p:nvPr/>
              </p:nvCxnSpPr>
              <p:spPr>
                <a:xfrm flipV="1">
                  <a:off x="8487" y="6964"/>
                  <a:ext cx="73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19" name="文本框 118"/>
                <p:cNvSpPr txBox="1"/>
                <p:nvPr/>
              </p:nvSpPr>
              <p:spPr>
                <a:xfrm>
                  <a:off x="8724" y="7249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H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0" name="文本框 119"/>
                <p:cNvSpPr txBox="1"/>
                <p:nvPr/>
              </p:nvSpPr>
              <p:spPr>
                <a:xfrm>
                  <a:off x="9044" y="7791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W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1" name="文本框 120"/>
                <p:cNvSpPr txBox="1"/>
                <p:nvPr/>
              </p:nvSpPr>
              <p:spPr>
                <a:xfrm>
                  <a:off x="10067" y="5756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χ</a:t>
                  </a:r>
                  <a:endParaRPr lang="en-US" altLang="zh-CN" sz="1400" i="1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10831" y="6557"/>
                  <a:ext cx="97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GAP</a:t>
                  </a:r>
                  <a:endParaRPr lang="en-US" altLang="zh-CN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3" name="文本框 122"/>
                <p:cNvSpPr txBox="1"/>
                <p:nvPr/>
              </p:nvSpPr>
              <p:spPr>
                <a:xfrm>
                  <a:off x="11367" y="7931"/>
                  <a:ext cx="1322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×</a:t>
                  </a:r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×</a:t>
                  </a:r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C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24" name="文本框 123"/>
                <p:cNvSpPr txBox="1"/>
                <p:nvPr/>
              </p:nvSpPr>
              <p:spPr>
                <a:xfrm>
                  <a:off x="13229" y="7931"/>
                  <a:ext cx="1322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×</a:t>
                  </a:r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×</a:t>
                  </a:r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C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25" name="文本框 124"/>
                <p:cNvSpPr txBox="1"/>
                <p:nvPr/>
              </p:nvSpPr>
              <p:spPr>
                <a:xfrm>
                  <a:off x="13870" y="6391"/>
                  <a:ext cx="973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400" i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σ</a:t>
                  </a:r>
                  <a:endParaRPr lang="en-US" altLang="zh-CN" sz="2400" i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26" name="文本框 125"/>
                <p:cNvSpPr txBox="1"/>
                <p:nvPr/>
              </p:nvSpPr>
              <p:spPr>
                <a:xfrm>
                  <a:off x="15744" y="7249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H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7" name="文本框 126"/>
                <p:cNvSpPr txBox="1"/>
                <p:nvPr/>
              </p:nvSpPr>
              <p:spPr>
                <a:xfrm>
                  <a:off x="16248" y="7791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W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8" name="文本框 127"/>
                <p:cNvSpPr txBox="1"/>
                <p:nvPr/>
              </p:nvSpPr>
              <p:spPr>
                <a:xfrm>
                  <a:off x="16294" y="6249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C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17109" y="5766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χ</a:t>
                  </a:r>
                  <a:endParaRPr lang="en-US" altLang="zh-CN" sz="1400" i="1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30" name="文本框 129"/>
                <p:cNvSpPr txBox="1"/>
                <p:nvPr/>
              </p:nvSpPr>
              <p:spPr>
                <a:xfrm>
                  <a:off x="17123" y="5651"/>
                  <a:ext cx="60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i="1"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~</a:t>
                  </a:r>
                  <a:endParaRPr lang="en-US" altLang="zh-CN" sz="1400" i="1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33" name="文本框 132"/>
              <p:cNvSpPr txBox="1"/>
              <p:nvPr/>
            </p:nvSpPr>
            <p:spPr>
              <a:xfrm>
                <a:off x="4344" y="5600"/>
                <a:ext cx="102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 </a:t>
                </a:r>
                <a:r>
                  <a:rPr lang="en-US" altLang="zh-CN" sz="16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= 5</a:t>
                </a:r>
                <a:endParaRPr lang="en-US" altLang="zh-CN" sz="1600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7247" y="9462"/>
              <a:ext cx="3257" cy="434"/>
              <a:chOff x="15424" y="10030"/>
              <a:chExt cx="3257" cy="434"/>
            </a:xfrm>
          </p:grpSpPr>
          <p:grpSp>
            <p:nvGrpSpPr>
              <p:cNvPr id="269" name="组合 268"/>
              <p:cNvGrpSpPr/>
              <p:nvPr/>
            </p:nvGrpSpPr>
            <p:grpSpPr>
              <a:xfrm>
                <a:off x="15424" y="10137"/>
                <a:ext cx="227" cy="227"/>
                <a:chOff x="6405" y="7371"/>
                <a:chExt cx="680" cy="680"/>
              </a:xfrm>
            </p:grpSpPr>
            <p:sp>
              <p:nvSpPr>
                <p:cNvPr id="270" name="椭圆 269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71" name="直接连接符 270"/>
                <p:cNvCxnSpPr>
                  <a:stCxn id="270" idx="1"/>
                  <a:endCxn id="270" idx="5"/>
                </p:cNvCxnSpPr>
                <p:nvPr/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接连接符 271"/>
                <p:cNvCxnSpPr>
                  <a:stCxn id="270" idx="7"/>
                  <a:endCxn id="270" idx="3"/>
                </p:cNvCxnSpPr>
                <p:nvPr/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5" name="文本框 134"/>
              <p:cNvSpPr txBox="1"/>
              <p:nvPr/>
            </p:nvSpPr>
            <p:spPr>
              <a:xfrm>
                <a:off x="15583" y="10030"/>
                <a:ext cx="309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: element-wise product</a:t>
                </a:r>
                <a:endParaRPr lang="en-US" altLang="zh-CN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11649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Position Attention Module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Channel Attention Module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通道注意力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(CAM)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、空间注意力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(PAM)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605520" y="11334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33475"/>
            <a:ext cx="3438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</a:rPr>
              <a:t>https://arxiv.org/pdf/1809.02983</a:t>
            </a:r>
            <a:endParaRPr lang="en-US" altLang="zh-CN" sz="1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0" y="1840230"/>
            <a:ext cx="6128385" cy="4901565"/>
          </a:xfrm>
          <a:prstGeom prst="rect">
            <a:avLst/>
          </a:prstGeom>
        </p:spPr>
      </p:pic>
      <p:grpSp>
        <p:nvGrpSpPr>
          <p:cNvPr id="119" name="组合 118"/>
          <p:cNvGrpSpPr/>
          <p:nvPr>
            <p:custDataLst>
              <p:tags r:id="rId3"/>
            </p:custDataLst>
          </p:nvPr>
        </p:nvGrpSpPr>
        <p:grpSpPr>
          <a:xfrm>
            <a:off x="40640" y="2007870"/>
            <a:ext cx="6162675" cy="1981200"/>
            <a:chOff x="9366" y="3183"/>
            <a:chExt cx="9705" cy="3120"/>
          </a:xfrm>
        </p:grpSpPr>
        <p:sp>
          <p:nvSpPr>
            <p:cNvPr id="340" name="Google Shape;340;p21"/>
            <p:cNvSpPr/>
            <p:nvPr>
              <p:custDataLst>
                <p:tags r:id="rId4"/>
              </p:custDataLst>
            </p:nvPr>
          </p:nvSpPr>
          <p:spPr>
            <a:xfrm>
              <a:off x="10008" y="4143"/>
              <a:ext cx="618" cy="1625"/>
            </a:xfrm>
            <a:prstGeom prst="cube">
              <a:avLst>
                <a:gd name="adj" fmla="val 70711"/>
              </a:avLst>
            </a:prstGeom>
            <a:solidFill>
              <a:srgbClr val="C5E0B4"/>
            </a:solidFill>
            <a:ln w="12700" cap="flat" cmpd="sng">
              <a:solidFill>
                <a:srgbClr val="5D8A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圆角矩形 4"/>
            <p:cNvSpPr/>
            <p:nvPr>
              <p:custDataLst>
                <p:tags r:id="rId5"/>
              </p:custDataLst>
            </p:nvPr>
          </p:nvSpPr>
          <p:spPr>
            <a:xfrm>
              <a:off x="11297" y="3183"/>
              <a:ext cx="310" cy="845"/>
            </a:xfrm>
            <a:prstGeom prst="roundRect">
              <a:avLst/>
            </a:prstGeom>
            <a:solidFill>
              <a:srgbClr val="BFBFBF"/>
            </a:solidFill>
            <a:ln>
              <a:solidFill>
                <a:srgbClr val="A7A7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>
              <p:custDataLst>
                <p:tags r:id="rId6"/>
              </p:custDataLst>
            </p:nvPr>
          </p:nvSpPr>
          <p:spPr>
            <a:xfrm>
              <a:off x="11297" y="4163"/>
              <a:ext cx="310" cy="845"/>
            </a:xfrm>
            <a:prstGeom prst="roundRect">
              <a:avLst/>
            </a:prstGeom>
            <a:solidFill>
              <a:srgbClr val="BFBFBF"/>
            </a:solidFill>
            <a:ln>
              <a:solidFill>
                <a:srgbClr val="A7A7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>
              <p:custDataLst>
                <p:tags r:id="rId7"/>
              </p:custDataLst>
            </p:nvPr>
          </p:nvSpPr>
          <p:spPr>
            <a:xfrm>
              <a:off x="11297" y="5089"/>
              <a:ext cx="310" cy="845"/>
            </a:xfrm>
            <a:prstGeom prst="roundRect">
              <a:avLst/>
            </a:prstGeom>
            <a:solidFill>
              <a:srgbClr val="BFBFBF"/>
            </a:solidFill>
            <a:ln>
              <a:solidFill>
                <a:srgbClr val="A7A7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Google Shape;340;p21"/>
            <p:cNvSpPr/>
            <p:nvPr/>
          </p:nvSpPr>
          <p:spPr>
            <a:xfrm>
              <a:off x="18024" y="4143"/>
              <a:ext cx="618" cy="1625"/>
            </a:xfrm>
            <a:prstGeom prst="cube">
              <a:avLst>
                <a:gd name="adj" fmla="val 70711"/>
              </a:avLst>
            </a:prstGeom>
            <a:solidFill>
              <a:srgbClr val="548235"/>
            </a:solidFill>
            <a:ln w="12700" cap="flat" cmpd="sng">
              <a:solidFill>
                <a:srgbClr val="528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6" name="组合 25"/>
            <p:cNvGrpSpPr/>
            <p:nvPr>
              <p:custDataLst>
                <p:tags r:id="rId8"/>
              </p:custDataLst>
            </p:nvPr>
          </p:nvGrpSpPr>
          <p:grpSpPr>
            <a:xfrm>
              <a:off x="15013" y="4052"/>
              <a:ext cx="680" cy="848"/>
              <a:chOff x="15016" y="4047"/>
              <a:chExt cx="680" cy="848"/>
            </a:xfrm>
          </p:grpSpPr>
          <p:sp>
            <p:nvSpPr>
              <p:cNvPr id="11" name="矩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5016" y="4047"/>
                <a:ext cx="227" cy="283"/>
              </a:xfrm>
              <a:prstGeom prst="rect">
                <a:avLst/>
              </a:prstGeom>
              <a:solidFill>
                <a:srgbClr val="C5E0B4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5243" y="4047"/>
                <a:ext cx="227" cy="283"/>
              </a:xfrm>
              <a:prstGeom prst="rect">
                <a:avLst/>
              </a:prstGeom>
              <a:solidFill>
                <a:srgbClr val="548235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>
                <p:custDataLst>
                  <p:tags r:id="rId11"/>
                </p:custDataLst>
              </p:nvPr>
            </p:nvSpPr>
            <p:spPr>
              <a:xfrm>
                <a:off x="15470" y="4047"/>
                <a:ext cx="227" cy="283"/>
              </a:xfrm>
              <a:prstGeom prst="rect">
                <a:avLst/>
              </a:prstGeom>
              <a:solidFill>
                <a:srgbClr val="C5E0B4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016" y="4330"/>
                <a:ext cx="227" cy="283"/>
              </a:xfrm>
              <a:prstGeom prst="rect">
                <a:avLst/>
              </a:prstGeom>
              <a:solidFill>
                <a:srgbClr val="E2F0D9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15243" y="4330"/>
                <a:ext cx="227" cy="283"/>
              </a:xfrm>
              <a:prstGeom prst="rect">
                <a:avLst/>
              </a:prstGeom>
              <a:solidFill>
                <a:srgbClr val="A9D18E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15470" y="4330"/>
                <a:ext cx="227" cy="283"/>
              </a:xfrm>
              <a:prstGeom prst="rect">
                <a:avLst/>
              </a:prstGeom>
              <a:solidFill>
                <a:srgbClr val="548235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5016" y="4613"/>
                <a:ext cx="227" cy="283"/>
              </a:xfrm>
              <a:prstGeom prst="rect">
                <a:avLst/>
              </a:prstGeom>
              <a:solidFill>
                <a:srgbClr val="70AD47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5243" y="4613"/>
                <a:ext cx="227" cy="283"/>
              </a:xfrm>
              <a:prstGeom prst="rect">
                <a:avLst/>
              </a:prstGeom>
              <a:solidFill>
                <a:srgbClr val="385723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5470" y="4613"/>
                <a:ext cx="227" cy="283"/>
              </a:xfrm>
              <a:prstGeom prst="rect">
                <a:avLst/>
              </a:prstGeom>
              <a:solidFill>
                <a:srgbClr val="C5E0B4"/>
              </a:solidFill>
              <a:ln>
                <a:solidFill>
                  <a:srgbClr val="54823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9" name="组合 268"/>
            <p:cNvGrpSpPr/>
            <p:nvPr>
              <p:custDataLst>
                <p:tags r:id="rId18"/>
              </p:custDataLst>
            </p:nvPr>
          </p:nvGrpSpPr>
          <p:grpSpPr>
            <a:xfrm>
              <a:off x="13396" y="4443"/>
              <a:ext cx="283" cy="283"/>
              <a:chOff x="6405" y="7371"/>
              <a:chExt cx="680" cy="680"/>
            </a:xfrm>
          </p:grpSpPr>
          <p:sp>
            <p:nvSpPr>
              <p:cNvPr id="270" name="椭圆 2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71" name="直接连接符 270"/>
              <p:cNvCxnSpPr>
                <a:stCxn id="270" idx="1"/>
                <a:endCxn id="270" idx="5"/>
              </p:cNvCxnSpPr>
              <p:nvPr>
                <p:custDataLst>
                  <p:tags r:id="rId20"/>
                </p:custDataLst>
              </p:nvPr>
            </p:nvCxnSpPr>
            <p:spPr>
              <a:xfrm>
                <a:off x="6505" y="7471"/>
                <a:ext cx="480" cy="48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/>
              <p:cNvCxnSpPr>
                <a:stCxn id="270" idx="7"/>
                <a:endCxn id="270" idx="3"/>
              </p:cNvCxnSpPr>
              <p:nvPr>
                <p:custDataLst>
                  <p:tags r:id="rId21"/>
                </p:custDataLst>
              </p:nvPr>
            </p:nvCxnSpPr>
            <p:spPr>
              <a:xfrm flipH="1">
                <a:off x="6504" y="7471"/>
                <a:ext cx="480" cy="48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15957" y="5225"/>
              <a:ext cx="283" cy="283"/>
              <a:chOff x="6405" y="7371"/>
              <a:chExt cx="680" cy="68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9" name="直接连接符 38"/>
              <p:cNvCxnSpPr>
                <a:stCxn id="38" idx="1"/>
                <a:endCxn id="38" idx="5"/>
              </p:cNvCxnSpPr>
              <p:nvPr/>
            </p:nvCxnSpPr>
            <p:spPr>
              <a:xfrm>
                <a:off x="6505" y="7471"/>
                <a:ext cx="480" cy="48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>
                <a:stCxn id="38" idx="7"/>
                <a:endCxn id="38" idx="3"/>
              </p:cNvCxnSpPr>
              <p:nvPr/>
            </p:nvCxnSpPr>
            <p:spPr>
              <a:xfrm flipH="1">
                <a:off x="6504" y="7471"/>
                <a:ext cx="480" cy="48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17303" y="5225"/>
              <a:ext cx="284" cy="284"/>
              <a:chOff x="6404" y="7370"/>
              <a:chExt cx="681" cy="681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>
                <a:stCxn id="42" idx="2"/>
                <a:endCxn id="42" idx="6"/>
              </p:cNvCxnSpPr>
              <p:nvPr/>
            </p:nvCxnSpPr>
            <p:spPr>
              <a:xfrm>
                <a:off x="6404" y="7711"/>
                <a:ext cx="67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>
                <a:stCxn id="42" idx="0"/>
                <a:endCxn id="42" idx="4"/>
              </p:cNvCxnSpPr>
              <p:nvPr/>
            </p:nvCxnSpPr>
            <p:spPr>
              <a:xfrm>
                <a:off x="6746" y="7370"/>
                <a:ext cx="0" cy="67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57" name="肘形连接符 56"/>
            <p:cNvCxnSpPr/>
            <p:nvPr>
              <p:custDataLst>
                <p:tags r:id="rId22"/>
              </p:custDataLst>
            </p:nvPr>
          </p:nvCxnSpPr>
          <p:spPr>
            <a:xfrm rot="16200000">
              <a:off x="10650" y="3415"/>
              <a:ext cx="406" cy="667"/>
            </a:xfrm>
            <a:prstGeom prst="bentConnector2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>
              <p:custDataLst>
                <p:tags r:id="rId23"/>
              </p:custDataLst>
            </p:nvPr>
          </p:nvCxnSpPr>
          <p:spPr>
            <a:xfrm>
              <a:off x="10788" y="4532"/>
              <a:ext cx="3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>
              <p:custDataLst>
                <p:tags r:id="rId24"/>
              </p:custDataLst>
            </p:nvPr>
          </p:nvCxnSpPr>
          <p:spPr>
            <a:xfrm>
              <a:off x="10788" y="5367"/>
              <a:ext cx="3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>
              <p:custDataLst>
                <p:tags r:id="rId25"/>
              </p:custDataLst>
            </p:nvPr>
          </p:nvCxnSpPr>
          <p:spPr>
            <a:xfrm>
              <a:off x="11755" y="3546"/>
              <a:ext cx="9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>
              <p:custDataLst>
                <p:tags r:id="rId26"/>
              </p:custDataLst>
            </p:nvPr>
          </p:nvCxnSpPr>
          <p:spPr>
            <a:xfrm>
              <a:off x="11736" y="4532"/>
              <a:ext cx="14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>
              <p:custDataLst>
                <p:tags r:id="rId27"/>
              </p:custDataLst>
            </p:nvPr>
          </p:nvCxnSpPr>
          <p:spPr>
            <a:xfrm rot="5400000">
              <a:off x="13203" y="4068"/>
              <a:ext cx="6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>
              <p:custDataLst>
                <p:tags r:id="rId28"/>
              </p:custDataLst>
            </p:nvPr>
          </p:nvCxnSpPr>
          <p:spPr>
            <a:xfrm>
              <a:off x="11668" y="5400"/>
              <a:ext cx="41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肘形连接符 66"/>
            <p:cNvCxnSpPr>
              <a:stCxn id="60" idx="4"/>
              <a:endCxn id="68" idx="4"/>
            </p:cNvCxnSpPr>
            <p:nvPr/>
          </p:nvCxnSpPr>
          <p:spPr>
            <a:xfrm rot="5400000" flipH="1" flipV="1">
              <a:off x="13802" y="2322"/>
              <a:ext cx="384" cy="6899"/>
            </a:xfrm>
            <a:prstGeom prst="bentConnector3">
              <a:avLst>
                <a:gd name="adj1" fmla="val -97526"/>
              </a:avLst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17586" y="5367"/>
              <a:ext cx="3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38" idx="6"/>
              <a:endCxn id="42" idx="2"/>
            </p:cNvCxnSpPr>
            <p:nvPr/>
          </p:nvCxnSpPr>
          <p:spPr>
            <a:xfrm>
              <a:off x="16240" y="5367"/>
              <a:ext cx="10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77" idx="6"/>
              <a:endCxn id="38" idx="0"/>
            </p:cNvCxnSpPr>
            <p:nvPr/>
          </p:nvCxnSpPr>
          <p:spPr>
            <a:xfrm>
              <a:off x="15694" y="4476"/>
              <a:ext cx="405" cy="74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>
              <p:custDataLst>
                <p:tags r:id="rId29"/>
              </p:custDataLst>
            </p:nvPr>
          </p:nvCxnSpPr>
          <p:spPr>
            <a:xfrm>
              <a:off x="13768" y="4532"/>
              <a:ext cx="11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" name="文本框 87"/>
            <p:cNvSpPr txBox="1"/>
            <p:nvPr>
              <p:custDataLst>
                <p:tags r:id="rId30"/>
              </p:custDataLst>
            </p:nvPr>
          </p:nvSpPr>
          <p:spPr>
            <a:xfrm>
              <a:off x="9832" y="3755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9" name="肘形连接符 88"/>
            <p:cNvCxnSpPr/>
            <p:nvPr>
              <p:custDataLst>
                <p:tags r:id="rId31"/>
              </p:custDataLst>
            </p:nvPr>
          </p:nvCxnSpPr>
          <p:spPr>
            <a:xfrm rot="16200000">
              <a:off x="10650" y="3415"/>
              <a:ext cx="406" cy="66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>
              <p:custDataLst>
                <p:tags r:id="rId32"/>
              </p:custDataLst>
            </p:nvPr>
          </p:nvCxnSpPr>
          <p:spPr>
            <a:xfrm>
              <a:off x="10788" y="4532"/>
              <a:ext cx="3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>
              <p:custDataLst>
                <p:tags r:id="rId33"/>
              </p:custDataLst>
            </p:nvPr>
          </p:nvCxnSpPr>
          <p:spPr>
            <a:xfrm>
              <a:off x="10788" y="5367"/>
              <a:ext cx="3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>
              <p:custDataLst>
                <p:tags r:id="rId34"/>
              </p:custDataLst>
            </p:nvPr>
          </p:nvCxnSpPr>
          <p:spPr>
            <a:xfrm>
              <a:off x="11755" y="3546"/>
              <a:ext cx="9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>
              <p:custDataLst>
                <p:tags r:id="rId35"/>
              </p:custDataLst>
            </p:nvPr>
          </p:nvCxnSpPr>
          <p:spPr>
            <a:xfrm>
              <a:off x="11736" y="4532"/>
              <a:ext cx="1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4" name="文本框 93"/>
            <p:cNvSpPr txBox="1"/>
            <p:nvPr>
              <p:custDataLst>
                <p:tags r:id="rId36"/>
              </p:custDataLst>
            </p:nvPr>
          </p:nvSpPr>
          <p:spPr>
            <a:xfrm>
              <a:off x="11607" y="3571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5" name="文本框 94"/>
            <p:cNvSpPr txBox="1"/>
            <p:nvPr>
              <p:custDataLst>
                <p:tags r:id="rId37"/>
              </p:custDataLst>
            </p:nvPr>
          </p:nvSpPr>
          <p:spPr>
            <a:xfrm>
              <a:off x="11607" y="4548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6" name="文本框 95"/>
            <p:cNvSpPr txBox="1"/>
            <p:nvPr>
              <p:custDataLst>
                <p:tags r:id="rId38"/>
              </p:custDataLst>
            </p:nvPr>
          </p:nvSpPr>
          <p:spPr>
            <a:xfrm>
              <a:off x="11607" y="5456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39"/>
              </p:custDataLst>
            </p:nvPr>
          </p:nvSpPr>
          <p:spPr>
            <a:xfrm>
              <a:off x="12433" y="3329"/>
              <a:ext cx="30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微软雅黑" panose="020B0503020204020204" charset="-122"/>
                  <a:ea typeface="微软雅黑" panose="020B0503020204020204" charset="-122"/>
                </a:rPr>
                <a:t>reshape &amp; transpose</a:t>
              </a:r>
              <a:endParaRPr lang="en-US" altLang="zh-CN" sz="12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文本框 98"/>
            <p:cNvSpPr txBox="1"/>
            <p:nvPr>
              <p:custDataLst>
                <p:tags r:id="rId40"/>
              </p:custDataLst>
            </p:nvPr>
          </p:nvSpPr>
          <p:spPr>
            <a:xfrm>
              <a:off x="13552" y="4098"/>
              <a:ext cx="141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微软雅黑" panose="020B0503020204020204" charset="-122"/>
                  <a:ea typeface="微软雅黑" panose="020B0503020204020204" charset="-122"/>
                </a:rPr>
                <a:t>softmax</a:t>
              </a:r>
              <a:endParaRPr lang="en-US" altLang="zh-CN" sz="12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文本框 99"/>
            <p:cNvSpPr txBox="1"/>
            <p:nvPr>
              <p:custDataLst>
                <p:tags r:id="rId41"/>
              </p:custDataLst>
            </p:nvPr>
          </p:nvSpPr>
          <p:spPr>
            <a:xfrm>
              <a:off x="11920" y="4598"/>
              <a:ext cx="150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微软雅黑" panose="020B0503020204020204" charset="-122"/>
                  <a:ea typeface="微软雅黑" panose="020B0503020204020204" charset="-122"/>
                </a:rPr>
                <a:t>reshape </a:t>
              </a:r>
              <a:endParaRPr lang="en-US" altLang="zh-CN" sz="12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文本框 101"/>
            <p:cNvSpPr txBox="1"/>
            <p:nvPr>
              <p:custDataLst>
                <p:tags r:id="rId42"/>
              </p:custDataLst>
            </p:nvPr>
          </p:nvSpPr>
          <p:spPr>
            <a:xfrm>
              <a:off x="11895" y="5500"/>
              <a:ext cx="150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微软雅黑" panose="020B0503020204020204" charset="-122"/>
                  <a:ea typeface="微软雅黑" panose="020B0503020204020204" charset="-122"/>
                </a:rPr>
                <a:t>reshape </a:t>
              </a:r>
              <a:endParaRPr lang="en-US" altLang="zh-CN" sz="12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366" y="5820"/>
              <a:ext cx="12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C</a:t>
              </a:r>
              <a:r>
                <a:rPr lang="en-US" altLang="zh-CN" sz="1400"/>
                <a:t>xH</a:t>
              </a:r>
              <a:r>
                <a:rPr lang="en-US" altLang="zh-CN" sz="1400">
                  <a:sym typeface="+mn-ea"/>
                </a:rPr>
                <a:t>xW</a:t>
              </a:r>
              <a:endParaRPr lang="en-US" altLang="zh-CN" sz="1400">
                <a:sym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7811" y="5820"/>
              <a:ext cx="12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CxH</a:t>
              </a:r>
              <a:r>
                <a:rPr lang="en-US" altLang="zh-CN" sz="1400">
                  <a:sym typeface="+mn-ea"/>
                </a:rPr>
                <a:t>xW</a:t>
              </a:r>
              <a:endParaRPr lang="en-US" altLang="zh-CN" sz="1400">
                <a:sym typeface="+mn-ea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13832" y="4901"/>
              <a:ext cx="22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(H</a:t>
              </a:r>
              <a:r>
                <a:rPr lang="en-US" altLang="zh-CN" sz="1400">
                  <a:sym typeface="+mn-ea"/>
                </a:rPr>
                <a:t>xW)</a:t>
              </a:r>
              <a:r>
                <a:rPr lang="en-US" altLang="zh-CN" sz="1400">
                  <a:sym typeface="+mn-ea"/>
                </a:rPr>
                <a:t>x(</a:t>
              </a:r>
              <a:r>
                <a:rPr lang="en-US" altLang="zh-CN" sz="1400">
                  <a:sym typeface="+mn-ea"/>
                </a:rPr>
                <a:t>H</a:t>
              </a:r>
              <a:r>
                <a:rPr lang="en-US" altLang="zh-CN" sz="1400">
                  <a:sym typeface="+mn-ea"/>
                </a:rPr>
                <a:t>xW)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106" name="文本框 105"/>
            <p:cNvSpPr txBox="1"/>
            <p:nvPr>
              <p:custDataLst>
                <p:tags r:id="rId43"/>
              </p:custDataLst>
            </p:nvPr>
          </p:nvSpPr>
          <p:spPr>
            <a:xfrm>
              <a:off x="15936" y="4897"/>
              <a:ext cx="150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微软雅黑" panose="020B0503020204020204" charset="-122"/>
                  <a:ea typeface="微软雅黑" panose="020B0503020204020204" charset="-122"/>
                </a:rPr>
                <a:t>reshape </a:t>
              </a:r>
              <a:endParaRPr lang="en-US" altLang="zh-CN" sz="12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44"/>
              </p:custDataLst>
            </p:nvPr>
          </p:nvSpPr>
          <p:spPr>
            <a:xfrm>
              <a:off x="17843" y="3767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E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5" name="文本框 114"/>
            <p:cNvSpPr txBox="1"/>
            <p:nvPr>
              <p:custDataLst>
                <p:tags r:id="rId45"/>
              </p:custDataLst>
            </p:nvPr>
          </p:nvSpPr>
          <p:spPr>
            <a:xfrm>
              <a:off x="15571" y="3952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S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0" y="4671695"/>
            <a:ext cx="6162040" cy="1553210"/>
            <a:chOff x="0" y="7357"/>
            <a:chExt cx="9704" cy="2446"/>
          </a:xfrm>
        </p:grpSpPr>
        <p:grpSp>
          <p:nvGrpSpPr>
            <p:cNvPr id="120" name="组合 119"/>
            <p:cNvGrpSpPr/>
            <p:nvPr/>
          </p:nvGrpSpPr>
          <p:grpSpPr>
            <a:xfrm>
              <a:off x="0" y="7363"/>
              <a:ext cx="9705" cy="2441"/>
              <a:chOff x="9366" y="7558"/>
              <a:chExt cx="9705" cy="2441"/>
            </a:xfrm>
          </p:grpSpPr>
          <p:sp>
            <p:nvSpPr>
              <p:cNvPr id="2" name="Google Shape;340;p21"/>
              <p:cNvSpPr/>
              <p:nvPr/>
            </p:nvSpPr>
            <p:spPr>
              <a:xfrm>
                <a:off x="10008" y="7940"/>
                <a:ext cx="618" cy="1625"/>
              </a:xfrm>
              <a:prstGeom prst="cube">
                <a:avLst>
                  <a:gd name="adj" fmla="val 70711"/>
                </a:avLst>
              </a:prstGeom>
              <a:solidFill>
                <a:srgbClr val="A5C6E4"/>
              </a:solidFill>
              <a:ln w="12700" cap="flat" cmpd="sng">
                <a:solidFill>
                  <a:srgbClr val="3378B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" name="Google Shape;340;p21"/>
              <p:cNvSpPr/>
              <p:nvPr/>
            </p:nvSpPr>
            <p:spPr>
              <a:xfrm>
                <a:off x="18024" y="7940"/>
                <a:ext cx="618" cy="1625"/>
              </a:xfrm>
              <a:prstGeom prst="cube">
                <a:avLst>
                  <a:gd name="adj" fmla="val 70711"/>
                </a:avLst>
              </a:prstGeom>
              <a:solidFill>
                <a:srgbClr val="2E75B6"/>
              </a:solidFill>
              <a:ln w="12700" cap="flat" cmpd="sng">
                <a:solidFill>
                  <a:srgbClr val="026FB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15077" y="8689"/>
                <a:ext cx="680" cy="848"/>
                <a:chOff x="15016" y="4047"/>
                <a:chExt cx="680" cy="848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15016" y="4047"/>
                  <a:ext cx="227" cy="283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15243" y="4047"/>
                  <a:ext cx="227" cy="283"/>
                </a:xfrm>
                <a:prstGeom prst="rect">
                  <a:avLst/>
                </a:prstGeom>
                <a:solidFill>
                  <a:srgbClr val="BDD7EE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15470" y="4047"/>
                  <a:ext cx="227" cy="283"/>
                </a:xfrm>
                <a:prstGeom prst="rect">
                  <a:avLst/>
                </a:prstGeom>
                <a:solidFill>
                  <a:srgbClr val="2E75B6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5016" y="4330"/>
                  <a:ext cx="227" cy="283"/>
                </a:xfrm>
                <a:prstGeom prst="rect">
                  <a:avLst/>
                </a:prstGeom>
                <a:solidFill>
                  <a:srgbClr val="2E75B6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15243" y="4330"/>
                  <a:ext cx="227" cy="283"/>
                </a:xfrm>
                <a:prstGeom prst="rect">
                  <a:avLst/>
                </a:prstGeom>
                <a:solidFill>
                  <a:srgbClr val="203864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5470" y="4330"/>
                  <a:ext cx="227" cy="283"/>
                </a:xfrm>
                <a:prstGeom prst="rect">
                  <a:avLst/>
                </a:prstGeom>
                <a:solidFill>
                  <a:srgbClr val="BDD7EE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15016" y="4613"/>
                  <a:ext cx="227" cy="283"/>
                </a:xfrm>
                <a:prstGeom prst="rect">
                  <a:avLst/>
                </a:prstGeom>
                <a:solidFill>
                  <a:srgbClr val="1F4E79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5243" y="4613"/>
                  <a:ext cx="227" cy="283"/>
                </a:xfrm>
                <a:prstGeom prst="rect">
                  <a:avLst/>
                </a:prstGeom>
                <a:solidFill>
                  <a:srgbClr val="BDD7EE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15470" y="4613"/>
                  <a:ext cx="227" cy="283"/>
                </a:xfrm>
                <a:prstGeom prst="rect">
                  <a:avLst/>
                </a:prstGeom>
                <a:solidFill>
                  <a:srgbClr val="BDD7EE"/>
                </a:solidFill>
                <a:ln>
                  <a:solidFill>
                    <a:srgbClr val="2670B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13485" y="8789"/>
                <a:ext cx="283" cy="283"/>
                <a:chOff x="6405" y="7371"/>
                <a:chExt cx="680" cy="680"/>
              </a:xfrm>
            </p:grpSpPr>
            <p:sp>
              <p:nvSpPr>
                <p:cNvPr id="46" name="椭圆 45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7" name="直接连接符 46"/>
                <p:cNvCxnSpPr>
                  <a:stCxn id="46" idx="1"/>
                  <a:endCxn id="46" idx="5"/>
                </p:cNvCxnSpPr>
                <p:nvPr/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>
                  <a:stCxn id="46" idx="7"/>
                  <a:endCxn id="46" idx="3"/>
                </p:cNvCxnSpPr>
                <p:nvPr/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组合 48"/>
              <p:cNvGrpSpPr/>
              <p:nvPr/>
            </p:nvGrpSpPr>
            <p:grpSpPr>
              <a:xfrm>
                <a:off x="16032" y="8080"/>
                <a:ext cx="283" cy="283"/>
                <a:chOff x="6405" y="7371"/>
                <a:chExt cx="680" cy="680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1" name="直接连接符 50"/>
                <p:cNvCxnSpPr>
                  <a:stCxn id="50" idx="1"/>
                  <a:endCxn id="50" idx="5"/>
                </p:cNvCxnSpPr>
                <p:nvPr/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>
                  <a:stCxn id="50" idx="7"/>
                  <a:endCxn id="50" idx="3"/>
                </p:cNvCxnSpPr>
                <p:nvPr/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17311" y="8080"/>
                <a:ext cx="284" cy="284"/>
                <a:chOff x="6404" y="7370"/>
                <a:chExt cx="681" cy="681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5" name="直接连接符 54"/>
                <p:cNvCxnSpPr>
                  <a:stCxn id="54" idx="2"/>
                  <a:endCxn id="54" idx="6"/>
                </p:cNvCxnSpPr>
                <p:nvPr/>
              </p:nvCxnSpPr>
              <p:spPr>
                <a:xfrm>
                  <a:off x="6404" y="7711"/>
                  <a:ext cx="67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>
                  <a:stCxn id="54" idx="0"/>
                  <a:endCxn id="54" idx="4"/>
                </p:cNvCxnSpPr>
                <p:nvPr/>
              </p:nvCxnSpPr>
              <p:spPr>
                <a:xfrm>
                  <a:off x="6746" y="7370"/>
                  <a:ext cx="0" cy="67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" name="肘形连接符 70"/>
              <p:cNvCxnSpPr>
                <a:stCxn id="69" idx="0"/>
                <a:endCxn id="54" idx="0"/>
              </p:cNvCxnSpPr>
              <p:nvPr/>
            </p:nvCxnSpPr>
            <p:spPr>
              <a:xfrm rot="16200000" flipH="1">
                <a:off x="13801" y="4428"/>
                <a:ext cx="405" cy="6899"/>
              </a:xfrm>
              <a:prstGeom prst="bentConnector3">
                <a:avLst>
                  <a:gd name="adj1" fmla="val -68888"/>
                </a:avLst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/>
              <p:cNvCxnSpPr/>
              <p:nvPr/>
            </p:nvCxnSpPr>
            <p:spPr>
              <a:xfrm>
                <a:off x="10670" y="8221"/>
                <a:ext cx="532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/>
              <p:cNvCxnSpPr/>
              <p:nvPr/>
            </p:nvCxnSpPr>
            <p:spPr>
              <a:xfrm>
                <a:off x="10788" y="8930"/>
                <a:ext cx="260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/>
            </p:nvCxnSpPr>
            <p:spPr>
              <a:xfrm>
                <a:off x="13866" y="8972"/>
                <a:ext cx="11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肘形连接符 75"/>
              <p:cNvCxnSpPr>
                <a:stCxn id="72" idx="6"/>
                <a:endCxn id="50" idx="4"/>
              </p:cNvCxnSpPr>
              <p:nvPr/>
            </p:nvCxnSpPr>
            <p:spPr>
              <a:xfrm flipV="1">
                <a:off x="15758" y="8363"/>
                <a:ext cx="416" cy="618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>
                <a:stCxn id="50" idx="6"/>
              </p:cNvCxnSpPr>
              <p:nvPr/>
            </p:nvCxnSpPr>
            <p:spPr>
              <a:xfrm>
                <a:off x="16315" y="8222"/>
                <a:ext cx="99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/>
              <p:cNvCxnSpPr/>
              <p:nvPr/>
            </p:nvCxnSpPr>
            <p:spPr>
              <a:xfrm>
                <a:off x="17594" y="8222"/>
                <a:ext cx="39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4" name="肘形连接符 83"/>
              <p:cNvCxnSpPr>
                <a:stCxn id="83" idx="4"/>
                <a:endCxn id="85" idx="2"/>
              </p:cNvCxnSpPr>
              <p:nvPr/>
            </p:nvCxnSpPr>
            <p:spPr>
              <a:xfrm rot="5400000" flipV="1">
                <a:off x="11021" y="8905"/>
                <a:ext cx="412" cy="1385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/>
              <p:nvPr/>
            </p:nvCxnSpPr>
            <p:spPr>
              <a:xfrm rot="16200000">
                <a:off x="13399" y="9338"/>
                <a:ext cx="45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7" name="文本框 106"/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11315" y="7784"/>
                <a:ext cx="150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latin typeface="微软雅黑" panose="020B0503020204020204" charset="-122"/>
                    <a:ea typeface="微软雅黑" panose="020B0503020204020204" charset="-122"/>
                  </a:rPr>
                  <a:t>reshape </a:t>
                </a:r>
                <a:endParaRPr lang="en-US" altLang="zh-CN" sz="1200" i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8" name="文本框 107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11341" y="8496"/>
                <a:ext cx="150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latin typeface="微软雅黑" panose="020B0503020204020204" charset="-122"/>
                    <a:ea typeface="微软雅黑" panose="020B0503020204020204" charset="-122"/>
                  </a:rPr>
                  <a:t>reshape </a:t>
                </a:r>
                <a:endParaRPr lang="en-US" altLang="zh-CN" sz="1200" i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9" name="文本框 108"/>
              <p:cNvSpPr txBox="1"/>
              <p:nvPr>
                <p:custDataLst>
                  <p:tags r:id="rId48"/>
                </p:custDataLst>
              </p:nvPr>
            </p:nvSpPr>
            <p:spPr>
              <a:xfrm>
                <a:off x="11736" y="9565"/>
                <a:ext cx="30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latin typeface="微软雅黑" panose="020B0503020204020204" charset="-122"/>
                    <a:ea typeface="微软雅黑" panose="020B0503020204020204" charset="-122"/>
                  </a:rPr>
                  <a:t>reshape &amp; transpose</a:t>
                </a:r>
                <a:endParaRPr lang="en-US" altLang="zh-CN" sz="1200" i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0" name="文本框 109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13694" y="8496"/>
                <a:ext cx="141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latin typeface="微软雅黑" panose="020B0503020204020204" charset="-122"/>
                    <a:ea typeface="微软雅黑" panose="020B0503020204020204" charset="-122"/>
                  </a:rPr>
                  <a:t>softmax</a:t>
                </a:r>
                <a:endParaRPr lang="en-US" altLang="zh-CN" sz="1200" i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4902" y="8222"/>
                <a:ext cx="103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C</a:t>
                </a:r>
                <a:r>
                  <a:rPr lang="en-US" altLang="zh-CN" sz="1400"/>
                  <a:t>xC</a:t>
                </a:r>
                <a:endParaRPr lang="en-US" altLang="zh-CN" sz="1400">
                  <a:sym typeface="+mn-ea"/>
                </a:endParaRPr>
              </a:p>
            </p:txBody>
          </p:sp>
          <p:sp>
            <p:nvSpPr>
              <p:cNvPr id="112" name="文本框 111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16032" y="7784"/>
                <a:ext cx="150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latin typeface="微软雅黑" panose="020B0503020204020204" charset="-122"/>
                    <a:ea typeface="微软雅黑" panose="020B0503020204020204" charset="-122"/>
                  </a:rPr>
                  <a:t>reshape </a:t>
                </a:r>
                <a:endParaRPr lang="en-US" altLang="zh-CN" sz="1200" i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4" name="文本框 11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17843" y="7558"/>
                <a:ext cx="62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>
                    <a:latin typeface="Times New Roman" panose="02020603050405020304" charset="0"/>
                    <a:cs typeface="Times New Roman" panose="02020603050405020304" charset="0"/>
                  </a:rPr>
                  <a:t>E</a:t>
                </a:r>
                <a:endParaRPr lang="en-US" altLang="zh-CN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6" name="文本框 115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15694" y="9132"/>
                <a:ext cx="62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>
                    <a:latin typeface="Times New Roman" panose="02020603050405020304" charset="0"/>
                    <a:cs typeface="Times New Roman" panose="02020603050405020304" charset="0"/>
                  </a:rPr>
                  <a:t>X</a:t>
                </a:r>
                <a:endParaRPr lang="en-US" altLang="zh-CN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9366" y="9516"/>
                <a:ext cx="126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C</a:t>
                </a:r>
                <a:r>
                  <a:rPr lang="en-US" altLang="zh-CN" sz="1400"/>
                  <a:t>xH</a:t>
                </a:r>
                <a:r>
                  <a:rPr lang="en-US" altLang="zh-CN" sz="1400">
                    <a:sym typeface="+mn-ea"/>
                  </a:rPr>
                  <a:t>xW</a:t>
                </a:r>
                <a:endParaRPr lang="en-US" altLang="zh-CN" sz="1400">
                  <a:sym typeface="+mn-ea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17811" y="9516"/>
                <a:ext cx="126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C</a:t>
                </a:r>
                <a:r>
                  <a:rPr lang="en-US" altLang="zh-CN" sz="1400"/>
                  <a:t>xH</a:t>
                </a:r>
                <a:r>
                  <a:rPr lang="en-US" altLang="zh-CN" sz="1400">
                    <a:sym typeface="+mn-ea"/>
                  </a:rPr>
                  <a:t>xW</a:t>
                </a:r>
                <a:endParaRPr lang="en-US" altLang="zh-CN" sz="1400">
                  <a:sym typeface="+mn-ea"/>
                </a:endParaRPr>
              </a:p>
            </p:txBody>
          </p:sp>
        </p:grpSp>
        <p:sp>
          <p:nvSpPr>
            <p:cNvPr id="121" name="文本框 120"/>
            <p:cNvSpPr txBox="1"/>
            <p:nvPr>
              <p:custDataLst>
                <p:tags r:id="rId53"/>
              </p:custDataLst>
            </p:nvPr>
          </p:nvSpPr>
          <p:spPr>
            <a:xfrm>
              <a:off x="452" y="7357"/>
              <a:ext cx="6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5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3860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Global attentional model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硬注意力机制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341995" y="122936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07632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</a:rPr>
              <a:t>https://arxiv.org/pdf/1508.04025</a:t>
            </a:r>
            <a:endParaRPr lang="en-US" altLang="zh-CN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95" y="2053590"/>
            <a:ext cx="4657725" cy="3886200"/>
          </a:xfrm>
          <a:prstGeom prst="rect">
            <a:avLst/>
          </a:prstGeom>
        </p:spPr>
      </p:pic>
      <p:grpSp>
        <p:nvGrpSpPr>
          <p:cNvPr id="73" name="组合 72"/>
          <p:cNvGrpSpPr/>
          <p:nvPr/>
        </p:nvGrpSpPr>
        <p:grpSpPr>
          <a:xfrm>
            <a:off x="749300" y="2154555"/>
            <a:ext cx="4283710" cy="3784600"/>
            <a:chOff x="11212" y="3393"/>
            <a:chExt cx="6746" cy="5960"/>
          </a:xfrm>
        </p:grpSpPr>
        <p:sp>
          <p:nvSpPr>
            <p:cNvPr id="2" name="矩形 1"/>
            <p:cNvSpPr/>
            <p:nvPr/>
          </p:nvSpPr>
          <p:spPr>
            <a:xfrm>
              <a:off x="11422" y="7865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12306" y="7865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3214" y="7865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4122" y="7865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5058" y="7865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6050" y="7865"/>
              <a:ext cx="331" cy="936"/>
            </a:xfrm>
            <a:prstGeom prst="rect">
              <a:avLst/>
            </a:prstGeom>
            <a:solidFill>
              <a:srgbClr val="A52A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6986" y="7865"/>
              <a:ext cx="331" cy="936"/>
            </a:xfrm>
            <a:prstGeom prst="rect">
              <a:avLst/>
            </a:prstGeom>
            <a:solidFill>
              <a:srgbClr val="A52A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3710" y="5810"/>
              <a:ext cx="331" cy="936"/>
            </a:xfrm>
            <a:prstGeom prst="rect">
              <a:avLst/>
            </a:prstGeom>
            <a:solidFill>
              <a:srgbClr val="008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6986" y="4464"/>
              <a:ext cx="331" cy="936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3264" y="5607"/>
              <a:ext cx="4285" cy="20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4941" y="6785"/>
              <a:ext cx="120" cy="4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80FF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6" name="直接箭头连接符 15"/>
            <p:cNvCxnSpPr>
              <a:stCxn id="2" idx="0"/>
              <a:endCxn id="12" idx="2"/>
            </p:cNvCxnSpPr>
            <p:nvPr/>
          </p:nvCxnSpPr>
          <p:spPr>
            <a:xfrm flipV="1">
              <a:off x="11588" y="6746"/>
              <a:ext cx="2288" cy="1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3" idx="0"/>
              <a:endCxn id="12" idx="2"/>
            </p:cNvCxnSpPr>
            <p:nvPr/>
          </p:nvCxnSpPr>
          <p:spPr>
            <a:xfrm flipV="1">
              <a:off x="12472" y="6746"/>
              <a:ext cx="1404" cy="1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7" idx="0"/>
              <a:endCxn id="12" idx="2"/>
            </p:cNvCxnSpPr>
            <p:nvPr/>
          </p:nvCxnSpPr>
          <p:spPr>
            <a:xfrm flipV="1">
              <a:off x="13380" y="6746"/>
              <a:ext cx="496" cy="1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8" idx="0"/>
              <a:endCxn id="12" idx="2"/>
            </p:cNvCxnSpPr>
            <p:nvPr/>
          </p:nvCxnSpPr>
          <p:spPr>
            <a:xfrm flipH="1" flipV="1">
              <a:off x="13876" y="6746"/>
              <a:ext cx="412" cy="1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0"/>
              <a:endCxn id="12" idx="2"/>
            </p:cNvCxnSpPr>
            <p:nvPr/>
          </p:nvCxnSpPr>
          <p:spPr>
            <a:xfrm flipH="1" flipV="1">
              <a:off x="13876" y="6746"/>
              <a:ext cx="1348" cy="111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2" idx="0"/>
              <a:endCxn id="15" idx="2"/>
            </p:cNvCxnSpPr>
            <p:nvPr/>
          </p:nvCxnSpPr>
          <p:spPr>
            <a:xfrm flipV="1">
              <a:off x="11588" y="7222"/>
              <a:ext cx="3413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3" idx="0"/>
              <a:endCxn id="15" idx="2"/>
            </p:cNvCxnSpPr>
            <p:nvPr/>
          </p:nvCxnSpPr>
          <p:spPr>
            <a:xfrm flipV="1">
              <a:off x="12472" y="7222"/>
              <a:ext cx="2529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0"/>
              <a:endCxn id="15" idx="2"/>
            </p:cNvCxnSpPr>
            <p:nvPr/>
          </p:nvCxnSpPr>
          <p:spPr>
            <a:xfrm flipV="1">
              <a:off x="13380" y="7222"/>
              <a:ext cx="1621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8" idx="0"/>
              <a:endCxn id="15" idx="2"/>
            </p:cNvCxnSpPr>
            <p:nvPr/>
          </p:nvCxnSpPr>
          <p:spPr>
            <a:xfrm flipV="1">
              <a:off x="14288" y="7222"/>
              <a:ext cx="713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9" idx="0"/>
              <a:endCxn id="15" idx="2"/>
            </p:cNvCxnSpPr>
            <p:nvPr/>
          </p:nvCxnSpPr>
          <p:spPr>
            <a:xfrm flipH="1" flipV="1">
              <a:off x="15001" y="7222"/>
              <a:ext cx="223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5" idx="0"/>
              <a:endCxn id="12" idx="2"/>
            </p:cNvCxnSpPr>
            <p:nvPr/>
          </p:nvCxnSpPr>
          <p:spPr>
            <a:xfrm flipH="1" flipV="1">
              <a:off x="13876" y="6746"/>
              <a:ext cx="1125" cy="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12" idx="0"/>
              <a:endCxn id="13" idx="2"/>
            </p:cNvCxnSpPr>
            <p:nvPr/>
          </p:nvCxnSpPr>
          <p:spPr>
            <a:xfrm flipV="1">
              <a:off x="13876" y="5400"/>
              <a:ext cx="3276" cy="4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1" idx="0"/>
              <a:endCxn id="13" idx="2"/>
            </p:cNvCxnSpPr>
            <p:nvPr/>
          </p:nvCxnSpPr>
          <p:spPr>
            <a:xfrm flipV="1">
              <a:off x="17152" y="5400"/>
              <a:ext cx="0" cy="24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1" idx="0"/>
              <a:endCxn id="15" idx="2"/>
            </p:cNvCxnSpPr>
            <p:nvPr/>
          </p:nvCxnSpPr>
          <p:spPr>
            <a:xfrm flipH="1" flipV="1">
              <a:off x="15001" y="7222"/>
              <a:ext cx="2151" cy="6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2" idx="3"/>
              <a:endCxn id="3" idx="1"/>
            </p:cNvCxnSpPr>
            <p:nvPr/>
          </p:nvCxnSpPr>
          <p:spPr>
            <a:xfrm>
              <a:off x="11753" y="8333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3" idx="3"/>
              <a:endCxn id="7" idx="1"/>
            </p:cNvCxnSpPr>
            <p:nvPr/>
          </p:nvCxnSpPr>
          <p:spPr>
            <a:xfrm>
              <a:off x="12637" y="8333"/>
              <a:ext cx="57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7" idx="3"/>
              <a:endCxn id="8" idx="1"/>
            </p:cNvCxnSpPr>
            <p:nvPr/>
          </p:nvCxnSpPr>
          <p:spPr>
            <a:xfrm>
              <a:off x="13545" y="8333"/>
              <a:ext cx="57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8" idx="3"/>
              <a:endCxn id="9" idx="1"/>
            </p:cNvCxnSpPr>
            <p:nvPr/>
          </p:nvCxnSpPr>
          <p:spPr>
            <a:xfrm>
              <a:off x="14453" y="8333"/>
              <a:ext cx="6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9" idx="3"/>
              <a:endCxn id="10" idx="1"/>
            </p:cNvCxnSpPr>
            <p:nvPr/>
          </p:nvCxnSpPr>
          <p:spPr>
            <a:xfrm>
              <a:off x="15389" y="8333"/>
              <a:ext cx="6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10" idx="3"/>
              <a:endCxn id="11" idx="1"/>
            </p:cNvCxnSpPr>
            <p:nvPr/>
          </p:nvCxnSpPr>
          <p:spPr>
            <a:xfrm>
              <a:off x="16381" y="8333"/>
              <a:ext cx="6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7317" y="8333"/>
              <a:ext cx="6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rot="16200000">
              <a:off x="11312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rot="16200000">
              <a:off x="12195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rot="16200000">
              <a:off x="13103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rot="16200000">
              <a:off x="14011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rot="16200000">
              <a:off x="14947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rot="16200000">
              <a:off x="15939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rot="16200000">
              <a:off x="16875" y="907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rot="16200000">
              <a:off x="16875" y="4187"/>
              <a:ext cx="55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16843" y="3393"/>
              <a:ext cx="627" cy="574"/>
              <a:chOff x="9380" y="3157"/>
              <a:chExt cx="627" cy="574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9380" y="3157"/>
                <a:ext cx="616" cy="47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2000" baseline="-25000">
                    <a:latin typeface="Times New Roman" panose="02020603050405020304" charset="0"/>
                    <a:cs typeface="Times New Roman" panose="02020603050405020304" charset="0"/>
                  </a:rPr>
                  <a:t>𝓨</a:t>
                </a:r>
                <a:endParaRPr lang="zh-CN" altLang="en-US" sz="2000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9567" y="3249"/>
                <a:ext cx="44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i="1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7078" y="3803"/>
              <a:ext cx="728" cy="870"/>
              <a:chOff x="12322" y="3898"/>
              <a:chExt cx="728" cy="870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12322" y="4066"/>
                <a:ext cx="725" cy="702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0" indent="0"/>
                <a:r>
                  <a:rPr lang="zh-CN" altLang="en-US" b="0" i="0">
                    <a:solidFill>
                      <a:srgbClr val="333333"/>
                    </a:solidFill>
                    <a:latin typeface="Arial" panose="020B0604020202020204"/>
                    <a:ea typeface="Arial" panose="020B0604020202020204"/>
                  </a:rPr>
                  <a:t>𝓱</a:t>
                </a:r>
                <a:endParaRPr lang="zh-CN" altLang="en-US" b="0" i="0">
                  <a:solidFill>
                    <a:srgbClr val="333333"/>
                  </a:solidFill>
                  <a:latin typeface="Arial" panose="020B0604020202020204"/>
                  <a:ea typeface="Arial" panose="020B0604020202020204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2609" y="4200"/>
                <a:ext cx="44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i="1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2378" y="3898"/>
                <a:ext cx="5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rPr>
                  <a:t>~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3215" y="5822"/>
              <a:ext cx="773" cy="714"/>
              <a:chOff x="10920" y="4240"/>
              <a:chExt cx="773" cy="71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0920" y="4240"/>
                <a:ext cx="61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b="1" i="1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en-US" altLang="zh-CN" sz="20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1077" y="4374"/>
                <a:ext cx="6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i="1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3643" y="5031"/>
              <a:ext cx="252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 i="1">
                  <a:latin typeface="微软雅黑" panose="020B0503020204020204" charset="-122"/>
                  <a:ea typeface="微软雅黑" panose="020B0503020204020204" charset="-122"/>
                </a:rPr>
                <a:t>Attention Layer</a:t>
              </a:r>
              <a:endParaRPr lang="en-US" altLang="zh-CN" sz="1400" b="1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4041" y="5822"/>
              <a:ext cx="252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Context vector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4442" y="6383"/>
              <a:ext cx="282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Global align weights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15031" y="6646"/>
              <a:ext cx="797" cy="714"/>
              <a:chOff x="10920" y="4240"/>
              <a:chExt cx="797" cy="714"/>
            </a:xfrm>
          </p:grpSpPr>
          <p:sp>
            <p:nvSpPr>
              <p:cNvPr id="61" name="文本框 60"/>
              <p:cNvSpPr txBox="1"/>
              <p:nvPr/>
            </p:nvSpPr>
            <p:spPr>
              <a:xfrm>
                <a:off x="10920" y="4240"/>
                <a:ext cx="61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b="1" i="1"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  <a:endParaRPr lang="en-US" altLang="zh-CN" sz="20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1101" y="4374"/>
                <a:ext cx="6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i="1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7230" y="7608"/>
              <a:ext cx="728" cy="702"/>
              <a:chOff x="12322" y="4066"/>
              <a:chExt cx="728" cy="702"/>
            </a:xfrm>
          </p:grpSpPr>
          <p:sp>
            <p:nvSpPr>
              <p:cNvPr id="64" name="文本框 63"/>
              <p:cNvSpPr txBox="1"/>
              <p:nvPr/>
            </p:nvSpPr>
            <p:spPr>
              <a:xfrm>
                <a:off x="12322" y="4066"/>
                <a:ext cx="725" cy="702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0" indent="0"/>
                <a:r>
                  <a:rPr lang="zh-CN" altLang="en-US" b="0" i="0">
                    <a:solidFill>
                      <a:srgbClr val="333333"/>
                    </a:solidFill>
                    <a:latin typeface="Arial" panose="020B0604020202020204"/>
                    <a:ea typeface="Arial" panose="020B0604020202020204"/>
                  </a:rPr>
                  <a:t>𝓱</a:t>
                </a:r>
                <a:endParaRPr lang="zh-CN" altLang="en-US" b="0" i="0">
                  <a:solidFill>
                    <a:srgbClr val="333333"/>
                  </a:solidFill>
                  <a:latin typeface="Arial" panose="020B0604020202020204"/>
                  <a:ea typeface="Arial" panose="020B0604020202020204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12609" y="4200"/>
                <a:ext cx="44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i="1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212" y="7206"/>
              <a:ext cx="755" cy="745"/>
              <a:chOff x="10599" y="6072"/>
              <a:chExt cx="755" cy="745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10599" y="6115"/>
                <a:ext cx="728" cy="702"/>
                <a:chOff x="12322" y="4066"/>
                <a:chExt cx="728" cy="702"/>
              </a:xfrm>
            </p:grpSpPr>
            <p:sp>
              <p:nvSpPr>
                <p:cNvPr id="68" name="文本框 67"/>
                <p:cNvSpPr txBox="1"/>
                <p:nvPr/>
              </p:nvSpPr>
              <p:spPr>
                <a:xfrm>
                  <a:off x="12322" y="4066"/>
                  <a:ext cx="725" cy="702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p>
                  <a:pPr marL="0" indent="0"/>
                  <a:r>
                    <a:rPr lang="zh-CN" altLang="en-US" b="0" i="0">
                      <a:solidFill>
                        <a:srgbClr val="333333"/>
                      </a:solidFill>
                      <a:latin typeface="Arial" panose="020B0604020202020204"/>
                      <a:ea typeface="Arial" panose="020B0604020202020204"/>
                    </a:rPr>
                    <a:t>𝓱</a:t>
                  </a:r>
                  <a:endParaRPr lang="zh-CN" altLang="en-US" b="0" i="0">
                    <a:solidFill>
                      <a:srgbClr val="333333"/>
                    </a:solidFill>
                    <a:latin typeface="Arial" panose="020B0604020202020204"/>
                    <a:ea typeface="Arial" panose="020B0604020202020204"/>
                  </a:endParaRPr>
                </a:p>
              </p:txBody>
            </p:sp>
            <p:sp>
              <p:nvSpPr>
                <p:cNvPr id="69" name="文本框 68"/>
                <p:cNvSpPr txBox="1"/>
                <p:nvPr/>
              </p:nvSpPr>
              <p:spPr>
                <a:xfrm>
                  <a:off x="12609" y="4200"/>
                  <a:ext cx="44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 i="1">
                      <a:latin typeface="Times New Roman" panose="02020603050405020304" charset="0"/>
                      <a:cs typeface="Times New Roman" panose="02020603050405020304" charset="0"/>
                    </a:rPr>
                    <a:t>s</a:t>
                  </a:r>
                  <a:endParaRPr lang="en-US" altLang="zh-CN" sz="14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71" name="文本框 70"/>
              <p:cNvSpPr txBox="1"/>
              <p:nvPr/>
            </p:nvSpPr>
            <p:spPr>
              <a:xfrm>
                <a:off x="10668" y="6072"/>
                <a:ext cx="687" cy="43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rPr>
                  <a:t>¯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74777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Bottleneck Attention Module (BAM)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瓶颈注意力机制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922655" y="248221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07632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</a:rPr>
              <a:t>https://arxiv.org/pdf/1807.06514</a:t>
            </a:r>
            <a:endParaRPr lang="en-US" altLang="zh-CN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40" y="1413510"/>
            <a:ext cx="8269605" cy="2843530"/>
          </a:xfrm>
          <a:prstGeom prst="rect">
            <a:avLst/>
          </a:prstGeom>
        </p:spPr>
      </p:pic>
      <p:grpSp>
        <p:nvGrpSpPr>
          <p:cNvPr id="103" name="组合 102"/>
          <p:cNvGrpSpPr/>
          <p:nvPr/>
        </p:nvGrpSpPr>
        <p:grpSpPr>
          <a:xfrm>
            <a:off x="2717800" y="4343400"/>
            <a:ext cx="8347710" cy="2807335"/>
            <a:chOff x="5507" y="4847"/>
            <a:chExt cx="13146" cy="4421"/>
          </a:xfrm>
        </p:grpSpPr>
        <p:sp>
          <p:nvSpPr>
            <p:cNvPr id="340" name="Google Shape;340;p21"/>
            <p:cNvSpPr/>
            <p:nvPr>
              <p:custDataLst>
                <p:tags r:id="rId3"/>
              </p:custDataLst>
            </p:nvPr>
          </p:nvSpPr>
          <p:spPr>
            <a:xfrm>
              <a:off x="6776" y="7887"/>
              <a:ext cx="1070" cy="1381"/>
            </a:xfrm>
            <a:prstGeom prst="cube">
              <a:avLst>
                <a:gd name="adj" fmla="val 34766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" name="Google Shape;340;p21"/>
            <p:cNvSpPr/>
            <p:nvPr>
              <p:custDataLst>
                <p:tags r:id="rId4"/>
              </p:custDataLst>
            </p:nvPr>
          </p:nvSpPr>
          <p:spPr>
            <a:xfrm>
              <a:off x="9141" y="6332"/>
              <a:ext cx="743" cy="1381"/>
            </a:xfrm>
            <a:prstGeom prst="cube">
              <a:avLst>
                <a:gd name="adj" fmla="val 45222"/>
              </a:avLst>
            </a:prstGeom>
            <a:solidFill>
              <a:srgbClr val="FBE5D6"/>
            </a:soli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340;p21"/>
            <p:cNvSpPr/>
            <p:nvPr>
              <p:custDataLst>
                <p:tags r:id="rId5"/>
              </p:custDataLst>
            </p:nvPr>
          </p:nvSpPr>
          <p:spPr>
            <a:xfrm>
              <a:off x="11117" y="6332"/>
              <a:ext cx="743" cy="1381"/>
            </a:xfrm>
            <a:prstGeom prst="cube">
              <a:avLst>
                <a:gd name="adj" fmla="val 45222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340;p21"/>
            <p:cNvSpPr/>
            <p:nvPr>
              <p:custDataLst>
                <p:tags r:id="rId6"/>
              </p:custDataLst>
            </p:nvPr>
          </p:nvSpPr>
          <p:spPr>
            <a:xfrm>
              <a:off x="11126" y="6332"/>
              <a:ext cx="743" cy="1381"/>
            </a:xfrm>
            <a:prstGeom prst="cube">
              <a:avLst>
                <a:gd name="adj" fmla="val 45222"/>
              </a:avLst>
            </a:prstGeom>
            <a:solidFill>
              <a:srgbClr val="FBE5D6"/>
            </a:soli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340;p21"/>
            <p:cNvSpPr/>
            <p:nvPr>
              <p:custDataLst>
                <p:tags r:id="rId7"/>
              </p:custDataLst>
            </p:nvPr>
          </p:nvSpPr>
          <p:spPr>
            <a:xfrm>
              <a:off x="13111" y="6214"/>
              <a:ext cx="448" cy="1411"/>
            </a:xfrm>
            <a:prstGeom prst="cube">
              <a:avLst>
                <a:gd name="adj" fmla="val 78125"/>
              </a:avLst>
            </a:pr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65000">
                  <a:srgbClr val="FFE1CA"/>
                </a:gs>
                <a:gs pos="11000">
                  <a:srgbClr val="D37C4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340;p21"/>
            <p:cNvSpPr/>
            <p:nvPr>
              <p:custDataLst>
                <p:tags r:id="rId8"/>
              </p:custDataLst>
            </p:nvPr>
          </p:nvSpPr>
          <p:spPr>
            <a:xfrm>
              <a:off x="15772" y="6280"/>
              <a:ext cx="1056" cy="1381"/>
            </a:xfrm>
            <a:prstGeom prst="cube">
              <a:avLst>
                <a:gd name="adj" fmla="val 36458"/>
              </a:avLst>
            </a:pr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65000">
                  <a:srgbClr val="A3BF90"/>
                </a:gs>
                <a:gs pos="11000">
                  <a:srgbClr val="59863B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40;p21"/>
            <p:cNvSpPr/>
            <p:nvPr>
              <p:custDataLst>
                <p:tags r:id="rId9"/>
              </p:custDataLst>
            </p:nvPr>
          </p:nvSpPr>
          <p:spPr>
            <a:xfrm>
              <a:off x="9098" y="5310"/>
              <a:ext cx="830" cy="326"/>
            </a:xfrm>
            <a:prstGeom prst="cube">
              <a:avLst>
                <a:gd name="adj" fmla="val 36809"/>
              </a:avLst>
            </a:prstGeom>
            <a:solidFill>
              <a:srgbClr val="DAE3F3"/>
            </a:soli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40;p21"/>
            <p:cNvSpPr/>
            <p:nvPr>
              <p:custDataLst>
                <p:tags r:id="rId10"/>
              </p:custDataLst>
            </p:nvPr>
          </p:nvSpPr>
          <p:spPr>
            <a:xfrm>
              <a:off x="11179" y="5286"/>
              <a:ext cx="453" cy="326"/>
            </a:xfrm>
            <a:prstGeom prst="cube">
              <a:avLst>
                <a:gd name="adj" fmla="val 36809"/>
              </a:avLst>
            </a:prstGeom>
            <a:solidFill>
              <a:srgbClr val="DAE3F3"/>
            </a:soli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40;p21"/>
            <p:cNvSpPr/>
            <p:nvPr>
              <p:custDataLst>
                <p:tags r:id="rId11"/>
              </p:custDataLst>
            </p:nvPr>
          </p:nvSpPr>
          <p:spPr>
            <a:xfrm>
              <a:off x="12979" y="5286"/>
              <a:ext cx="830" cy="326"/>
            </a:xfrm>
            <a:prstGeom prst="cube">
              <a:avLst>
                <a:gd name="adj" fmla="val 36809"/>
              </a:avLst>
            </a:pr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65000">
                  <a:srgbClr val="8DB1D9"/>
                </a:gs>
                <a:gs pos="11000">
                  <a:srgbClr val="4785BF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" name="组合 14"/>
            <p:cNvGrpSpPr/>
            <p:nvPr>
              <p:custDataLst>
                <p:tags r:id="rId12"/>
              </p:custDataLst>
            </p:nvPr>
          </p:nvGrpSpPr>
          <p:grpSpPr>
            <a:xfrm>
              <a:off x="17333" y="8454"/>
              <a:ext cx="283" cy="283"/>
              <a:chOff x="6405" y="7371"/>
              <a:chExt cx="680" cy="680"/>
            </a:xfrm>
          </p:grpSpPr>
          <p:sp>
            <p:nvSpPr>
              <p:cNvPr id="16" name="椭圆 15"/>
              <p:cNvSpPr/>
              <p:nvPr>
                <p:custDataLst>
                  <p:tags r:id="rId13"/>
                </p:custDataLst>
              </p:nvPr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6561" y="7527"/>
                <a:ext cx="369" cy="3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>
                <p:custDataLst>
                  <p:tags r:id="rId15"/>
                </p:custDataLst>
              </p:nvPr>
            </p:nvCxnSpPr>
            <p:spPr>
              <a:xfrm rot="5400000">
                <a:off x="6561" y="7527"/>
                <a:ext cx="369" cy="3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>
              <p:custDataLst>
                <p:tags r:id="rId16"/>
              </p:custDataLst>
            </p:nvPr>
          </p:nvGrpSpPr>
          <p:grpSpPr>
            <a:xfrm>
              <a:off x="18027" y="8453"/>
              <a:ext cx="283" cy="283"/>
              <a:chOff x="6185" y="9482"/>
              <a:chExt cx="680" cy="68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6185" y="9482"/>
                <a:ext cx="680" cy="680"/>
                <a:chOff x="6405" y="7371"/>
                <a:chExt cx="680" cy="680"/>
              </a:xfrm>
            </p:grpSpPr>
            <p:sp>
              <p:nvSpPr>
                <p:cNvPr id="25" name="椭圆 24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6" name="直接连接符 25"/>
                <p:cNvCxnSpPr/>
                <p:nvPr>
                  <p:custDataLst>
                    <p:tags r:id="rId18"/>
                  </p:custDataLst>
                </p:nvPr>
              </p:nvCxnSpPr>
              <p:spPr>
                <a:xfrm>
                  <a:off x="6745" y="7456"/>
                  <a:ext cx="0" cy="5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直接连接符 26"/>
              <p:cNvCxnSpPr/>
              <p:nvPr>
                <p:custDataLst>
                  <p:tags r:id="rId19"/>
                </p:custDataLst>
              </p:nvPr>
            </p:nvCxnSpPr>
            <p:spPr>
              <a:xfrm rot="16200000">
                <a:off x="6524" y="9568"/>
                <a:ext cx="0" cy="51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>
              <p:custDataLst>
                <p:tags r:id="rId20"/>
              </p:custDataLst>
            </p:nvPr>
          </p:nvGrpSpPr>
          <p:grpSpPr>
            <a:xfrm>
              <a:off x="14147" y="6715"/>
              <a:ext cx="283" cy="283"/>
              <a:chOff x="6185" y="9482"/>
              <a:chExt cx="680" cy="680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6185" y="9482"/>
                <a:ext cx="680" cy="680"/>
                <a:chOff x="6405" y="7371"/>
                <a:chExt cx="680" cy="680"/>
              </a:xfrm>
            </p:grpSpPr>
            <p:sp>
              <p:nvSpPr>
                <p:cNvPr id="30" name="椭圆 2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1" name="直接连接符 30"/>
                <p:cNvCxnSpPr/>
                <p:nvPr>
                  <p:custDataLst>
                    <p:tags r:id="rId22"/>
                  </p:custDataLst>
                </p:nvPr>
              </p:nvCxnSpPr>
              <p:spPr>
                <a:xfrm>
                  <a:off x="6745" y="7456"/>
                  <a:ext cx="0" cy="5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>
                <p:custDataLst>
                  <p:tags r:id="rId23"/>
                </p:custDataLst>
              </p:nvPr>
            </p:nvCxnSpPr>
            <p:spPr>
              <a:xfrm rot="16200000">
                <a:off x="6524" y="9568"/>
                <a:ext cx="0" cy="51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/>
            <p:cNvGrpSpPr/>
            <p:nvPr>
              <p:custDataLst>
                <p:tags r:id="rId24"/>
              </p:custDataLst>
            </p:nvPr>
          </p:nvGrpSpPr>
          <p:grpSpPr>
            <a:xfrm rot="19620000">
              <a:off x="14950" y="6697"/>
              <a:ext cx="283" cy="283"/>
              <a:chOff x="4195" y="10163"/>
              <a:chExt cx="566" cy="566"/>
            </a:xfrm>
          </p:grpSpPr>
          <p:sp>
            <p:nvSpPr>
              <p:cNvPr id="34" name="Google Shape;3276;p52"/>
              <p:cNvSpPr/>
              <p:nvPr>
                <p:custDataLst>
                  <p:tags r:id="rId25"/>
                </p:custDataLst>
              </p:nvPr>
            </p:nvSpPr>
            <p:spPr>
              <a:xfrm flipH="1">
                <a:off x="4195" y="10163"/>
                <a:ext cx="567" cy="567"/>
              </a:xfrm>
              <a:prstGeom prst="ellipse">
                <a:avLst/>
              </a:prstGeom>
              <a:solidFill>
                <a:srgbClr val="FFFFFF"/>
              </a:solidFill>
              <a:ln w="158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  <p:sp>
            <p:nvSpPr>
              <p:cNvPr id="35" name="Google Shape;3277;p52"/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4195" y="10328"/>
                <a:ext cx="556" cy="263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9028" extrusionOk="0">
                    <a:moveTo>
                      <a:pt x="0" y="3089"/>
                    </a:moveTo>
                    <a:cubicBezTo>
                      <a:pt x="1222" y="2614"/>
                      <a:pt x="4819" y="-712"/>
                      <a:pt x="7331" y="238"/>
                    </a:cubicBezTo>
                    <a:cubicBezTo>
                      <a:pt x="9843" y="1188"/>
                      <a:pt x="12830" y="7841"/>
                      <a:pt x="15070" y="8791"/>
                    </a:cubicBezTo>
                    <a:cubicBezTo>
                      <a:pt x="17310" y="9741"/>
                      <a:pt x="19822" y="6415"/>
                      <a:pt x="20772" y="5940"/>
                    </a:cubicBezTo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" name="文本框 35"/>
            <p:cNvSpPr txBox="1"/>
            <p:nvPr/>
          </p:nvSpPr>
          <p:spPr>
            <a:xfrm>
              <a:off x="5507" y="8252"/>
              <a:ext cx="137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Input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tensor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27"/>
              </p:custDataLst>
            </p:nvPr>
          </p:nvSpPr>
          <p:spPr>
            <a:xfrm>
              <a:off x="6688" y="5214"/>
              <a:ext cx="221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Global avg pool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28"/>
              </p:custDataLst>
            </p:nvPr>
          </p:nvSpPr>
          <p:spPr>
            <a:xfrm>
              <a:off x="10041" y="5449"/>
              <a:ext cx="98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FC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9"/>
              </p:custDataLst>
            </p:nvPr>
          </p:nvSpPr>
          <p:spPr>
            <a:xfrm>
              <a:off x="11746" y="5449"/>
              <a:ext cx="98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FC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30"/>
              </p:custDataLst>
            </p:nvPr>
          </p:nvSpPr>
          <p:spPr>
            <a:xfrm>
              <a:off x="9550" y="7713"/>
              <a:ext cx="29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with dilation value </a:t>
              </a:r>
              <a:r>
                <a:rPr lang="en-US" altLang="zh-CN" sz="1200" b="1" i="1">
                  <a:latin typeface="微软雅黑" panose="020B0503020204020204" charset="-122"/>
                  <a:ea typeface="微软雅黑" panose="020B0503020204020204" charset="-122"/>
                </a:rPr>
                <a:t>d</a:t>
              </a:r>
              <a:endParaRPr lang="en-US" altLang="zh-CN" sz="1200" b="1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31"/>
              </p:custDataLst>
            </p:nvPr>
          </p:nvSpPr>
          <p:spPr>
            <a:xfrm>
              <a:off x="12437" y="7713"/>
              <a:ext cx="279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Spatial attention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32"/>
              </p:custDataLst>
            </p:nvPr>
          </p:nvSpPr>
          <p:spPr>
            <a:xfrm>
              <a:off x="15133" y="7713"/>
              <a:ext cx="221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BAM attention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33"/>
              </p:custDataLst>
            </p:nvPr>
          </p:nvSpPr>
          <p:spPr>
            <a:xfrm>
              <a:off x="13844" y="5015"/>
              <a:ext cx="279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Channel attention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34"/>
              </p:custDataLst>
            </p:nvPr>
          </p:nvSpPr>
          <p:spPr>
            <a:xfrm>
              <a:off x="7857" y="7054"/>
              <a:ext cx="110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×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conv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35"/>
              </p:custDataLst>
            </p:nvPr>
          </p:nvSpPr>
          <p:spPr>
            <a:xfrm>
              <a:off x="10041" y="6900"/>
              <a:ext cx="110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×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conv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36"/>
              </p:custDataLst>
            </p:nvPr>
          </p:nvSpPr>
          <p:spPr>
            <a:xfrm>
              <a:off x="12033" y="6900"/>
              <a:ext cx="110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×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conv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0" name="曲线连接符 49"/>
            <p:cNvCxnSpPr>
              <a:stCxn id="49" idx="0"/>
              <a:endCxn id="48" idx="2"/>
            </p:cNvCxnSpPr>
            <p:nvPr>
              <p:custDataLst>
                <p:tags r:id="rId37"/>
              </p:custDataLst>
            </p:nvPr>
          </p:nvCxnSpPr>
          <p:spPr>
            <a:xfrm rot="16200000">
              <a:off x="7063" y="6045"/>
              <a:ext cx="2327" cy="1357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曲线连接符 50"/>
            <p:cNvCxnSpPr/>
            <p:nvPr>
              <p:custDataLst>
                <p:tags r:id="rId38"/>
              </p:custDataLst>
            </p:nvPr>
          </p:nvCxnSpPr>
          <p:spPr>
            <a:xfrm rot="16200000">
              <a:off x="7781" y="6707"/>
              <a:ext cx="949" cy="1412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>
              <p:custDataLst>
                <p:tags r:id="rId39"/>
              </p:custDataLst>
            </p:nvPr>
          </p:nvCxnSpPr>
          <p:spPr>
            <a:xfrm flipV="1">
              <a:off x="10261" y="5449"/>
              <a:ext cx="6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>
              <p:custDataLst>
                <p:tags r:id="rId40"/>
              </p:custDataLst>
            </p:nvPr>
          </p:nvCxnSpPr>
          <p:spPr>
            <a:xfrm flipV="1">
              <a:off x="11964" y="5473"/>
              <a:ext cx="6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>
              <p:custDataLst>
                <p:tags r:id="rId41"/>
              </p:custDataLst>
            </p:nvPr>
          </p:nvCxnSpPr>
          <p:spPr>
            <a:xfrm flipV="1">
              <a:off x="12259" y="6838"/>
              <a:ext cx="7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>
              <p:custDataLst>
                <p:tags r:id="rId42"/>
              </p:custDataLst>
            </p:nvPr>
          </p:nvCxnSpPr>
          <p:spPr>
            <a:xfrm flipV="1">
              <a:off x="13703" y="6857"/>
              <a:ext cx="3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>
              <p:custDataLst>
                <p:tags r:id="rId43"/>
              </p:custDataLst>
            </p:nvPr>
          </p:nvCxnSpPr>
          <p:spPr>
            <a:xfrm flipV="1">
              <a:off x="14533" y="6857"/>
              <a:ext cx="3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>
              <p:custDataLst>
                <p:tags r:id="rId44"/>
              </p:custDataLst>
            </p:nvPr>
          </p:nvCxnSpPr>
          <p:spPr>
            <a:xfrm flipV="1">
              <a:off x="15313" y="6857"/>
              <a:ext cx="3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>
              <p:custDataLst>
                <p:tags r:id="rId45"/>
              </p:custDataLst>
            </p:nvPr>
          </p:nvCxnSpPr>
          <p:spPr>
            <a:xfrm flipV="1">
              <a:off x="10261" y="6838"/>
              <a:ext cx="7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>
              <p:custDataLst>
                <p:tags r:id="rId46"/>
              </p:custDataLst>
            </p:nvPr>
          </p:nvCxnSpPr>
          <p:spPr>
            <a:xfrm flipV="1">
              <a:off x="11353" y="8311"/>
              <a:ext cx="6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>
              <p:custDataLst>
                <p:tags r:id="rId47"/>
              </p:custDataLst>
            </p:nvPr>
          </p:nvCxnSpPr>
          <p:spPr>
            <a:xfrm rot="10800000" flipV="1">
              <a:off x="9098" y="8292"/>
              <a:ext cx="7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>
              <p:custDataLst>
                <p:tags r:id="rId48"/>
              </p:custDataLst>
            </p:nvPr>
          </p:nvCxnSpPr>
          <p:spPr>
            <a:xfrm flipV="1">
              <a:off x="8026" y="8595"/>
              <a:ext cx="91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>
              <p:custDataLst>
                <p:tags r:id="rId49"/>
              </p:custDataLst>
            </p:nvPr>
          </p:nvCxnSpPr>
          <p:spPr>
            <a:xfrm flipV="1">
              <a:off x="17689" y="8595"/>
              <a:ext cx="2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V="1">
              <a:off x="18405" y="8595"/>
              <a:ext cx="2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>
              <a:stCxn id="69" idx="4"/>
              <a:endCxn id="25" idx="4"/>
            </p:cNvCxnSpPr>
            <p:nvPr>
              <p:custDataLst>
                <p:tags r:id="rId50"/>
              </p:custDataLst>
            </p:nvPr>
          </p:nvCxnSpPr>
          <p:spPr>
            <a:xfrm rot="5400000" flipV="1">
              <a:off x="17315" y="7881"/>
              <a:ext cx="141" cy="1568"/>
            </a:xfrm>
            <a:prstGeom prst="bentConnector3">
              <a:avLst>
                <a:gd name="adj1" fmla="val 267021"/>
              </a:avLst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曲线连接符 69"/>
            <p:cNvCxnSpPr/>
            <p:nvPr>
              <p:custDataLst>
                <p:tags r:id="rId51"/>
              </p:custDataLst>
            </p:nvPr>
          </p:nvCxnSpPr>
          <p:spPr>
            <a:xfrm>
              <a:off x="13880" y="5408"/>
              <a:ext cx="409" cy="1234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>
              <p:custDataLst>
                <p:tags r:id="rId52"/>
              </p:custDataLst>
            </p:nvPr>
          </p:nvCxnSpPr>
          <p:spPr>
            <a:xfrm rot="10800000" flipV="1">
              <a:off x="10595" y="5045"/>
              <a:ext cx="2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>
              <p:custDataLst>
                <p:tags r:id="rId53"/>
              </p:custDataLst>
            </p:nvPr>
          </p:nvCxnSpPr>
          <p:spPr>
            <a:xfrm rot="10800000" flipH="1" flipV="1">
              <a:off x="11893" y="5045"/>
              <a:ext cx="2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左大括号 76"/>
            <p:cNvSpPr/>
            <p:nvPr>
              <p:custDataLst>
                <p:tags r:id="rId54"/>
              </p:custDataLst>
            </p:nvPr>
          </p:nvSpPr>
          <p:spPr>
            <a:xfrm>
              <a:off x="10075" y="5865"/>
              <a:ext cx="256" cy="1896"/>
            </a:xfrm>
            <a:prstGeom prst="leftBrace">
              <a:avLst>
                <a:gd name="adj1" fmla="val 41015"/>
                <a:gd name="adj2" fmla="val 50791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81" name="组合 80"/>
            <p:cNvGrpSpPr/>
            <p:nvPr>
              <p:custDataLst>
                <p:tags r:id="rId55"/>
              </p:custDataLst>
            </p:nvPr>
          </p:nvGrpSpPr>
          <p:grpSpPr>
            <a:xfrm>
              <a:off x="11900" y="5879"/>
              <a:ext cx="373" cy="1896"/>
              <a:chOff x="11860" y="5879"/>
              <a:chExt cx="373" cy="1896"/>
            </a:xfrm>
          </p:grpSpPr>
          <p:sp>
            <p:nvSpPr>
              <p:cNvPr id="78" name="左大括号 77"/>
              <p:cNvSpPr/>
              <p:nvPr>
                <p:custDataLst>
                  <p:tags r:id="rId56"/>
                </p:custDataLst>
              </p:nvPr>
            </p:nvSpPr>
            <p:spPr>
              <a:xfrm flipH="1">
                <a:off x="11860" y="5879"/>
                <a:ext cx="256" cy="1896"/>
              </a:xfrm>
              <a:prstGeom prst="leftBrace">
                <a:avLst>
                  <a:gd name="adj1" fmla="val 41015"/>
                  <a:gd name="adj2" fmla="val 50791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>
                <p:custDataLst>
                  <p:tags r:id="rId57"/>
                </p:custDataLst>
              </p:nvPr>
            </p:nvSpPr>
            <p:spPr>
              <a:xfrm>
                <a:off x="12095" y="6715"/>
                <a:ext cx="138" cy="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80" name="矩形 79"/>
            <p:cNvSpPr/>
            <p:nvPr>
              <p:custDataLst>
                <p:tags r:id="rId58"/>
              </p:custDataLst>
            </p:nvPr>
          </p:nvSpPr>
          <p:spPr>
            <a:xfrm>
              <a:off x="9955" y="6702"/>
              <a:ext cx="138" cy="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10595" y="4847"/>
              <a:ext cx="0" cy="3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12156" y="4847"/>
              <a:ext cx="0" cy="3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9098" y="8091"/>
              <a:ext cx="0" cy="3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12033" y="8091"/>
              <a:ext cx="0" cy="3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7" name="文本框 86"/>
            <p:cNvSpPr txBox="1"/>
            <p:nvPr>
              <p:custDataLst>
                <p:tags r:id="rId59"/>
              </p:custDataLst>
            </p:nvPr>
          </p:nvSpPr>
          <p:spPr>
            <a:xfrm>
              <a:off x="14641" y="5310"/>
              <a:ext cx="224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  <a:r>
                <a:rPr lang="en-US" altLang="zh-CN" sz="1200" b="1" baseline="-25000"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(F)  </a:t>
              </a:r>
              <a:r>
                <a:rPr lang="en-US" altLang="zh-CN" sz="1200" b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∈ </a:t>
              </a:r>
              <a:r>
                <a:rPr lang="en-US" altLang="zh-CN" sz="1200" b="1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R</a:t>
              </a:r>
              <a:r>
                <a:rPr lang="en-US" altLang="zh-CN" sz="1200" b="1" i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C</a:t>
              </a:r>
              <a:r>
                <a:rPr lang="en-US" altLang="zh-CN" sz="1200" b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×1×1</a:t>
              </a:r>
              <a:r>
                <a:rPr lang="en-US" altLang="zh-CN" sz="1200" b="1" i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endParaRPr lang="en-US" altLang="zh-CN" sz="1200" b="1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9915" y="4871"/>
              <a:ext cx="2796" cy="337"/>
              <a:chOff x="11481" y="4073"/>
              <a:chExt cx="2796" cy="337"/>
            </a:xfrm>
          </p:grpSpPr>
          <p:sp>
            <p:nvSpPr>
              <p:cNvPr id="88" name="文本框 87"/>
              <p:cNvSpPr txBox="1"/>
              <p:nvPr>
                <p:custDataLst>
                  <p:tags r:id="rId60"/>
                </p:custDataLst>
              </p:nvPr>
            </p:nvSpPr>
            <p:spPr>
              <a:xfrm>
                <a:off x="11481" y="4073"/>
                <a:ext cx="2796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</a:rPr>
                  <a:t>Channel=</a:t>
                </a: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aphicFrame>
            <p:nvGraphicFramePr>
              <p:cNvPr id="89" name="对象 8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261" y="4086"/>
              <a:ext cx="147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61" imgW="190500" imgH="393700" progId="Equation.KSEE3">
                      <p:embed/>
                    </p:oleObj>
                  </mc:Choice>
                  <mc:Fallback>
                    <p:oleObj name="" r:id="rId61" imgW="190500" imgH="3937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2"/>
                          <a:stretch>
                            <a:fillRect/>
                          </a:stretch>
                        </p:blipFill>
                        <p:spPr>
                          <a:xfrm>
                            <a:off x="13261" y="4086"/>
                            <a:ext cx="147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" name="组合 91"/>
            <p:cNvGrpSpPr/>
            <p:nvPr/>
          </p:nvGrpSpPr>
          <p:grpSpPr>
            <a:xfrm>
              <a:off x="9127" y="8140"/>
              <a:ext cx="2796" cy="337"/>
              <a:chOff x="11481" y="4073"/>
              <a:chExt cx="2796" cy="337"/>
            </a:xfrm>
          </p:grpSpPr>
          <p:sp>
            <p:nvSpPr>
              <p:cNvPr id="93" name="文本框 92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11481" y="4073"/>
                <a:ext cx="2796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</a:rPr>
                  <a:t>Channel=</a:t>
                </a: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aphicFrame>
            <p:nvGraphicFramePr>
              <p:cNvPr id="94" name="对象 9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261" y="4086"/>
              <a:ext cx="147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" r:id="rId64" imgW="190500" imgH="393700" progId="Equation.KSEE3">
                      <p:embed/>
                    </p:oleObj>
                  </mc:Choice>
                  <mc:Fallback>
                    <p:oleObj name="" r:id="rId64" imgW="190500" imgH="3937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2"/>
                          <a:stretch>
                            <a:fillRect/>
                          </a:stretch>
                        </p:blipFill>
                        <p:spPr>
                          <a:xfrm>
                            <a:off x="13261" y="4086"/>
                            <a:ext cx="147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7" name="文本框 96"/>
            <p:cNvSpPr txBox="1"/>
            <p:nvPr>
              <p:custDataLst>
                <p:tags r:id="rId65"/>
              </p:custDataLst>
            </p:nvPr>
          </p:nvSpPr>
          <p:spPr>
            <a:xfrm>
              <a:off x="13048" y="8067"/>
              <a:ext cx="224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  <a:r>
                <a:rPr lang="en-US" altLang="zh-CN" sz="1200" b="1" baseline="-25000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(F)  </a:t>
              </a:r>
              <a:r>
                <a:rPr lang="en-US" altLang="zh-CN" sz="1200" b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∈ </a:t>
              </a:r>
              <a:r>
                <a:rPr lang="en-US" altLang="zh-CN" sz="1200" b="1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R</a:t>
              </a:r>
              <a:r>
                <a:rPr lang="en-US" altLang="zh-CN" sz="1200" b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1</a:t>
              </a:r>
              <a:r>
                <a:rPr lang="en-US" altLang="zh-CN" sz="1200" b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200" b="1" i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H</a:t>
              </a:r>
              <a:r>
                <a:rPr lang="en-US" altLang="zh-CN" sz="1200" b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200" b="1" i="1" baseline="300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W</a:t>
              </a:r>
              <a:r>
                <a:rPr lang="en-US" altLang="zh-CN" sz="1200" b="1" i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endParaRPr lang="en-US" altLang="zh-CN" sz="1200" b="1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66"/>
              </p:custDataLst>
            </p:nvPr>
          </p:nvSpPr>
          <p:spPr>
            <a:xfrm>
              <a:off x="15676" y="8043"/>
              <a:ext cx="124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M(F) </a:t>
              </a:r>
              <a:endParaRPr lang="en-US" altLang="zh-CN" sz="1200" b="1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文本框 99"/>
            <p:cNvSpPr txBox="1"/>
            <p:nvPr>
              <p:custDataLst>
                <p:tags r:id="rId67"/>
              </p:custDataLst>
            </p:nvPr>
          </p:nvSpPr>
          <p:spPr>
            <a:xfrm>
              <a:off x="10331" y="6060"/>
              <a:ext cx="1304" cy="6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</a:rPr>
                <a:t>×</a:t>
              </a:r>
              <a:r>
                <a:rPr lang="en-US" altLang="zh-CN" b="1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01" name="曲线连接符 100"/>
            <p:cNvCxnSpPr>
              <a:stCxn id="10" idx="5"/>
              <a:endCxn id="102" idx="0"/>
            </p:cNvCxnSpPr>
            <p:nvPr>
              <p:custDataLst>
                <p:tags r:id="rId68"/>
              </p:custDataLst>
            </p:nvPr>
          </p:nvCxnSpPr>
          <p:spPr>
            <a:xfrm>
              <a:off x="16828" y="6778"/>
              <a:ext cx="637" cy="1504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6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37230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TripletAttention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755015" y="205549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58356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</a:rPr>
              <a:t>https://arxiv.org/pdf/2010.03045</a:t>
            </a:r>
            <a:endParaRPr lang="en-US" altLang="zh-CN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555" y="920750"/>
            <a:ext cx="9272905" cy="2976245"/>
          </a:xfrm>
          <a:prstGeom prst="rect">
            <a:avLst/>
          </a:prstGeom>
        </p:spPr>
      </p:pic>
      <p:grpSp>
        <p:nvGrpSpPr>
          <p:cNvPr id="117" name="组合 116"/>
          <p:cNvGrpSpPr/>
          <p:nvPr/>
        </p:nvGrpSpPr>
        <p:grpSpPr>
          <a:xfrm>
            <a:off x="1957705" y="4081780"/>
            <a:ext cx="9611360" cy="2990850"/>
            <a:chOff x="4255" y="4682"/>
            <a:chExt cx="15136" cy="4710"/>
          </a:xfrm>
        </p:grpSpPr>
        <p:sp>
          <p:nvSpPr>
            <p:cNvPr id="114" name="下弧形箭头 113"/>
            <p:cNvSpPr/>
            <p:nvPr/>
          </p:nvSpPr>
          <p:spPr>
            <a:xfrm>
              <a:off x="14514" y="6878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下弧形箭头 110"/>
            <p:cNvSpPr/>
            <p:nvPr/>
          </p:nvSpPr>
          <p:spPr>
            <a:xfrm rot="10800000">
              <a:off x="8897" y="6899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Google Shape;340;p21"/>
            <p:cNvSpPr/>
            <p:nvPr>
              <p:custDataLst>
                <p:tags r:id="rId3"/>
              </p:custDataLst>
            </p:nvPr>
          </p:nvSpPr>
          <p:spPr>
            <a:xfrm>
              <a:off x="4970" y="6992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D8D8D8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340;p21"/>
            <p:cNvSpPr/>
            <p:nvPr>
              <p:custDataLst>
                <p:tags r:id="rId4"/>
              </p:custDataLst>
            </p:nvPr>
          </p:nvSpPr>
          <p:spPr>
            <a:xfrm>
              <a:off x="6946" y="5116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D8D8D8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340;p21"/>
            <p:cNvSpPr/>
            <p:nvPr>
              <p:custDataLst>
                <p:tags r:id="rId5"/>
              </p:custDataLst>
            </p:nvPr>
          </p:nvSpPr>
          <p:spPr>
            <a:xfrm>
              <a:off x="6946" y="6648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D8D8D8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340;p21"/>
            <p:cNvSpPr/>
            <p:nvPr>
              <p:custDataLst>
                <p:tags r:id="rId6"/>
              </p:custDataLst>
            </p:nvPr>
          </p:nvSpPr>
          <p:spPr>
            <a:xfrm>
              <a:off x="6946" y="8132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D8D8D8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340;p21"/>
            <p:cNvSpPr/>
            <p:nvPr>
              <p:custDataLst>
                <p:tags r:id="rId7"/>
              </p:custDataLst>
            </p:nvPr>
          </p:nvSpPr>
          <p:spPr>
            <a:xfrm>
              <a:off x="15410" y="5116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7F7F7F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40;p21"/>
            <p:cNvSpPr/>
            <p:nvPr>
              <p:custDataLst>
                <p:tags r:id="rId8"/>
              </p:custDataLst>
            </p:nvPr>
          </p:nvSpPr>
          <p:spPr>
            <a:xfrm>
              <a:off x="15410" y="6676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40;p21"/>
            <p:cNvSpPr/>
            <p:nvPr>
              <p:custDataLst>
                <p:tags r:id="rId9"/>
              </p:custDataLst>
            </p:nvPr>
          </p:nvSpPr>
          <p:spPr>
            <a:xfrm>
              <a:off x="15410" y="8158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BFBFBF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40;p21"/>
            <p:cNvSpPr/>
            <p:nvPr>
              <p:custDataLst>
                <p:tags r:id="rId10"/>
              </p:custDataLst>
            </p:nvPr>
          </p:nvSpPr>
          <p:spPr>
            <a:xfrm>
              <a:off x="8292" y="5193"/>
              <a:ext cx="551" cy="462"/>
            </a:xfrm>
            <a:prstGeom prst="cube">
              <a:avLst>
                <a:gd name="adj" fmla="val 33116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40;p21"/>
            <p:cNvSpPr/>
            <p:nvPr>
              <p:custDataLst>
                <p:tags r:id="rId11"/>
              </p:custDataLst>
            </p:nvPr>
          </p:nvSpPr>
          <p:spPr>
            <a:xfrm>
              <a:off x="17649" y="6974"/>
              <a:ext cx="866" cy="1235"/>
            </a:xfrm>
            <a:prstGeom prst="cube">
              <a:avLst>
                <a:gd name="adj" fmla="val 27122"/>
              </a:avLst>
            </a:prstGeom>
            <a:solidFill>
              <a:srgbClr val="D8D8D8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40;p21"/>
            <p:cNvSpPr/>
            <p:nvPr>
              <p:custDataLst>
                <p:tags r:id="rId12"/>
              </p:custDataLst>
            </p:nvPr>
          </p:nvSpPr>
          <p:spPr>
            <a:xfrm>
              <a:off x="8292" y="6716"/>
              <a:ext cx="551" cy="462"/>
            </a:xfrm>
            <a:prstGeom prst="cube">
              <a:avLst>
                <a:gd name="adj" fmla="val 33116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40;p21"/>
            <p:cNvSpPr/>
            <p:nvPr>
              <p:custDataLst>
                <p:tags r:id="rId13"/>
              </p:custDataLst>
            </p:nvPr>
          </p:nvSpPr>
          <p:spPr>
            <a:xfrm>
              <a:off x="13887" y="5193"/>
              <a:ext cx="551" cy="462"/>
            </a:xfrm>
            <a:prstGeom prst="cube">
              <a:avLst>
                <a:gd name="adj" fmla="val 33116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40;p21"/>
            <p:cNvSpPr/>
            <p:nvPr>
              <p:custDataLst>
                <p:tags r:id="rId14"/>
              </p:custDataLst>
            </p:nvPr>
          </p:nvSpPr>
          <p:spPr>
            <a:xfrm>
              <a:off x="13887" y="6698"/>
              <a:ext cx="551" cy="462"/>
            </a:xfrm>
            <a:prstGeom prst="cube">
              <a:avLst>
                <a:gd name="adj" fmla="val 33116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矩形 17"/>
            <p:cNvSpPr/>
            <p:nvPr>
              <p:custDataLst>
                <p:tags r:id="rId15"/>
              </p:custDataLst>
            </p:nvPr>
          </p:nvSpPr>
          <p:spPr>
            <a:xfrm>
              <a:off x="10131" y="5221"/>
              <a:ext cx="939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16"/>
              </p:custDataLst>
            </p:nvPr>
          </p:nvSpPr>
          <p:spPr>
            <a:xfrm>
              <a:off x="11597" y="5221"/>
              <a:ext cx="912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17"/>
              </p:custDataLst>
            </p:nvPr>
          </p:nvSpPr>
          <p:spPr>
            <a:xfrm>
              <a:off x="10131" y="6741"/>
              <a:ext cx="939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8"/>
              </p:custDataLst>
            </p:nvPr>
          </p:nvSpPr>
          <p:spPr>
            <a:xfrm>
              <a:off x="11596" y="6741"/>
              <a:ext cx="912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>
              <p:custDataLst>
                <p:tags r:id="rId19"/>
              </p:custDataLst>
            </p:nvPr>
          </p:nvSpPr>
          <p:spPr>
            <a:xfrm>
              <a:off x="10131" y="8132"/>
              <a:ext cx="939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1597" y="8132"/>
              <a:ext cx="912" cy="539"/>
            </a:xfrm>
            <a:prstGeom prst="rect">
              <a:avLst/>
            </a:prstGeom>
            <a:noFill/>
            <a:ln w="19050">
              <a:solidFill>
                <a:srgbClr val="7C7C7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17" name="组合 216"/>
            <p:cNvGrpSpPr/>
            <p:nvPr>
              <p:custDataLst>
                <p:tags r:id="rId21"/>
              </p:custDataLst>
            </p:nvPr>
          </p:nvGrpSpPr>
          <p:grpSpPr>
            <a:xfrm rot="21060000">
              <a:off x="12859" y="7346"/>
              <a:ext cx="255" cy="255"/>
              <a:chOff x="8901" y="2905"/>
              <a:chExt cx="340" cy="340"/>
            </a:xfrm>
          </p:grpSpPr>
          <p:sp>
            <p:nvSpPr>
              <p:cNvPr id="221" name="椭圆 220"/>
              <p:cNvSpPr/>
              <p:nvPr>
                <p:custDataLst>
                  <p:tags r:id="rId22"/>
                </p:custDataLst>
              </p:nvPr>
            </p:nvSpPr>
            <p:spPr>
              <a:xfrm>
                <a:off x="9044" y="3046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>
                <p:custDataLst>
                  <p:tags r:id="rId23"/>
                </p:custDataLst>
              </p:nvPr>
            </p:nvSpPr>
            <p:spPr>
              <a:xfrm rot="540000">
                <a:off x="8901" y="2905"/>
                <a:ext cx="340" cy="34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</p:grpSp>
        <p:grpSp>
          <p:nvGrpSpPr>
            <p:cNvPr id="24" name="组合 23"/>
            <p:cNvGrpSpPr/>
            <p:nvPr>
              <p:custDataLst>
                <p:tags r:id="rId24"/>
              </p:custDataLst>
            </p:nvPr>
          </p:nvGrpSpPr>
          <p:grpSpPr>
            <a:xfrm rot="0">
              <a:off x="12859" y="8764"/>
              <a:ext cx="255" cy="255"/>
              <a:chOff x="8901" y="2905"/>
              <a:chExt cx="340" cy="340"/>
            </a:xfrm>
          </p:grpSpPr>
          <p:sp>
            <p:nvSpPr>
              <p:cNvPr id="25" name="椭圆 24"/>
              <p:cNvSpPr/>
              <p:nvPr>
                <p:custDataLst>
                  <p:tags r:id="rId25"/>
                </p:custDataLst>
              </p:nvPr>
            </p:nvSpPr>
            <p:spPr>
              <a:xfrm rot="21540000">
                <a:off x="8901" y="2905"/>
                <a:ext cx="340" cy="34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=</a:t>
                </a:r>
                <a:endParaRPr lang="en-US" altLang="zh-CN"/>
              </a:p>
            </p:txBody>
          </p:sp>
          <p:sp>
            <p:nvSpPr>
              <p:cNvPr id="26" name="椭圆 25"/>
              <p:cNvSpPr/>
              <p:nvPr>
                <p:custDataLst>
                  <p:tags r:id="rId26"/>
                </p:custDataLst>
              </p:nvPr>
            </p:nvSpPr>
            <p:spPr>
              <a:xfrm>
                <a:off x="9044" y="3046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>
              <p:custDataLst>
                <p:tags r:id="rId27"/>
              </p:custDataLst>
            </p:nvPr>
          </p:nvGrpSpPr>
          <p:grpSpPr>
            <a:xfrm rot="21060000">
              <a:off x="12859" y="5807"/>
              <a:ext cx="255" cy="255"/>
              <a:chOff x="8901" y="2905"/>
              <a:chExt cx="340" cy="340"/>
            </a:xfrm>
          </p:grpSpPr>
          <p:sp>
            <p:nvSpPr>
              <p:cNvPr id="28" name="椭圆 27"/>
              <p:cNvSpPr/>
              <p:nvPr>
                <p:custDataLst>
                  <p:tags r:id="rId28"/>
                </p:custDataLst>
              </p:nvPr>
            </p:nvSpPr>
            <p:spPr>
              <a:xfrm rot="540000">
                <a:off x="8901" y="2905"/>
                <a:ext cx="340" cy="34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=</a:t>
                </a:r>
                <a:endParaRPr lang="en-US" altLang="zh-CN"/>
              </a:p>
            </p:txBody>
          </p:sp>
          <p:sp>
            <p:nvSpPr>
              <p:cNvPr id="29" name="椭圆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9044" y="3046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30" name="直接箭头连接符 29"/>
            <p:cNvCxnSpPr/>
            <p:nvPr>
              <p:custDataLst>
                <p:tags r:id="rId30"/>
              </p:custDataLst>
            </p:nvPr>
          </p:nvCxnSpPr>
          <p:spPr>
            <a:xfrm>
              <a:off x="7999" y="8873"/>
              <a:ext cx="4847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>
              <p:custDataLst>
                <p:tags r:id="rId31"/>
              </p:custDataLst>
            </p:nvPr>
          </p:nvCxnSpPr>
          <p:spPr>
            <a:xfrm>
              <a:off x="8010" y="7477"/>
              <a:ext cx="4847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>
              <p:custDataLst>
                <p:tags r:id="rId32"/>
              </p:custDataLst>
            </p:nvPr>
          </p:nvCxnSpPr>
          <p:spPr>
            <a:xfrm>
              <a:off x="8010" y="5947"/>
              <a:ext cx="4847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左大括号 34"/>
            <p:cNvSpPr/>
            <p:nvPr/>
          </p:nvSpPr>
          <p:spPr>
            <a:xfrm>
              <a:off x="6492" y="5631"/>
              <a:ext cx="303" cy="3131"/>
            </a:xfrm>
            <a:prstGeom prst="leftBrace">
              <a:avLst>
                <a:gd name="adj1" fmla="val 37962"/>
                <a:gd name="adj2" fmla="val 63749"/>
              </a:avLst>
            </a:prstGeom>
            <a:ln>
              <a:solidFill>
                <a:srgbClr val="C9C9C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422" y="7449"/>
              <a:ext cx="57" cy="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左大括号 36"/>
            <p:cNvSpPr/>
            <p:nvPr/>
          </p:nvSpPr>
          <p:spPr>
            <a:xfrm flipH="1">
              <a:off x="16350" y="5631"/>
              <a:ext cx="303" cy="3131"/>
            </a:xfrm>
            <a:prstGeom prst="leftBrace">
              <a:avLst>
                <a:gd name="adj1" fmla="val 37962"/>
                <a:gd name="adj2" fmla="val 60683"/>
              </a:avLst>
            </a:prstGeom>
            <a:ln>
              <a:solidFill>
                <a:srgbClr val="C9C9C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16632" y="7328"/>
              <a:ext cx="120" cy="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/>
            <p:nvPr>
              <p:custDataLst>
                <p:tags r:id="rId33"/>
              </p:custDataLst>
            </p:nvPr>
          </p:nvCxnSpPr>
          <p:spPr>
            <a:xfrm>
              <a:off x="5968" y="7620"/>
              <a:ext cx="454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>
              <p:custDataLst>
                <p:tags r:id="rId34"/>
              </p:custDataLst>
            </p:nvPr>
          </p:nvCxnSpPr>
          <p:spPr>
            <a:xfrm>
              <a:off x="13156" y="5947"/>
              <a:ext cx="2069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>
              <p:custDataLst>
                <p:tags r:id="rId35"/>
              </p:custDataLst>
            </p:nvPr>
          </p:nvCxnSpPr>
          <p:spPr>
            <a:xfrm>
              <a:off x="13118" y="7477"/>
              <a:ext cx="2069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>
              <p:custDataLst>
                <p:tags r:id="rId36"/>
              </p:custDataLst>
            </p:nvPr>
          </p:nvCxnSpPr>
          <p:spPr>
            <a:xfrm>
              <a:off x="13158" y="8873"/>
              <a:ext cx="2069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16844" y="5019"/>
              <a:ext cx="1752" cy="165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Google Shape;340;p21"/>
            <p:cNvSpPr/>
            <p:nvPr>
              <p:custDataLst>
                <p:tags r:id="rId37"/>
              </p:custDataLst>
            </p:nvPr>
          </p:nvSpPr>
          <p:spPr>
            <a:xfrm>
              <a:off x="17263" y="5497"/>
              <a:ext cx="551" cy="462"/>
            </a:xfrm>
            <a:prstGeom prst="cube">
              <a:avLst>
                <a:gd name="adj" fmla="val 33116"/>
              </a:avLst>
            </a:prstGeom>
            <a:solidFill>
              <a:srgbClr val="A5A5A5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EEBF7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45" name="直接箭头连接符 44"/>
            <p:cNvCxnSpPr/>
            <p:nvPr>
              <p:custDataLst>
                <p:tags r:id="rId38"/>
              </p:custDataLst>
            </p:nvPr>
          </p:nvCxnSpPr>
          <p:spPr>
            <a:xfrm rot="5400000" flipV="1">
              <a:off x="9090" y="5233"/>
              <a:ext cx="0" cy="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>
              <p:custDataLst>
                <p:tags r:id="rId39"/>
              </p:custDataLst>
            </p:nvPr>
          </p:nvCxnSpPr>
          <p:spPr>
            <a:xfrm flipH="1">
              <a:off x="8102" y="5658"/>
              <a:ext cx="207" cy="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>
              <p:custDataLst>
                <p:tags r:id="rId40"/>
              </p:custDataLst>
            </p:nvPr>
          </p:nvCxnSpPr>
          <p:spPr>
            <a:xfrm flipH="1">
              <a:off x="8100" y="7184"/>
              <a:ext cx="207" cy="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>
              <p:custDataLst>
                <p:tags r:id="rId41"/>
              </p:custDataLst>
            </p:nvPr>
          </p:nvCxnSpPr>
          <p:spPr>
            <a:xfrm flipV="1">
              <a:off x="8468" y="6382"/>
              <a:ext cx="0" cy="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>
              <p:custDataLst>
                <p:tags r:id="rId42"/>
              </p:custDataLst>
            </p:nvPr>
          </p:nvCxnSpPr>
          <p:spPr>
            <a:xfrm rot="5400000" flipV="1">
              <a:off x="9090" y="6756"/>
              <a:ext cx="0" cy="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>
              <p:custDataLst>
                <p:tags r:id="rId43"/>
              </p:custDataLst>
            </p:nvPr>
          </p:nvCxnSpPr>
          <p:spPr>
            <a:xfrm rot="5400000" flipV="1">
              <a:off x="14685" y="5230"/>
              <a:ext cx="0" cy="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>
              <p:custDataLst>
                <p:tags r:id="rId44"/>
              </p:custDataLst>
            </p:nvPr>
          </p:nvCxnSpPr>
          <p:spPr>
            <a:xfrm flipH="1">
              <a:off x="13694" y="5661"/>
              <a:ext cx="207" cy="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>
              <p:custDataLst>
                <p:tags r:id="rId45"/>
              </p:custDataLst>
            </p:nvPr>
          </p:nvCxnSpPr>
          <p:spPr>
            <a:xfrm flipV="1">
              <a:off x="14062" y="6366"/>
              <a:ext cx="0" cy="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>
              <p:custDataLst>
                <p:tags r:id="rId46"/>
              </p:custDataLst>
            </p:nvPr>
          </p:nvCxnSpPr>
          <p:spPr>
            <a:xfrm rot="5400000" flipV="1">
              <a:off x="14687" y="6734"/>
              <a:ext cx="0" cy="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>
              <p:custDataLst>
                <p:tags r:id="rId47"/>
              </p:custDataLst>
            </p:nvPr>
          </p:nvCxnSpPr>
          <p:spPr>
            <a:xfrm flipH="1">
              <a:off x="13696" y="7168"/>
              <a:ext cx="207" cy="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肘形连接符 57"/>
            <p:cNvCxnSpPr>
              <a:stCxn id="59" idx="0"/>
              <a:endCxn id="18" idx="1"/>
            </p:cNvCxnSpPr>
            <p:nvPr>
              <p:custDataLst>
                <p:tags r:id="rId48"/>
              </p:custDataLst>
            </p:nvPr>
          </p:nvCxnSpPr>
          <p:spPr>
            <a:xfrm rot="16200000">
              <a:off x="9684" y="5501"/>
              <a:ext cx="456" cy="437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肘形连接符 60"/>
            <p:cNvCxnSpPr/>
            <p:nvPr>
              <p:custDataLst>
                <p:tags r:id="rId49"/>
              </p:custDataLst>
            </p:nvPr>
          </p:nvCxnSpPr>
          <p:spPr>
            <a:xfrm rot="16200000">
              <a:off x="9684" y="7029"/>
              <a:ext cx="456" cy="437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/>
            <p:nvPr>
              <p:custDataLst>
                <p:tags r:id="rId50"/>
              </p:custDataLst>
            </p:nvPr>
          </p:nvCxnSpPr>
          <p:spPr>
            <a:xfrm rot="16200000">
              <a:off x="9684" y="8426"/>
              <a:ext cx="456" cy="437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18" idx="3"/>
              <a:endCxn id="19" idx="1"/>
            </p:cNvCxnSpPr>
            <p:nvPr>
              <p:custDataLst>
                <p:tags r:id="rId51"/>
              </p:custDataLst>
            </p:nvPr>
          </p:nvCxnSpPr>
          <p:spPr>
            <a:xfrm>
              <a:off x="11070" y="5491"/>
              <a:ext cx="527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>
              <a:stCxn id="20" idx="3"/>
              <a:endCxn id="21" idx="1"/>
            </p:cNvCxnSpPr>
            <p:nvPr>
              <p:custDataLst>
                <p:tags r:id="rId52"/>
              </p:custDataLst>
            </p:nvPr>
          </p:nvCxnSpPr>
          <p:spPr>
            <a:xfrm>
              <a:off x="11070" y="7011"/>
              <a:ext cx="526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22" idx="3"/>
              <a:endCxn id="23" idx="1"/>
            </p:cNvCxnSpPr>
            <p:nvPr>
              <p:custDataLst>
                <p:tags r:id="rId53"/>
              </p:custDataLst>
            </p:nvPr>
          </p:nvCxnSpPr>
          <p:spPr>
            <a:xfrm>
              <a:off x="11070" y="8402"/>
              <a:ext cx="527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肘形连接符 65"/>
            <p:cNvCxnSpPr>
              <a:stCxn id="21" idx="3"/>
              <a:endCxn id="218" idx="0"/>
            </p:cNvCxnSpPr>
            <p:nvPr>
              <p:custDataLst>
                <p:tags r:id="rId54"/>
              </p:custDataLst>
            </p:nvPr>
          </p:nvCxnSpPr>
          <p:spPr>
            <a:xfrm>
              <a:off x="12508" y="7011"/>
              <a:ext cx="478" cy="335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肘形连接符 66"/>
            <p:cNvCxnSpPr>
              <a:stCxn id="23" idx="3"/>
              <a:endCxn id="25" idx="0"/>
            </p:cNvCxnSpPr>
            <p:nvPr>
              <p:custDataLst>
                <p:tags r:id="rId55"/>
              </p:custDataLst>
            </p:nvPr>
          </p:nvCxnSpPr>
          <p:spPr>
            <a:xfrm>
              <a:off x="12509" y="8402"/>
              <a:ext cx="475" cy="362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>
              <a:stCxn id="19" idx="3"/>
              <a:endCxn id="28" idx="0"/>
            </p:cNvCxnSpPr>
            <p:nvPr>
              <p:custDataLst>
                <p:tags r:id="rId56"/>
              </p:custDataLst>
            </p:nvPr>
          </p:nvCxnSpPr>
          <p:spPr>
            <a:xfrm>
              <a:off x="12509" y="5491"/>
              <a:ext cx="477" cy="316"/>
            </a:xfrm>
            <a:prstGeom prst="bentConnector2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>
              <p:custDataLst>
                <p:tags r:id="rId57"/>
              </p:custDataLst>
            </p:nvPr>
          </p:nvCxnSpPr>
          <p:spPr>
            <a:xfrm rot="5400000" flipV="1">
              <a:off x="18061" y="5534"/>
              <a:ext cx="0" cy="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>
              <p:custDataLst>
                <p:tags r:id="rId58"/>
              </p:custDataLst>
            </p:nvPr>
          </p:nvCxnSpPr>
          <p:spPr>
            <a:xfrm flipH="1">
              <a:off x="17073" y="5965"/>
              <a:ext cx="207" cy="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>
              <a:off x="4255" y="8339"/>
              <a:ext cx="223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Input Tensor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7996" y="8374"/>
              <a:ext cx="15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Identity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2365" y="5014"/>
              <a:ext cx="15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Sigmoid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2350" y="6528"/>
              <a:ext cx="15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Sigmoid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365" y="7934"/>
              <a:ext cx="15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Sigmoid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1508" y="8158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Conv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1508" y="6771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Conv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1508" y="5249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Conv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0056" y="5249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Z-Pool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0056" y="6771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Z-Pool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0056" y="8158"/>
              <a:ext cx="10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Z-Pool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946" y="4682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H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7946" y="6214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H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836" y="5344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836" y="6874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8802" y="5452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W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8802" y="6974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W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3543" y="4682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H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3433" y="5344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4399" y="5452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W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3543" y="6190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H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3433" y="6852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4399" y="6960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W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1" name="直接箭头连接符 40"/>
            <p:cNvCxnSpPr/>
            <p:nvPr>
              <p:custDataLst>
                <p:tags r:id="rId59"/>
              </p:custDataLst>
            </p:nvPr>
          </p:nvCxnSpPr>
          <p:spPr>
            <a:xfrm>
              <a:off x="16728" y="7530"/>
              <a:ext cx="822" cy="0"/>
            </a:xfrm>
            <a:prstGeom prst="straightConnector1">
              <a:avLst/>
            </a:prstGeom>
            <a:ln w="19050">
              <a:solidFill>
                <a:srgbClr val="7F7F7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2" name="文本框 101"/>
            <p:cNvSpPr txBox="1"/>
            <p:nvPr/>
          </p:nvSpPr>
          <p:spPr>
            <a:xfrm>
              <a:off x="16918" y="4988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H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6808" y="5650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7774" y="5758"/>
              <a:ext cx="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W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16617" y="7074"/>
              <a:ext cx="82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Avg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16653" y="8342"/>
              <a:ext cx="273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Triplet Attention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6664" y="6153"/>
              <a:ext cx="21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Permutation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9" name="下弧形箭头 108"/>
            <p:cNvSpPr/>
            <p:nvPr/>
          </p:nvSpPr>
          <p:spPr>
            <a:xfrm rot="16200000">
              <a:off x="8396" y="4972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 flipV="1">
              <a:off x="8468" y="4859"/>
              <a:ext cx="0" cy="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3" name="下弧形箭头 112"/>
            <p:cNvSpPr/>
            <p:nvPr/>
          </p:nvSpPr>
          <p:spPr>
            <a:xfrm rot="5400000">
              <a:off x="13987" y="4977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V="1">
              <a:off x="14060" y="4859"/>
              <a:ext cx="0" cy="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5" name="下弧形箭头 114"/>
            <p:cNvSpPr/>
            <p:nvPr/>
          </p:nvSpPr>
          <p:spPr>
            <a:xfrm rot="16200000">
              <a:off x="8596" y="5172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下弧形箭头 115"/>
            <p:cNvSpPr/>
            <p:nvPr/>
          </p:nvSpPr>
          <p:spPr>
            <a:xfrm rot="16200000">
              <a:off x="17364" y="5272"/>
              <a:ext cx="144" cy="227"/>
            </a:xfrm>
            <a:prstGeom prst="curvedUpArrow">
              <a:avLst>
                <a:gd name="adj1" fmla="val 3987"/>
                <a:gd name="adj2" fmla="val 50000"/>
                <a:gd name="adj3" fmla="val 35763"/>
              </a:avLst>
            </a:prstGeom>
            <a:solidFill>
              <a:srgbClr val="B6B6B6"/>
            </a:solidFill>
            <a:ln>
              <a:solidFill>
                <a:srgbClr val="C3C3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>
            <a:xfrm flipV="1">
              <a:off x="17439" y="5163"/>
              <a:ext cx="0" cy="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6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1943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Polarized Self-Attention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极化自注意力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593455" y="95313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60" y="113792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</a:rPr>
              <a:t>https://arxiv.org/pdf/2107.00782v2</a:t>
            </a:r>
            <a:endParaRPr lang="en-US" altLang="zh-CN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1857375"/>
            <a:ext cx="6507480" cy="445770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-825500" y="1906270"/>
            <a:ext cx="6471920" cy="4408170"/>
            <a:chOff x="7988" y="3262"/>
            <a:chExt cx="10192" cy="6942"/>
          </a:xfrm>
        </p:grpSpPr>
        <p:grpSp>
          <p:nvGrpSpPr>
            <p:cNvPr id="123" name="组合 122"/>
            <p:cNvGrpSpPr/>
            <p:nvPr/>
          </p:nvGrpSpPr>
          <p:grpSpPr>
            <a:xfrm>
              <a:off x="7993" y="3262"/>
              <a:ext cx="10070" cy="6942"/>
              <a:chOff x="7993" y="3262"/>
              <a:chExt cx="10070" cy="6942"/>
            </a:xfrm>
          </p:grpSpPr>
          <p:grpSp>
            <p:nvGrpSpPr>
              <p:cNvPr id="102" name="组合 101"/>
              <p:cNvGrpSpPr/>
              <p:nvPr/>
            </p:nvGrpSpPr>
            <p:grpSpPr>
              <a:xfrm>
                <a:off x="7993" y="3342"/>
                <a:ext cx="10070" cy="6862"/>
                <a:chOff x="7993" y="3342"/>
                <a:chExt cx="10070" cy="6862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8077" y="4082"/>
                  <a:ext cx="4898" cy="5109"/>
                </a:xfrm>
                <a:prstGeom prst="roundRect">
                  <a:avLst>
                    <a:gd name="adj" fmla="val 2776"/>
                  </a:avLst>
                </a:prstGeom>
                <a:solidFill>
                  <a:srgbClr val="F9E7E7"/>
                </a:solidFill>
                <a:ln>
                  <a:solidFill>
                    <a:schemeClr val="tx1"/>
                  </a:solidFill>
                  <a:prstDash val="sys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" name="圆角矩形 7"/>
                <p:cNvSpPr/>
                <p:nvPr/>
              </p:nvSpPr>
              <p:spPr>
                <a:xfrm>
                  <a:off x="13301" y="4082"/>
                  <a:ext cx="4763" cy="5109"/>
                </a:xfrm>
                <a:prstGeom prst="roundRect">
                  <a:avLst>
                    <a:gd name="adj" fmla="val 4954"/>
                  </a:avLst>
                </a:prstGeom>
                <a:solidFill>
                  <a:srgbClr val="C9DAF8"/>
                </a:solidFill>
                <a:ln>
                  <a:solidFill>
                    <a:schemeClr val="tx1"/>
                  </a:solidFill>
                  <a:prstDash val="sys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8181" y="4624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" name="圆角矩形 9"/>
                <p:cNvSpPr/>
                <p:nvPr/>
              </p:nvSpPr>
              <p:spPr>
                <a:xfrm>
                  <a:off x="10301" y="4624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" name="圆角矩形 10"/>
                <p:cNvSpPr/>
                <p:nvPr/>
              </p:nvSpPr>
              <p:spPr>
                <a:xfrm>
                  <a:off x="10301" y="6376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圆角矩形 11"/>
                <p:cNvSpPr/>
                <p:nvPr/>
              </p:nvSpPr>
              <p:spPr>
                <a:xfrm>
                  <a:off x="8181" y="6376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" name="圆角矩形 12"/>
                <p:cNvSpPr/>
                <p:nvPr/>
              </p:nvSpPr>
              <p:spPr>
                <a:xfrm>
                  <a:off x="8180" y="7925"/>
                  <a:ext cx="1392" cy="32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" name="圆角矩形 13"/>
                <p:cNvSpPr/>
                <p:nvPr/>
              </p:nvSpPr>
              <p:spPr>
                <a:xfrm>
                  <a:off x="8180" y="8249"/>
                  <a:ext cx="1392" cy="24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" name="圆角矩形 14"/>
                <p:cNvSpPr/>
                <p:nvPr/>
              </p:nvSpPr>
              <p:spPr>
                <a:xfrm>
                  <a:off x="8180" y="8493"/>
                  <a:ext cx="1392" cy="31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10205" y="7260"/>
                  <a:ext cx="1590" cy="4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>
                  <a:off x="14635" y="7260"/>
                  <a:ext cx="1662" cy="4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圆角矩形 17"/>
                <p:cNvSpPr/>
                <p:nvPr/>
              </p:nvSpPr>
              <p:spPr>
                <a:xfrm>
                  <a:off x="14770" y="6376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" name="圆角矩形 18"/>
                <p:cNvSpPr/>
                <p:nvPr/>
              </p:nvSpPr>
              <p:spPr>
                <a:xfrm>
                  <a:off x="14770" y="5367"/>
                  <a:ext cx="1392" cy="599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" name="圆角矩形 19"/>
                <p:cNvSpPr/>
                <p:nvPr/>
              </p:nvSpPr>
              <p:spPr>
                <a:xfrm>
                  <a:off x="14770" y="4621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16551" y="4621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" name="圆角矩形 21"/>
                <p:cNvSpPr/>
                <p:nvPr/>
              </p:nvSpPr>
              <p:spPr>
                <a:xfrm>
                  <a:off x="16551" y="6396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" name="圆角矩形 23"/>
                <p:cNvSpPr/>
                <p:nvPr/>
              </p:nvSpPr>
              <p:spPr>
                <a:xfrm>
                  <a:off x="16551" y="7991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6551" y="8332"/>
                  <a:ext cx="1392" cy="3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26" name="组合 25"/>
                <p:cNvGrpSpPr/>
                <p:nvPr/>
              </p:nvGrpSpPr>
              <p:grpSpPr>
                <a:xfrm>
                  <a:off x="17077" y="7292"/>
                  <a:ext cx="340" cy="340"/>
                  <a:chOff x="6405" y="7371"/>
                  <a:chExt cx="680" cy="680"/>
                </a:xfrm>
              </p:grpSpPr>
              <p:sp>
                <p:nvSpPr>
                  <p:cNvPr id="27" name="椭圆 26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8" name="直接连接符 27"/>
                  <p:cNvCxnSpPr>
                    <a:stCxn id="27" idx="1"/>
                    <a:endCxn id="27" idx="5"/>
                  </p:cNvCxnSpPr>
                  <p:nvPr/>
                </p:nvCxnSpPr>
                <p:spPr>
                  <a:xfrm>
                    <a:off x="6505" y="7471"/>
                    <a:ext cx="480" cy="4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>
                    <a:stCxn id="27" idx="7"/>
                    <a:endCxn id="27" idx="3"/>
                  </p:cNvCxnSpPr>
                  <p:nvPr/>
                </p:nvCxnSpPr>
                <p:spPr>
                  <a:xfrm flipH="1">
                    <a:off x="6504" y="7471"/>
                    <a:ext cx="480" cy="4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" name="组合 33"/>
                <p:cNvGrpSpPr/>
                <p:nvPr/>
              </p:nvGrpSpPr>
              <p:grpSpPr>
                <a:xfrm>
                  <a:off x="8707" y="7292"/>
                  <a:ext cx="340" cy="340"/>
                  <a:chOff x="6405" y="7371"/>
                  <a:chExt cx="680" cy="680"/>
                </a:xfrm>
              </p:grpSpPr>
              <p:sp>
                <p:nvSpPr>
                  <p:cNvPr id="35" name="椭圆 34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6" name="直接连接符 35"/>
                  <p:cNvCxnSpPr>
                    <a:stCxn id="35" idx="1"/>
                    <a:endCxn id="35" idx="5"/>
                  </p:cNvCxnSpPr>
                  <p:nvPr/>
                </p:nvCxnSpPr>
                <p:spPr>
                  <a:xfrm>
                    <a:off x="6505" y="7471"/>
                    <a:ext cx="480" cy="4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>
                    <a:stCxn id="35" idx="7"/>
                    <a:endCxn id="35" idx="3"/>
                  </p:cNvCxnSpPr>
                  <p:nvPr/>
                </p:nvCxnSpPr>
                <p:spPr>
                  <a:xfrm flipH="1">
                    <a:off x="6504" y="7471"/>
                    <a:ext cx="480" cy="4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" name="组合 37"/>
                <p:cNvGrpSpPr/>
                <p:nvPr/>
              </p:nvGrpSpPr>
              <p:grpSpPr>
                <a:xfrm>
                  <a:off x="12960" y="9372"/>
                  <a:ext cx="341" cy="340"/>
                  <a:chOff x="6404" y="7371"/>
                  <a:chExt cx="681" cy="680"/>
                </a:xfrm>
              </p:grpSpPr>
              <p:sp>
                <p:nvSpPr>
                  <p:cNvPr id="39" name="椭圆 38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3" name="直接连接符 42"/>
                  <p:cNvCxnSpPr>
                    <a:stCxn id="39" idx="0"/>
                    <a:endCxn id="39" idx="4"/>
                  </p:cNvCxnSpPr>
                  <p:nvPr/>
                </p:nvCxnSpPr>
                <p:spPr>
                  <a:xfrm>
                    <a:off x="6745" y="7371"/>
                    <a:ext cx="0" cy="6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连接符 43"/>
                  <p:cNvCxnSpPr>
                    <a:stCxn id="39" idx="6"/>
                    <a:endCxn id="39" idx="2"/>
                  </p:cNvCxnSpPr>
                  <p:nvPr/>
                </p:nvCxnSpPr>
                <p:spPr>
                  <a:xfrm flipH="1">
                    <a:off x="6404" y="7711"/>
                    <a:ext cx="680" cy="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组合 46"/>
                <p:cNvGrpSpPr/>
                <p:nvPr/>
              </p:nvGrpSpPr>
              <p:grpSpPr>
                <a:xfrm>
                  <a:off x="12497" y="8713"/>
                  <a:ext cx="397" cy="397"/>
                  <a:chOff x="8901" y="2905"/>
                  <a:chExt cx="340" cy="340"/>
                </a:xfrm>
              </p:grpSpPr>
              <p:sp>
                <p:nvSpPr>
                  <p:cNvPr id="48" name="椭圆 47"/>
                  <p:cNvSpPr/>
                  <p:nvPr/>
                </p:nvSpPr>
                <p:spPr>
                  <a:xfrm>
                    <a:off x="8901" y="2905"/>
                    <a:ext cx="340" cy="3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49" name="椭圆 48"/>
                  <p:cNvSpPr/>
                  <p:nvPr/>
                </p:nvSpPr>
                <p:spPr>
                  <a:xfrm>
                    <a:off x="9059" y="3063"/>
                    <a:ext cx="23" cy="2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0" name="组合 49"/>
                <p:cNvGrpSpPr/>
                <p:nvPr/>
              </p:nvGrpSpPr>
              <p:grpSpPr>
                <a:xfrm>
                  <a:off x="13438" y="8713"/>
                  <a:ext cx="397" cy="397"/>
                  <a:chOff x="8901" y="2905"/>
                  <a:chExt cx="340" cy="340"/>
                </a:xfrm>
              </p:grpSpPr>
              <p:sp>
                <p:nvSpPr>
                  <p:cNvPr id="51" name="椭圆 50"/>
                  <p:cNvSpPr/>
                  <p:nvPr/>
                </p:nvSpPr>
                <p:spPr>
                  <a:xfrm>
                    <a:off x="8901" y="2905"/>
                    <a:ext cx="340" cy="3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52" name="椭圆 51"/>
                  <p:cNvSpPr/>
                  <p:nvPr/>
                </p:nvSpPr>
                <p:spPr>
                  <a:xfrm>
                    <a:off x="9059" y="3063"/>
                    <a:ext cx="23" cy="2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53" name="肘形连接符 52"/>
                <p:cNvCxnSpPr>
                  <a:stCxn id="54" idx="2"/>
                  <a:endCxn id="9" idx="0"/>
                </p:cNvCxnSpPr>
                <p:nvPr/>
              </p:nvCxnSpPr>
              <p:spPr>
                <a:xfrm rot="10800000" flipV="1">
                  <a:off x="8876" y="4242"/>
                  <a:ext cx="4203" cy="381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4" name="椭圆 53"/>
                <p:cNvSpPr/>
                <p:nvPr/>
              </p:nvSpPr>
              <p:spPr>
                <a:xfrm>
                  <a:off x="13080" y="4192"/>
                  <a:ext cx="102" cy="10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5" name="肘形连接符 54"/>
                <p:cNvCxnSpPr>
                  <a:stCxn id="54" idx="6"/>
                  <a:endCxn id="21" idx="0"/>
                </p:cNvCxnSpPr>
                <p:nvPr/>
              </p:nvCxnSpPr>
              <p:spPr>
                <a:xfrm>
                  <a:off x="13182" y="4243"/>
                  <a:ext cx="4065" cy="378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/>
                <p:nvPr/>
              </p:nvCxnSpPr>
              <p:spPr>
                <a:xfrm flipH="1">
                  <a:off x="13131" y="3342"/>
                  <a:ext cx="0" cy="85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/>
                <p:cNvCxnSpPr/>
                <p:nvPr/>
              </p:nvCxnSpPr>
              <p:spPr>
                <a:xfrm flipH="1">
                  <a:off x="15466" y="4247"/>
                  <a:ext cx="0" cy="374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箭头连接符 57"/>
                <p:cNvCxnSpPr>
                  <a:stCxn id="20" idx="2"/>
                  <a:endCxn id="19" idx="0"/>
                </p:cNvCxnSpPr>
                <p:nvPr/>
              </p:nvCxnSpPr>
              <p:spPr>
                <a:xfrm>
                  <a:off x="15466" y="4957"/>
                  <a:ext cx="0" cy="41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箭头连接符 58"/>
                <p:cNvCxnSpPr>
                  <a:stCxn id="19" idx="2"/>
                  <a:endCxn id="18" idx="0"/>
                </p:cNvCxnSpPr>
                <p:nvPr/>
              </p:nvCxnSpPr>
              <p:spPr>
                <a:xfrm>
                  <a:off x="15466" y="5966"/>
                  <a:ext cx="0" cy="41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/>
                <p:cNvCxnSpPr>
                  <a:stCxn id="18" idx="2"/>
                  <a:endCxn id="17" idx="0"/>
                </p:cNvCxnSpPr>
                <p:nvPr/>
              </p:nvCxnSpPr>
              <p:spPr>
                <a:xfrm>
                  <a:off x="15466" y="6712"/>
                  <a:ext cx="0" cy="54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箭头连接符 60"/>
                <p:cNvCxnSpPr>
                  <a:stCxn id="17" idx="6"/>
                  <a:endCxn id="27" idx="2"/>
                </p:cNvCxnSpPr>
                <p:nvPr/>
              </p:nvCxnSpPr>
              <p:spPr>
                <a:xfrm>
                  <a:off x="16297" y="7462"/>
                  <a:ext cx="780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箭头连接符 61"/>
                <p:cNvCxnSpPr>
                  <a:stCxn id="22" idx="2"/>
                  <a:endCxn id="27" idx="0"/>
                </p:cNvCxnSpPr>
                <p:nvPr/>
              </p:nvCxnSpPr>
              <p:spPr>
                <a:xfrm>
                  <a:off x="17247" y="6732"/>
                  <a:ext cx="0" cy="56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/>
                <p:cNvCxnSpPr>
                  <a:stCxn id="27" idx="4"/>
                  <a:endCxn id="24" idx="0"/>
                </p:cNvCxnSpPr>
                <p:nvPr/>
              </p:nvCxnSpPr>
              <p:spPr>
                <a:xfrm>
                  <a:off x="17247" y="7632"/>
                  <a:ext cx="0" cy="35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>
                  <a:stCxn id="21" idx="2"/>
                  <a:endCxn id="22" idx="0"/>
                </p:cNvCxnSpPr>
                <p:nvPr/>
              </p:nvCxnSpPr>
              <p:spPr>
                <a:xfrm>
                  <a:off x="17247" y="4957"/>
                  <a:ext cx="0" cy="143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肘形连接符 64"/>
                <p:cNvCxnSpPr>
                  <a:stCxn id="25" idx="2"/>
                  <a:endCxn id="51" idx="6"/>
                </p:cNvCxnSpPr>
                <p:nvPr/>
              </p:nvCxnSpPr>
              <p:spPr>
                <a:xfrm rot="5400000">
                  <a:off x="15419" y="7084"/>
                  <a:ext cx="244" cy="3412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/>
                <p:nvPr/>
              </p:nvCxnSpPr>
              <p:spPr>
                <a:xfrm flipH="1">
                  <a:off x="13636" y="4247"/>
                  <a:ext cx="0" cy="446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/>
                <p:nvPr/>
              </p:nvCxnSpPr>
              <p:spPr>
                <a:xfrm flipH="1">
                  <a:off x="12695" y="4242"/>
                  <a:ext cx="0" cy="446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肘形连接符 67"/>
                <p:cNvCxnSpPr>
                  <a:stCxn id="15" idx="2"/>
                  <a:endCxn id="48" idx="2"/>
                </p:cNvCxnSpPr>
                <p:nvPr/>
              </p:nvCxnSpPr>
              <p:spPr>
                <a:xfrm rot="5400000" flipV="1">
                  <a:off x="10633" y="7048"/>
                  <a:ext cx="107" cy="3621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>
                  <a:stCxn id="12" idx="2"/>
                  <a:endCxn id="35" idx="0"/>
                </p:cNvCxnSpPr>
                <p:nvPr/>
              </p:nvCxnSpPr>
              <p:spPr>
                <a:xfrm>
                  <a:off x="8877" y="6712"/>
                  <a:ext cx="0" cy="58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>
                  <a:stCxn id="35" idx="4"/>
                  <a:endCxn id="13" idx="0"/>
                </p:cNvCxnSpPr>
                <p:nvPr/>
              </p:nvCxnSpPr>
              <p:spPr>
                <a:xfrm flipH="1">
                  <a:off x="8876" y="7632"/>
                  <a:ext cx="1" cy="29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/>
                <p:cNvCxnSpPr>
                  <a:stCxn id="9" idx="2"/>
                  <a:endCxn id="12" idx="0"/>
                </p:cNvCxnSpPr>
                <p:nvPr/>
              </p:nvCxnSpPr>
              <p:spPr>
                <a:xfrm>
                  <a:off x="8877" y="4960"/>
                  <a:ext cx="0" cy="141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/>
                <p:cNvCxnSpPr>
                  <a:stCxn id="16" idx="2"/>
                  <a:endCxn id="35" idx="6"/>
                </p:cNvCxnSpPr>
                <p:nvPr/>
              </p:nvCxnSpPr>
              <p:spPr>
                <a:xfrm flipH="1">
                  <a:off x="9047" y="7462"/>
                  <a:ext cx="1158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/>
                <p:cNvCxnSpPr>
                  <a:stCxn id="11" idx="2"/>
                  <a:endCxn id="16" idx="0"/>
                </p:cNvCxnSpPr>
                <p:nvPr/>
              </p:nvCxnSpPr>
              <p:spPr>
                <a:xfrm>
                  <a:off x="10997" y="6712"/>
                  <a:ext cx="3" cy="54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74"/>
                <p:cNvCxnSpPr>
                  <a:stCxn id="10" idx="2"/>
                  <a:endCxn id="11" idx="0"/>
                </p:cNvCxnSpPr>
                <p:nvPr/>
              </p:nvCxnSpPr>
              <p:spPr>
                <a:xfrm>
                  <a:off x="10997" y="4960"/>
                  <a:ext cx="0" cy="141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75"/>
                <p:cNvCxnSpPr/>
                <p:nvPr/>
              </p:nvCxnSpPr>
              <p:spPr>
                <a:xfrm>
                  <a:off x="10997" y="4242"/>
                  <a:ext cx="0" cy="38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76"/>
                <p:cNvCxnSpPr/>
                <p:nvPr/>
              </p:nvCxnSpPr>
              <p:spPr>
                <a:xfrm>
                  <a:off x="13131" y="9712"/>
                  <a:ext cx="0" cy="49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77"/>
                <p:cNvCxnSpPr>
                  <a:stCxn id="51" idx="4"/>
                  <a:endCxn id="39" idx="7"/>
                </p:cNvCxnSpPr>
                <p:nvPr/>
              </p:nvCxnSpPr>
              <p:spPr>
                <a:xfrm flipH="1">
                  <a:off x="13251" y="9110"/>
                  <a:ext cx="386" cy="31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78"/>
                <p:cNvCxnSpPr>
                  <a:stCxn id="48" idx="4"/>
                  <a:endCxn id="39" idx="1"/>
                </p:cNvCxnSpPr>
                <p:nvPr/>
              </p:nvCxnSpPr>
              <p:spPr>
                <a:xfrm>
                  <a:off x="12696" y="9110"/>
                  <a:ext cx="315" cy="31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0" name="文本框 79"/>
                <p:cNvSpPr txBox="1"/>
                <p:nvPr/>
              </p:nvSpPr>
              <p:spPr>
                <a:xfrm>
                  <a:off x="8208" y="4594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1" name="文本框 80"/>
                <p:cNvSpPr txBox="1"/>
                <p:nvPr/>
              </p:nvSpPr>
              <p:spPr>
                <a:xfrm>
                  <a:off x="10328" y="4594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2" name="文本框 81"/>
                <p:cNvSpPr txBox="1"/>
                <p:nvPr/>
              </p:nvSpPr>
              <p:spPr>
                <a:xfrm>
                  <a:off x="8208" y="6346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R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eshape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0328" y="6346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R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eshape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10328" y="7268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S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oftmax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8122" y="8161"/>
                  <a:ext cx="152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LayerN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orm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>
                  <a:off x="8122" y="8446"/>
                  <a:ext cx="152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S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igmoid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8208" y="7889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8" name="文本框 87"/>
                <p:cNvSpPr txBox="1"/>
                <p:nvPr/>
              </p:nvSpPr>
              <p:spPr>
                <a:xfrm>
                  <a:off x="14819" y="7262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S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oftmax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9" name="文本框 88"/>
                <p:cNvSpPr txBox="1"/>
                <p:nvPr/>
              </p:nvSpPr>
              <p:spPr>
                <a:xfrm>
                  <a:off x="14798" y="6346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R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eshape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14945" y="5367"/>
                  <a:ext cx="107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G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lobal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Po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oling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14798" y="4594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16575" y="4594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16576" y="6355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Conv(1</a:t>
                  </a:r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×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1)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4" name="文本框 93"/>
                <p:cNvSpPr txBox="1"/>
                <p:nvPr/>
              </p:nvSpPr>
              <p:spPr>
                <a:xfrm>
                  <a:off x="16576" y="7961"/>
                  <a:ext cx="134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R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eshape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5" name="文本框 94"/>
                <p:cNvSpPr txBox="1"/>
                <p:nvPr/>
              </p:nvSpPr>
              <p:spPr>
                <a:xfrm>
                  <a:off x="16551" y="8300"/>
                  <a:ext cx="1393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S</a:t>
                  </a:r>
                  <a:r>
                    <a:rPr lang="en-US" altLang="zh-CN" sz="10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igmoid</a:t>
                  </a:r>
                  <a:endParaRPr lang="en-US" altLang="zh-CN" sz="10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7993" y="4170"/>
                  <a:ext cx="75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Wv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7" name="文本框 96"/>
                <p:cNvSpPr txBox="1"/>
                <p:nvPr/>
              </p:nvSpPr>
              <p:spPr>
                <a:xfrm>
                  <a:off x="7993" y="7484"/>
                  <a:ext cx="75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Wz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10151" y="4173"/>
                  <a:ext cx="75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Wq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9" name="文本框 98"/>
                <p:cNvSpPr txBox="1"/>
                <p:nvPr/>
              </p:nvSpPr>
              <p:spPr>
                <a:xfrm>
                  <a:off x="16390" y="4173"/>
                  <a:ext cx="75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Wv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14603" y="4170"/>
                  <a:ext cx="75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Wq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1" name="文本框 100"/>
                <p:cNvSpPr txBox="1"/>
                <p:nvPr/>
              </p:nvSpPr>
              <p:spPr>
                <a:xfrm>
                  <a:off x="12519" y="9600"/>
                  <a:ext cx="62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Z</a:t>
                  </a:r>
                  <a:endParaRPr lang="en-US" altLang="zh-CN" sz="14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03" name="文本框 102"/>
              <p:cNvSpPr txBox="1"/>
              <p:nvPr/>
            </p:nvSpPr>
            <p:spPr>
              <a:xfrm>
                <a:off x="8892" y="4965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11014" y="4980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8877" y="6712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10872" y="6741"/>
                <a:ext cx="151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0401" y="8446"/>
                <a:ext cx="129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8859" y="7525"/>
                <a:ext cx="129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11475" y="9102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3318" y="9102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2995" y="9649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 rot="16200000">
                <a:off x="11754" y="6575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 rot="16200000">
                <a:off x="13113" y="6582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14507" y="6680"/>
                <a:ext cx="1069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14196" y="5942"/>
                <a:ext cx="138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>
                <a:off x="14053" y="4933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15832" y="4933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16012" y="6712"/>
                <a:ext cx="133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16094" y="7028"/>
                <a:ext cx="1069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C/2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14823" y="8446"/>
                <a:ext cx="133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12555" y="3262"/>
                <a:ext cx="62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X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2" name="文本框 121"/>
              <p:cNvSpPr txBox="1"/>
              <p:nvPr/>
            </p:nvSpPr>
            <p:spPr>
              <a:xfrm>
                <a:off x="12962" y="3311"/>
                <a:ext cx="145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200" b="1">
                    <a:solidFill>
                      <a:srgbClr val="9F9D9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</a:t>
                </a:r>
                <a:endParaRPr lang="en-US" altLang="zh-CN" sz="1200" b="1">
                  <a:solidFill>
                    <a:srgbClr val="9F9D9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sp>
          <p:nvSpPr>
            <p:cNvPr id="124" name="文本框 123"/>
            <p:cNvSpPr txBox="1"/>
            <p:nvPr/>
          </p:nvSpPr>
          <p:spPr>
            <a:xfrm>
              <a:off x="7988" y="3575"/>
              <a:ext cx="50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Channel-only Self-Attention</a:t>
              </a:r>
              <a:endParaRPr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13180" y="3575"/>
              <a:ext cx="50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patial-only Self-Attention</a:t>
              </a:r>
              <a:endParaRPr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8235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Cross Attention Module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交叉注意力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873490" y="152273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585" y="2229485"/>
            <a:ext cx="6108065" cy="45370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1154430"/>
            <a:ext cx="7519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https://magazine.sebastianraschka.com/p/understanding-multimodal-llms</a:t>
            </a:r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>
            <a:off x="-237490" y="2418715"/>
            <a:ext cx="5855970" cy="4116705"/>
            <a:chOff x="-374" y="3809"/>
            <a:chExt cx="9222" cy="6483"/>
          </a:xfrm>
        </p:grpSpPr>
        <p:sp>
          <p:nvSpPr>
            <p:cNvPr id="5" name="矩形 4"/>
            <p:cNvSpPr/>
            <p:nvPr/>
          </p:nvSpPr>
          <p:spPr>
            <a:xfrm>
              <a:off x="1069" y="4993"/>
              <a:ext cx="534" cy="933"/>
            </a:xfrm>
            <a:prstGeom prst="rect">
              <a:avLst/>
            </a:prstGeom>
            <a:solidFill>
              <a:srgbClr val="C8D8BA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069" y="6867"/>
              <a:ext cx="534" cy="933"/>
            </a:xfrm>
            <a:prstGeom prst="rect">
              <a:avLst/>
            </a:prstGeom>
            <a:solidFill>
              <a:srgbClr val="C8D8BA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585" y="4355"/>
              <a:ext cx="534" cy="933"/>
            </a:xfrm>
            <a:prstGeom prst="rect">
              <a:avLst/>
            </a:prstGeom>
            <a:solidFill>
              <a:srgbClr val="C1C4DD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585" y="6046"/>
              <a:ext cx="534" cy="933"/>
            </a:xfrm>
            <a:prstGeom prst="rect">
              <a:avLst/>
            </a:prstGeom>
            <a:solidFill>
              <a:srgbClr val="C1C4DD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585" y="7611"/>
              <a:ext cx="737" cy="933"/>
            </a:xfrm>
            <a:prstGeom prst="rect">
              <a:avLst/>
            </a:prstGeom>
            <a:solidFill>
              <a:srgbClr val="C1C4DD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814" y="7859"/>
              <a:ext cx="737" cy="423"/>
            </a:xfrm>
            <a:prstGeom prst="rect">
              <a:avLst/>
            </a:prstGeom>
            <a:solidFill>
              <a:srgbClr val="D5D5D5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897" y="6361"/>
              <a:ext cx="541" cy="423"/>
            </a:xfrm>
            <a:prstGeom prst="rect">
              <a:avLst/>
            </a:prstGeom>
            <a:solidFill>
              <a:srgbClr val="D5D5D5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288" y="6079"/>
              <a:ext cx="927" cy="933"/>
            </a:xfrm>
            <a:prstGeom prst="rect">
              <a:avLst/>
            </a:prstGeom>
            <a:solidFill>
              <a:srgbClr val="C8E5EE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862" y="7317"/>
              <a:ext cx="927" cy="933"/>
            </a:xfrm>
            <a:prstGeom prst="rect">
              <a:avLst/>
            </a:prstGeom>
            <a:solidFill>
              <a:srgbClr val="C8E5EE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7957" y="9075"/>
              <a:ext cx="737" cy="933"/>
            </a:xfrm>
            <a:prstGeom prst="rect">
              <a:avLst/>
            </a:prstGeom>
            <a:solidFill>
              <a:srgbClr val="F5BBD8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7" name="肘形连接符 16"/>
            <p:cNvCxnSpPr>
              <a:stCxn id="5" idx="3"/>
              <a:endCxn id="16" idx="2"/>
            </p:cNvCxnSpPr>
            <p:nvPr/>
          </p:nvCxnSpPr>
          <p:spPr>
            <a:xfrm flipV="1">
              <a:off x="1603" y="4851"/>
              <a:ext cx="1124" cy="609"/>
            </a:xfrm>
            <a:prstGeom prst="bentConnector3">
              <a:avLst>
                <a:gd name="adj1" fmla="val 5960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endCxn id="18" idx="2"/>
            </p:cNvCxnSpPr>
            <p:nvPr/>
          </p:nvCxnSpPr>
          <p:spPr>
            <a:xfrm flipV="1">
              <a:off x="1614" y="6573"/>
              <a:ext cx="1113" cy="539"/>
            </a:xfrm>
            <a:prstGeom prst="bentConnector3">
              <a:avLst>
                <a:gd name="adj1" fmla="val 6298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endCxn id="21" idx="2"/>
            </p:cNvCxnSpPr>
            <p:nvPr/>
          </p:nvCxnSpPr>
          <p:spPr>
            <a:xfrm>
              <a:off x="1609" y="7531"/>
              <a:ext cx="1005" cy="547"/>
            </a:xfrm>
            <a:prstGeom prst="bentConnector3">
              <a:avLst>
                <a:gd name="adj1" fmla="val 6587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22" idx="2"/>
            </p:cNvCxnSpPr>
            <p:nvPr/>
          </p:nvCxnSpPr>
          <p:spPr>
            <a:xfrm>
              <a:off x="3435" y="4840"/>
              <a:ext cx="9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2" idx="3"/>
              <a:endCxn id="24" idx="2"/>
            </p:cNvCxnSpPr>
            <p:nvPr/>
          </p:nvCxnSpPr>
          <p:spPr>
            <a:xfrm flipV="1">
              <a:off x="3438" y="6572"/>
              <a:ext cx="100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11" idx="3"/>
              <a:endCxn id="26" idx="2"/>
            </p:cNvCxnSpPr>
            <p:nvPr/>
          </p:nvCxnSpPr>
          <p:spPr>
            <a:xfrm flipV="1">
              <a:off x="3551" y="8070"/>
              <a:ext cx="89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V="1">
              <a:off x="5119" y="6570"/>
              <a:ext cx="100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/>
            <p:nvPr/>
          </p:nvCxnSpPr>
          <p:spPr>
            <a:xfrm rot="16200000" flipV="1">
              <a:off x="4507" y="5449"/>
              <a:ext cx="1728" cy="504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4" idx="2"/>
              <a:endCxn id="32" idx="0"/>
            </p:cNvCxnSpPr>
            <p:nvPr/>
          </p:nvCxnSpPr>
          <p:spPr>
            <a:xfrm>
              <a:off x="8326" y="8250"/>
              <a:ext cx="0" cy="6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肘形连接符 35"/>
            <p:cNvCxnSpPr>
              <a:stCxn id="35" idx="2"/>
              <a:endCxn id="10" idx="3"/>
            </p:cNvCxnSpPr>
            <p:nvPr/>
          </p:nvCxnSpPr>
          <p:spPr>
            <a:xfrm rot="10800000">
              <a:off x="5322" y="8077"/>
              <a:ext cx="3004" cy="375"/>
            </a:xfrm>
            <a:prstGeom prst="bentConnector3">
              <a:avLst>
                <a:gd name="adj1" fmla="val 5119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7215" y="6574"/>
              <a:ext cx="27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rot="5400000" flipV="1">
              <a:off x="8091" y="6941"/>
              <a:ext cx="38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圆角矩形 38"/>
            <p:cNvSpPr/>
            <p:nvPr/>
          </p:nvSpPr>
          <p:spPr>
            <a:xfrm>
              <a:off x="7529" y="6428"/>
              <a:ext cx="996" cy="3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4585" y="7502"/>
              <a:ext cx="754" cy="2"/>
            </a:xfrm>
            <a:prstGeom prst="straightConnector1">
              <a:avLst/>
            </a:prstGeom>
            <a:ln>
              <a:solidFill>
                <a:srgbClr val="3375B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2797" y="7756"/>
              <a:ext cx="754" cy="2"/>
            </a:xfrm>
            <a:prstGeom prst="straightConnector1">
              <a:avLst/>
            </a:prstGeom>
            <a:ln>
              <a:solidFill>
                <a:srgbClr val="3375B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>
              <a:off x="2897" y="6257"/>
              <a:ext cx="539" cy="2"/>
            </a:xfrm>
            <a:prstGeom prst="straightConnector1">
              <a:avLst/>
            </a:prstGeom>
            <a:ln>
              <a:solidFill>
                <a:srgbClr val="DB3C2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rot="16200000">
              <a:off x="2589" y="6584"/>
              <a:ext cx="386" cy="2"/>
            </a:xfrm>
            <a:prstGeom prst="straightConnector1">
              <a:avLst/>
            </a:prstGeom>
            <a:ln>
              <a:solidFill>
                <a:srgbClr val="E27A2F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rot="16200000">
              <a:off x="2504" y="8088"/>
              <a:ext cx="386" cy="2"/>
            </a:xfrm>
            <a:prstGeom prst="straightConnector1">
              <a:avLst/>
            </a:prstGeom>
            <a:ln>
              <a:solidFill>
                <a:srgbClr val="E27A2F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rot="16200000">
              <a:off x="2601" y="4839"/>
              <a:ext cx="386" cy="2"/>
            </a:xfrm>
            <a:prstGeom prst="straightConnector1">
              <a:avLst/>
            </a:prstGeom>
            <a:ln>
              <a:solidFill>
                <a:srgbClr val="E27A2F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>
              <a:off x="2896" y="4528"/>
              <a:ext cx="539" cy="2"/>
            </a:xfrm>
            <a:prstGeom prst="straightConnector1">
              <a:avLst/>
            </a:prstGeom>
            <a:ln>
              <a:solidFill>
                <a:srgbClr val="DB3C2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>
              <a:off x="1064" y="4923"/>
              <a:ext cx="539" cy="2"/>
            </a:xfrm>
            <a:prstGeom prst="straightConnector1">
              <a:avLst/>
            </a:prstGeom>
            <a:ln>
              <a:solidFill>
                <a:srgbClr val="E27A2F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>
              <a:off x="1064" y="6793"/>
              <a:ext cx="539" cy="2"/>
            </a:xfrm>
            <a:prstGeom prst="straightConnector1">
              <a:avLst/>
            </a:prstGeom>
            <a:ln>
              <a:solidFill>
                <a:srgbClr val="E27A2F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rot="16200000">
              <a:off x="4033" y="8081"/>
              <a:ext cx="918" cy="2"/>
            </a:xfrm>
            <a:prstGeom prst="straightConnector1">
              <a:avLst/>
            </a:prstGeom>
            <a:ln>
              <a:solidFill>
                <a:srgbClr val="54AE32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 rot="16200000">
              <a:off x="4056" y="6501"/>
              <a:ext cx="918" cy="2"/>
            </a:xfrm>
            <a:prstGeom prst="straightConnector1">
              <a:avLst/>
            </a:prstGeom>
            <a:ln>
              <a:solidFill>
                <a:srgbClr val="54AE32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rot="16200000">
              <a:off x="506" y="7325"/>
              <a:ext cx="918" cy="2"/>
            </a:xfrm>
            <a:prstGeom prst="straightConnector1">
              <a:avLst/>
            </a:prstGeom>
            <a:ln>
              <a:solidFill>
                <a:srgbClr val="54AE32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rot="16200000">
              <a:off x="508" y="5466"/>
              <a:ext cx="918" cy="2"/>
            </a:xfrm>
            <a:prstGeom prst="straightConnector1">
              <a:avLst/>
            </a:prstGeom>
            <a:ln>
              <a:solidFill>
                <a:srgbClr val="8246DA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rot="16200000">
              <a:off x="5743" y="6552"/>
              <a:ext cx="918" cy="2"/>
            </a:xfrm>
            <a:prstGeom prst="straightConnector1">
              <a:avLst/>
            </a:prstGeom>
            <a:ln>
              <a:solidFill>
                <a:srgbClr val="8246DA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 rot="16200000">
              <a:off x="7308" y="7790"/>
              <a:ext cx="918" cy="2"/>
            </a:xfrm>
            <a:prstGeom prst="straightConnector1">
              <a:avLst/>
            </a:prstGeom>
            <a:ln>
              <a:solidFill>
                <a:srgbClr val="8246DA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 rot="10800000">
              <a:off x="6318" y="5989"/>
              <a:ext cx="918" cy="2"/>
            </a:xfrm>
            <a:prstGeom prst="straightConnector1">
              <a:avLst/>
            </a:prstGeom>
            <a:ln>
              <a:solidFill>
                <a:srgbClr val="54AE32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rot="10800000">
              <a:off x="7853" y="7222"/>
              <a:ext cx="918" cy="2"/>
            </a:xfrm>
            <a:prstGeom prst="straightConnector1">
              <a:avLst/>
            </a:prstGeom>
            <a:ln>
              <a:solidFill>
                <a:srgbClr val="54AE32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7939" y="8973"/>
              <a:ext cx="754" cy="2"/>
            </a:xfrm>
            <a:prstGeom prst="straightConnector1">
              <a:avLst/>
            </a:prstGeom>
            <a:ln>
              <a:solidFill>
                <a:srgbClr val="3375B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矩形 63"/>
            <p:cNvSpPr/>
            <p:nvPr/>
          </p:nvSpPr>
          <p:spPr>
            <a:xfrm>
              <a:off x="2897" y="4613"/>
              <a:ext cx="541" cy="423"/>
            </a:xfrm>
            <a:prstGeom prst="rect">
              <a:avLst/>
            </a:prstGeom>
            <a:solidFill>
              <a:srgbClr val="D5D5D5"/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579" y="551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endParaRPr lang="en-US" altLang="zh-CN" sz="1200" i="1" baseline="-25000">
                <a:solidFill>
                  <a:srgbClr val="DB3C2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>
            <a:xfrm>
              <a:off x="4580" y="4276"/>
              <a:ext cx="539" cy="2"/>
            </a:xfrm>
            <a:prstGeom prst="straightConnector1">
              <a:avLst/>
            </a:prstGeom>
            <a:ln>
              <a:solidFill>
                <a:srgbClr val="DB3C2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>
              <a:off x="4580" y="5968"/>
              <a:ext cx="539" cy="2"/>
            </a:xfrm>
            <a:prstGeom prst="straightConnector1">
              <a:avLst/>
            </a:prstGeom>
            <a:ln>
              <a:solidFill>
                <a:srgbClr val="DB3C26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/>
          </p:nvSpPr>
          <p:spPr>
            <a:xfrm>
              <a:off x="2727" y="5816"/>
              <a:ext cx="856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</a:t>
              </a:r>
              <a:r>
                <a: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k</a:t>
              </a:r>
              <a:r>
                <a:rPr lang="en-US" altLang="zh-CN" sz="1200" i="1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=d</a:t>
              </a:r>
              <a:r>
                <a: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endParaRPr lang="en-US" altLang="zh-CN" sz="1200" i="1" baseline="-25000">
                <a:solidFill>
                  <a:srgbClr val="DB3C2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82" y="406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endParaRPr lang="en-US" altLang="zh-CN" sz="1200" i="1" baseline="-25000">
                <a:solidFill>
                  <a:srgbClr val="DB3C2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4579" y="3809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endParaRPr lang="en-US" altLang="zh-CN" sz="1200" i="1" baseline="-25000">
                <a:solidFill>
                  <a:srgbClr val="DB3C2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050" y="4518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E27A2F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en-US" altLang="zh-CN" sz="1200" i="1" baseline="-25000">
                <a:solidFill>
                  <a:srgbClr val="E27A2F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069" y="6392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E27A2F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en-US" altLang="zh-CN" sz="1200" i="1" baseline="-25000">
                <a:solidFill>
                  <a:srgbClr val="E27A2F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910" y="7344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endParaRPr lang="en-US" altLang="zh-CN" sz="1200" i="1" baseline="-25000">
                <a:solidFill>
                  <a:srgbClr val="3375B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4681" y="7100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endParaRPr lang="en-US" altLang="zh-CN" sz="1200" i="1" baseline="-25000">
                <a:solidFill>
                  <a:srgbClr val="3375B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6289" y="5582"/>
              <a:ext cx="926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54AE32"/>
                  </a:solidFill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  <a:endParaRPr lang="en-US" altLang="zh-CN" sz="1200" i="1">
                <a:solidFill>
                  <a:srgbClr val="54AE3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8304" y="683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54AE32"/>
                  </a:solidFill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  <a:endParaRPr lang="en-US" altLang="zh-CN" sz="1200" i="1">
                <a:solidFill>
                  <a:srgbClr val="54AE3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4058" y="8147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54AE32"/>
                  </a:solidFill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  <a:endParaRPr lang="en-US" altLang="zh-CN" sz="1200" i="1">
                <a:solidFill>
                  <a:srgbClr val="54AE3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4058" y="651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54AE32"/>
                  </a:solidFill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  <a:endParaRPr lang="en-US" altLang="zh-CN" sz="1200" i="1">
                <a:solidFill>
                  <a:srgbClr val="54AE3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4058" y="485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  <a:endParaRPr lang="en-US" altLang="zh-CN" sz="1200" i="1">
                <a:solidFill>
                  <a:srgbClr val="8246D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1" name="直接箭头连接符 80"/>
            <p:cNvCxnSpPr/>
            <p:nvPr/>
          </p:nvCxnSpPr>
          <p:spPr>
            <a:xfrm rot="16200000">
              <a:off x="4054" y="4828"/>
              <a:ext cx="918" cy="2"/>
            </a:xfrm>
            <a:prstGeom prst="straightConnector1">
              <a:avLst/>
            </a:prstGeom>
            <a:ln>
              <a:solidFill>
                <a:srgbClr val="8246DA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5749" y="651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  <a:endParaRPr lang="en-US" altLang="zh-CN" sz="1200" i="1">
                <a:solidFill>
                  <a:srgbClr val="8246D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524" y="5213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  <a:endParaRPr lang="en-US" altLang="zh-CN" sz="1200" i="1">
                <a:solidFill>
                  <a:srgbClr val="8246D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05" y="7100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54AE32"/>
                  </a:solidFill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  <a:endParaRPr lang="en-US" altLang="zh-CN" sz="1200" i="1">
                <a:solidFill>
                  <a:srgbClr val="54AE3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332" y="7534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  <a:endParaRPr lang="en-US" altLang="zh-CN" sz="1200" i="1">
                <a:solidFill>
                  <a:srgbClr val="8246D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394" y="9287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  <a:endParaRPr lang="en-US" altLang="zh-CN" sz="1200" i="1">
                <a:solidFill>
                  <a:srgbClr val="8246D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8" name="直接箭头连接符 87"/>
            <p:cNvCxnSpPr/>
            <p:nvPr/>
          </p:nvCxnSpPr>
          <p:spPr>
            <a:xfrm rot="16200000">
              <a:off x="7393" y="9533"/>
              <a:ext cx="918" cy="2"/>
            </a:xfrm>
            <a:prstGeom prst="straightConnector1">
              <a:avLst/>
            </a:prstGeom>
            <a:ln>
              <a:solidFill>
                <a:srgbClr val="8246DA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7822" y="8541"/>
              <a:ext cx="545" cy="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i="1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endParaRPr lang="en-US" altLang="zh-CN" sz="1200" i="1" baseline="-25000">
                <a:solidFill>
                  <a:srgbClr val="3375B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073" y="5213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1073" y="7100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4591" y="4553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4585" y="6259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704" y="7837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8051" y="7544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99" name="组合 98"/>
            <p:cNvGrpSpPr/>
            <p:nvPr/>
          </p:nvGrpSpPr>
          <p:grpSpPr>
            <a:xfrm rot="0">
              <a:off x="2777" y="4503"/>
              <a:ext cx="734" cy="553"/>
              <a:chOff x="4698" y="4426"/>
              <a:chExt cx="734" cy="553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4698" y="4497"/>
                <a:ext cx="73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W</a:t>
                </a:r>
                <a:r>
                  <a: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5009" y="4426"/>
                <a:ext cx="421" cy="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 rot="0">
              <a:off x="2777" y="6265"/>
              <a:ext cx="734" cy="554"/>
              <a:chOff x="4698" y="4426"/>
              <a:chExt cx="734" cy="554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4698" y="4497"/>
                <a:ext cx="73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W</a:t>
                </a:r>
                <a:r>
                  <a: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rPr>
                  <a:t>k</a:t>
                </a:r>
                <a:endPara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5009" y="4426"/>
                <a:ext cx="421" cy="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 rot="0">
              <a:off x="2798" y="7766"/>
              <a:ext cx="734" cy="554"/>
              <a:chOff x="4698" y="4426"/>
              <a:chExt cx="734" cy="554"/>
            </a:xfrm>
          </p:grpSpPr>
          <p:sp>
            <p:nvSpPr>
              <p:cNvPr id="107" name="文本框 106"/>
              <p:cNvSpPr txBox="1"/>
              <p:nvPr/>
            </p:nvSpPr>
            <p:spPr>
              <a:xfrm>
                <a:off x="4698" y="4497"/>
                <a:ext cx="73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W</a:t>
                </a:r>
                <a:r>
                  <a: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endPara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5009" y="4426"/>
                <a:ext cx="421" cy="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 rot="0">
              <a:off x="6234" y="6235"/>
              <a:ext cx="963" cy="554"/>
              <a:chOff x="4469" y="4426"/>
              <a:chExt cx="963" cy="554"/>
            </a:xfrm>
          </p:grpSpPr>
          <p:sp>
            <p:nvSpPr>
              <p:cNvPr id="110" name="文本框 109"/>
              <p:cNvSpPr txBox="1"/>
              <p:nvPr/>
            </p:nvSpPr>
            <p:spPr>
              <a:xfrm>
                <a:off x="4469" y="4497"/>
                <a:ext cx="96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QK</a:t>
                </a:r>
                <a:endPara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5009" y="4426"/>
                <a:ext cx="421" cy="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12" name="文本框 111"/>
            <p:cNvSpPr txBox="1"/>
            <p:nvPr/>
          </p:nvSpPr>
          <p:spPr>
            <a:xfrm>
              <a:off x="8051" y="9297"/>
              <a:ext cx="5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Z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7483" y="6381"/>
              <a:ext cx="111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Softmax</a:t>
              </a:r>
              <a:endParaRPr lang="en-US" altLang="zh-CN" sz="1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 rot="0">
              <a:off x="2826" y="5027"/>
              <a:ext cx="664" cy="264"/>
              <a:chOff x="4355" y="3983"/>
              <a:chExt cx="664" cy="264"/>
            </a:xfrm>
          </p:grpSpPr>
          <p:sp>
            <p:nvSpPr>
              <p:cNvPr id="114" name="圆角矩形 113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92929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4355" y="3983"/>
                <a:ext cx="664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Weights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 rot="0">
              <a:off x="2823" y="6783"/>
              <a:ext cx="664" cy="264"/>
              <a:chOff x="4355" y="3983"/>
              <a:chExt cx="664" cy="264"/>
            </a:xfrm>
          </p:grpSpPr>
          <p:sp>
            <p:nvSpPr>
              <p:cNvPr id="118" name="圆角矩形 117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92929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4355" y="3983"/>
                <a:ext cx="664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Weights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 rot="0">
              <a:off x="2866" y="8286"/>
              <a:ext cx="664" cy="264"/>
              <a:chOff x="4355" y="3983"/>
              <a:chExt cx="664" cy="264"/>
            </a:xfrm>
          </p:grpSpPr>
          <p:sp>
            <p:nvSpPr>
              <p:cNvPr id="121" name="圆角矩形 120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92929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文本框 121"/>
              <p:cNvSpPr txBox="1"/>
              <p:nvPr/>
            </p:nvSpPr>
            <p:spPr>
              <a:xfrm>
                <a:off x="4355" y="3983"/>
                <a:ext cx="664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Weights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 rot="0">
              <a:off x="1013" y="7785"/>
              <a:ext cx="645" cy="265"/>
              <a:chOff x="4367" y="3983"/>
              <a:chExt cx="645" cy="265"/>
            </a:xfrm>
          </p:grpSpPr>
          <p:sp>
            <p:nvSpPr>
              <p:cNvPr id="127" name="圆角矩形 126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4367" y="3983"/>
                <a:ext cx="645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Inputs2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 rot="0">
              <a:off x="1013" y="5914"/>
              <a:ext cx="645" cy="265"/>
              <a:chOff x="4367" y="3983"/>
              <a:chExt cx="645" cy="265"/>
            </a:xfrm>
          </p:grpSpPr>
          <p:sp>
            <p:nvSpPr>
              <p:cNvPr id="130" name="圆角矩形 129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1" name="文本框 130"/>
              <p:cNvSpPr txBox="1"/>
              <p:nvPr/>
            </p:nvSpPr>
            <p:spPr>
              <a:xfrm>
                <a:off x="4367" y="3983"/>
                <a:ext cx="645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Inputs2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 rot="0">
              <a:off x="6417" y="7039"/>
              <a:ext cx="726" cy="386"/>
              <a:chOff x="4257" y="3568"/>
              <a:chExt cx="726" cy="386"/>
            </a:xfrm>
          </p:grpSpPr>
          <p:sp>
            <p:nvSpPr>
              <p:cNvPr id="133" name="圆角矩形 132"/>
              <p:cNvSpPr/>
              <p:nvPr/>
            </p:nvSpPr>
            <p:spPr>
              <a:xfrm>
                <a:off x="4343" y="3594"/>
                <a:ext cx="557" cy="316"/>
              </a:xfrm>
              <a:prstGeom prst="roundRect">
                <a:avLst>
                  <a:gd name="adj" fmla="val 38801"/>
                </a:avLst>
              </a:prstGeom>
              <a:solidFill>
                <a:srgbClr val="92929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4257" y="3568"/>
                <a:ext cx="72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Attention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matrix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 rot="0">
              <a:off x="8004" y="10028"/>
              <a:ext cx="645" cy="265"/>
              <a:chOff x="4367" y="3983"/>
              <a:chExt cx="645" cy="265"/>
            </a:xfrm>
          </p:grpSpPr>
          <p:sp>
            <p:nvSpPr>
              <p:cNvPr id="139" name="圆角矩形 138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0" name="文本框 139"/>
              <p:cNvSpPr txBox="1"/>
              <p:nvPr/>
            </p:nvSpPr>
            <p:spPr>
              <a:xfrm>
                <a:off x="4367" y="3983"/>
                <a:ext cx="645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Outputs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141" name="文本框 140"/>
            <p:cNvSpPr txBox="1"/>
            <p:nvPr/>
          </p:nvSpPr>
          <p:spPr>
            <a:xfrm>
              <a:off x="-374" y="5111"/>
              <a:ext cx="11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number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of tokens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709" y="4019"/>
              <a:ext cx="122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Embedding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size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-374" y="6986"/>
              <a:ext cx="11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number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of tokens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8235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Self Attention Module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自注意力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327390" y="125158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251585"/>
            <a:ext cx="6557010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i="1">
                <a:latin typeface="Times New Roman" panose="02020603050405020304" charset="0"/>
                <a:cs typeface="Times New Roman" panose="02020603050405020304" charset="0"/>
              </a:rPr>
              <a:t>https://magazine.sebastianraschka.com/p/understanding-multimodal-llms</a:t>
            </a:r>
            <a:endParaRPr lang="en-US" altLang="zh-CN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85" y="2032000"/>
            <a:ext cx="5819775" cy="48260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73025" y="2715260"/>
            <a:ext cx="5843270" cy="4121150"/>
            <a:chOff x="115" y="4276"/>
            <a:chExt cx="9202" cy="6490"/>
          </a:xfrm>
        </p:grpSpPr>
        <p:grpSp>
          <p:nvGrpSpPr>
            <p:cNvPr id="30" name="组合 29"/>
            <p:cNvGrpSpPr/>
            <p:nvPr/>
          </p:nvGrpSpPr>
          <p:grpSpPr>
            <a:xfrm>
              <a:off x="115" y="4276"/>
              <a:ext cx="9202" cy="6198"/>
              <a:chOff x="-354" y="3809"/>
              <a:chExt cx="9202" cy="619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069" y="6094"/>
                <a:ext cx="534" cy="933"/>
              </a:xfrm>
              <a:prstGeom prst="rect">
                <a:avLst/>
              </a:prstGeom>
              <a:solidFill>
                <a:srgbClr val="C8D8BA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4585" y="4355"/>
                <a:ext cx="534" cy="933"/>
              </a:xfrm>
              <a:prstGeom prst="rect">
                <a:avLst/>
              </a:prstGeom>
              <a:solidFill>
                <a:srgbClr val="C1C4DD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4585" y="6046"/>
                <a:ext cx="534" cy="933"/>
              </a:xfrm>
              <a:prstGeom prst="rect">
                <a:avLst/>
              </a:prstGeom>
              <a:solidFill>
                <a:srgbClr val="C1C4DD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585" y="7611"/>
                <a:ext cx="737" cy="933"/>
              </a:xfrm>
              <a:prstGeom prst="rect">
                <a:avLst/>
              </a:prstGeom>
              <a:solidFill>
                <a:srgbClr val="C1C4DD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814" y="7859"/>
                <a:ext cx="737" cy="423"/>
              </a:xfrm>
              <a:prstGeom prst="rect">
                <a:avLst/>
              </a:prstGeom>
              <a:solidFill>
                <a:srgbClr val="D5D5D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897" y="6361"/>
                <a:ext cx="541" cy="423"/>
              </a:xfrm>
              <a:prstGeom prst="rect">
                <a:avLst/>
              </a:prstGeom>
              <a:solidFill>
                <a:srgbClr val="D5D5D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288" y="6079"/>
                <a:ext cx="927" cy="933"/>
              </a:xfrm>
              <a:prstGeom prst="rect">
                <a:avLst/>
              </a:prstGeom>
              <a:solidFill>
                <a:srgbClr val="C8E5EE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862" y="7317"/>
                <a:ext cx="927" cy="933"/>
              </a:xfrm>
              <a:prstGeom prst="rect">
                <a:avLst/>
              </a:prstGeom>
              <a:solidFill>
                <a:srgbClr val="C8E5EE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7957" y="9075"/>
                <a:ext cx="737" cy="933"/>
              </a:xfrm>
              <a:prstGeom prst="rect">
                <a:avLst/>
              </a:prstGeom>
              <a:solidFill>
                <a:srgbClr val="F5BBD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" name="肘形连接符 16"/>
              <p:cNvCxnSpPr>
                <a:stCxn id="18" idx="6"/>
                <a:endCxn id="22" idx="2"/>
              </p:cNvCxnSpPr>
              <p:nvPr/>
            </p:nvCxnSpPr>
            <p:spPr>
              <a:xfrm flipV="1">
                <a:off x="1595" y="4842"/>
                <a:ext cx="1091" cy="1414"/>
              </a:xfrm>
              <a:prstGeom prst="bentConnector3">
                <a:avLst>
                  <a:gd name="adj1" fmla="val 50046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肘形连接符 19"/>
              <p:cNvCxnSpPr>
                <a:stCxn id="16" idx="6"/>
                <a:endCxn id="21" idx="2"/>
              </p:cNvCxnSpPr>
              <p:nvPr/>
            </p:nvCxnSpPr>
            <p:spPr>
              <a:xfrm>
                <a:off x="1595" y="6875"/>
                <a:ext cx="1019" cy="1191"/>
              </a:xfrm>
              <a:prstGeom prst="bentConnector3">
                <a:avLst>
                  <a:gd name="adj1" fmla="val 5004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3435" y="4840"/>
                <a:ext cx="98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12" idx="3"/>
              </p:cNvCxnSpPr>
              <p:nvPr/>
            </p:nvCxnSpPr>
            <p:spPr>
              <a:xfrm flipV="1">
                <a:off x="3438" y="6572"/>
                <a:ext cx="1007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11" idx="3"/>
              </p:cNvCxnSpPr>
              <p:nvPr/>
            </p:nvCxnSpPr>
            <p:spPr>
              <a:xfrm flipV="1">
                <a:off x="3551" y="8070"/>
                <a:ext cx="894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 flipV="1">
                <a:off x="5119" y="6570"/>
                <a:ext cx="1007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肘形连接符 30"/>
              <p:cNvCxnSpPr/>
              <p:nvPr/>
            </p:nvCxnSpPr>
            <p:spPr>
              <a:xfrm rot="16200000" flipV="1">
                <a:off x="4507" y="5446"/>
                <a:ext cx="1728" cy="504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stCxn id="14" idx="2"/>
              </p:cNvCxnSpPr>
              <p:nvPr/>
            </p:nvCxnSpPr>
            <p:spPr>
              <a:xfrm>
                <a:off x="8326" y="8250"/>
                <a:ext cx="0" cy="6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35"/>
              <p:cNvCxnSpPr>
                <a:endCxn id="10" idx="3"/>
              </p:cNvCxnSpPr>
              <p:nvPr/>
            </p:nvCxnSpPr>
            <p:spPr>
              <a:xfrm rot="10800000">
                <a:off x="5322" y="8077"/>
                <a:ext cx="3004" cy="375"/>
              </a:xfrm>
              <a:prstGeom prst="bentConnector3">
                <a:avLst>
                  <a:gd name="adj1" fmla="val 51198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 flipV="1">
                <a:off x="7215" y="6574"/>
                <a:ext cx="272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/>
              <p:nvPr/>
            </p:nvCxnSpPr>
            <p:spPr>
              <a:xfrm rot="5400000" flipV="1">
                <a:off x="8091" y="6941"/>
                <a:ext cx="386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圆角矩形 38"/>
              <p:cNvSpPr/>
              <p:nvPr/>
            </p:nvSpPr>
            <p:spPr>
              <a:xfrm>
                <a:off x="7529" y="6428"/>
                <a:ext cx="996" cy="32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箭头连接符 42"/>
              <p:cNvCxnSpPr/>
              <p:nvPr/>
            </p:nvCxnSpPr>
            <p:spPr>
              <a:xfrm>
                <a:off x="4585" y="7502"/>
                <a:ext cx="754" cy="2"/>
              </a:xfrm>
              <a:prstGeom prst="straightConnector1">
                <a:avLst/>
              </a:prstGeom>
              <a:ln>
                <a:solidFill>
                  <a:srgbClr val="3375B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2797" y="7756"/>
                <a:ext cx="754" cy="2"/>
              </a:xfrm>
              <a:prstGeom prst="straightConnector1">
                <a:avLst/>
              </a:prstGeom>
              <a:ln>
                <a:solidFill>
                  <a:srgbClr val="3375B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/>
              <p:nvPr/>
            </p:nvCxnSpPr>
            <p:spPr>
              <a:xfrm>
                <a:off x="2897" y="6257"/>
                <a:ext cx="539" cy="2"/>
              </a:xfrm>
              <a:prstGeom prst="straightConnector1">
                <a:avLst/>
              </a:prstGeom>
              <a:ln>
                <a:solidFill>
                  <a:srgbClr val="DB3C2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/>
              <p:nvPr/>
            </p:nvCxnSpPr>
            <p:spPr>
              <a:xfrm rot="16200000">
                <a:off x="2589" y="6584"/>
                <a:ext cx="386" cy="2"/>
              </a:xfrm>
              <a:prstGeom prst="straightConnector1">
                <a:avLst/>
              </a:prstGeom>
              <a:ln>
                <a:solidFill>
                  <a:srgbClr val="E27A2F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/>
              <p:nvPr/>
            </p:nvCxnSpPr>
            <p:spPr>
              <a:xfrm rot="16200000">
                <a:off x="2504" y="8088"/>
                <a:ext cx="386" cy="2"/>
              </a:xfrm>
              <a:prstGeom prst="straightConnector1">
                <a:avLst/>
              </a:prstGeom>
              <a:ln>
                <a:solidFill>
                  <a:srgbClr val="E27A2F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/>
              <p:nvPr/>
            </p:nvCxnSpPr>
            <p:spPr>
              <a:xfrm rot="16200000">
                <a:off x="2601" y="4839"/>
                <a:ext cx="386" cy="2"/>
              </a:xfrm>
              <a:prstGeom prst="straightConnector1">
                <a:avLst/>
              </a:prstGeom>
              <a:ln>
                <a:solidFill>
                  <a:srgbClr val="E27A2F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>
                <a:off x="2896" y="4528"/>
                <a:ext cx="539" cy="2"/>
              </a:xfrm>
              <a:prstGeom prst="straightConnector1">
                <a:avLst/>
              </a:prstGeom>
              <a:ln>
                <a:solidFill>
                  <a:srgbClr val="DB3C2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>
                <a:off x="1064" y="6020"/>
                <a:ext cx="539" cy="2"/>
              </a:xfrm>
              <a:prstGeom prst="straightConnector1">
                <a:avLst/>
              </a:prstGeom>
              <a:ln>
                <a:solidFill>
                  <a:srgbClr val="E27A2F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/>
              <p:nvPr/>
            </p:nvCxnSpPr>
            <p:spPr>
              <a:xfrm rot="16200000">
                <a:off x="4033" y="8081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/>
              <p:nvPr/>
            </p:nvCxnSpPr>
            <p:spPr>
              <a:xfrm rot="16200000">
                <a:off x="4056" y="6501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/>
              <p:nvPr/>
            </p:nvCxnSpPr>
            <p:spPr>
              <a:xfrm rot="16200000">
                <a:off x="506" y="6552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/>
              <p:nvPr/>
            </p:nvCxnSpPr>
            <p:spPr>
              <a:xfrm rot="16200000">
                <a:off x="5743" y="6552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/>
              <p:nvPr/>
            </p:nvCxnSpPr>
            <p:spPr>
              <a:xfrm rot="16200000">
                <a:off x="7308" y="7790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 rot="10800000">
                <a:off x="6318" y="5989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 rot="10800000">
                <a:off x="7853" y="7222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/>
              <p:cNvCxnSpPr/>
              <p:nvPr/>
            </p:nvCxnSpPr>
            <p:spPr>
              <a:xfrm>
                <a:off x="7939" y="8973"/>
                <a:ext cx="754" cy="2"/>
              </a:xfrm>
              <a:prstGeom prst="straightConnector1">
                <a:avLst/>
              </a:prstGeom>
              <a:ln>
                <a:solidFill>
                  <a:srgbClr val="3375B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4" name="矩形 63"/>
              <p:cNvSpPr/>
              <p:nvPr/>
            </p:nvSpPr>
            <p:spPr>
              <a:xfrm>
                <a:off x="2897" y="4613"/>
                <a:ext cx="541" cy="423"/>
              </a:xfrm>
              <a:prstGeom prst="rect">
                <a:avLst/>
              </a:prstGeom>
              <a:solidFill>
                <a:srgbClr val="D5D5D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4579" y="551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66" name="直接箭头连接符 65"/>
              <p:cNvCxnSpPr/>
              <p:nvPr/>
            </p:nvCxnSpPr>
            <p:spPr>
              <a:xfrm>
                <a:off x="4580" y="4276"/>
                <a:ext cx="539" cy="2"/>
              </a:xfrm>
              <a:prstGeom prst="straightConnector1">
                <a:avLst/>
              </a:prstGeom>
              <a:ln>
                <a:solidFill>
                  <a:srgbClr val="DB3C2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/>
            </p:nvCxnSpPr>
            <p:spPr>
              <a:xfrm>
                <a:off x="4580" y="5968"/>
                <a:ext cx="539" cy="2"/>
              </a:xfrm>
              <a:prstGeom prst="straightConnector1">
                <a:avLst/>
              </a:prstGeom>
              <a:ln>
                <a:solidFill>
                  <a:srgbClr val="DB3C26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8" name="文本框 67"/>
              <p:cNvSpPr txBox="1"/>
              <p:nvPr/>
            </p:nvSpPr>
            <p:spPr>
              <a:xfrm>
                <a:off x="2727" y="5816"/>
                <a:ext cx="856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</a:t>
                </a:r>
                <a:r>
                  <a:rPr lang="en-US" altLang="zh-CN" sz="1200" i="1" baseline="-25000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k</a:t>
                </a:r>
                <a:r>
                  <a:rPr lang="en-US" altLang="zh-CN" sz="1200" i="1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=d</a:t>
                </a:r>
                <a:r>
                  <a:rPr lang="en-US" altLang="zh-CN" sz="1200" i="1" baseline="-25000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2882" y="406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579" y="3809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DB3C2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200" i="1" baseline="-25000">
                  <a:solidFill>
                    <a:srgbClr val="DB3C2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1069" y="5619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E27A2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endParaRPr lang="en-US" altLang="zh-CN" sz="1200" i="1" baseline="-25000">
                  <a:solidFill>
                    <a:srgbClr val="E27A2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910" y="7344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endPara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4681" y="7100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endPara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6289" y="5582"/>
                <a:ext cx="926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8304" y="683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4058" y="8147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4058" y="651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4058" y="485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81" name="直接箭头连接符 80"/>
              <p:cNvCxnSpPr/>
              <p:nvPr/>
            </p:nvCxnSpPr>
            <p:spPr>
              <a:xfrm rot="16200000">
                <a:off x="4054" y="4828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2" name="文本框 81"/>
              <p:cNvSpPr txBox="1"/>
              <p:nvPr/>
            </p:nvSpPr>
            <p:spPr>
              <a:xfrm>
                <a:off x="5749" y="651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505" y="6327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7332" y="7534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7394" y="9287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8246D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200" i="1">
                  <a:solidFill>
                    <a:srgbClr val="8246D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88" name="直接箭头连接符 87"/>
              <p:cNvCxnSpPr/>
              <p:nvPr/>
            </p:nvCxnSpPr>
            <p:spPr>
              <a:xfrm rot="16200000">
                <a:off x="7393" y="9533"/>
                <a:ext cx="918" cy="2"/>
              </a:xfrm>
              <a:prstGeom prst="straightConnector1">
                <a:avLst/>
              </a:prstGeom>
              <a:ln>
                <a:solidFill>
                  <a:srgbClr val="8246DA"/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0" name="文本框 89"/>
              <p:cNvSpPr txBox="1"/>
              <p:nvPr/>
            </p:nvSpPr>
            <p:spPr>
              <a:xfrm>
                <a:off x="7822" y="8541"/>
                <a:ext cx="545" cy="4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i="1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r>
                  <a:rPr lang="en-US" altLang="zh-CN" sz="1200" i="1" baseline="-25000">
                    <a:solidFill>
                      <a:srgbClr val="3375B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endParaRPr lang="en-US" altLang="zh-CN" sz="1200" i="1" baseline="-25000">
                  <a:solidFill>
                    <a:srgbClr val="3375B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1073" y="6327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x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4591" y="4553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4585" y="6259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K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4704" y="7837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8051" y="7544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99" name="组合 98"/>
              <p:cNvGrpSpPr/>
              <p:nvPr/>
            </p:nvGrpSpPr>
            <p:grpSpPr>
              <a:xfrm rot="0">
                <a:off x="2777" y="4503"/>
                <a:ext cx="734" cy="553"/>
                <a:chOff x="4698" y="4426"/>
                <a:chExt cx="734" cy="553"/>
              </a:xfrm>
            </p:grpSpPr>
            <p:sp>
              <p:nvSpPr>
                <p:cNvPr id="97" name="文本框 96"/>
                <p:cNvSpPr txBox="1"/>
                <p:nvPr/>
              </p:nvSpPr>
              <p:spPr>
                <a:xfrm>
                  <a:off x="4698" y="4497"/>
                  <a:ext cx="73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</a:t>
                  </a:r>
                  <a:r>
                    <a:rPr lang="en-US" altLang="zh-CN" sz="1400" b="1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q</a:t>
                  </a:r>
                  <a:endPara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5009" y="4426"/>
                  <a:ext cx="421" cy="3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 rot="0">
                <a:off x="2777" y="6265"/>
                <a:ext cx="734" cy="554"/>
                <a:chOff x="4698" y="4426"/>
                <a:chExt cx="734" cy="554"/>
              </a:xfrm>
            </p:grpSpPr>
            <p:sp>
              <p:nvSpPr>
                <p:cNvPr id="101" name="文本框 100"/>
                <p:cNvSpPr txBox="1"/>
                <p:nvPr/>
              </p:nvSpPr>
              <p:spPr>
                <a:xfrm>
                  <a:off x="4698" y="4497"/>
                  <a:ext cx="73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</a:t>
                  </a:r>
                  <a:r>
                    <a:rPr lang="en-US" altLang="zh-CN" sz="1400" b="1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k</a:t>
                  </a:r>
                  <a:endPara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5009" y="4426"/>
                  <a:ext cx="421" cy="3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 rot="0">
                <a:off x="2798" y="7766"/>
                <a:ext cx="734" cy="554"/>
                <a:chOff x="4698" y="4426"/>
                <a:chExt cx="734" cy="554"/>
              </a:xfrm>
            </p:grpSpPr>
            <p:sp>
              <p:nvSpPr>
                <p:cNvPr id="107" name="文本框 106"/>
                <p:cNvSpPr txBox="1"/>
                <p:nvPr/>
              </p:nvSpPr>
              <p:spPr>
                <a:xfrm>
                  <a:off x="4698" y="4497"/>
                  <a:ext cx="73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W</a:t>
                  </a:r>
                  <a:r>
                    <a:rPr lang="en-US" altLang="zh-CN" sz="1400" b="1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v</a:t>
                  </a:r>
                  <a:endPara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5009" y="4426"/>
                  <a:ext cx="421" cy="3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 rot="0">
                <a:off x="6234" y="6235"/>
                <a:ext cx="963" cy="554"/>
                <a:chOff x="4469" y="4426"/>
                <a:chExt cx="963" cy="554"/>
              </a:xfrm>
            </p:grpSpPr>
            <p:sp>
              <p:nvSpPr>
                <p:cNvPr id="110" name="文本框 109"/>
                <p:cNvSpPr txBox="1"/>
                <p:nvPr/>
              </p:nvSpPr>
              <p:spPr>
                <a:xfrm>
                  <a:off x="4469" y="4497"/>
                  <a:ext cx="963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>
                      <a:latin typeface="Times New Roman" panose="02020603050405020304" charset="0"/>
                      <a:cs typeface="Times New Roman" panose="02020603050405020304" charset="0"/>
                    </a:rPr>
                    <a:t>QK</a:t>
                  </a:r>
                  <a:endParaRPr lang="en-US" altLang="zh-CN" sz="1400" b="1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11" name="文本框 110"/>
                <p:cNvSpPr txBox="1"/>
                <p:nvPr/>
              </p:nvSpPr>
              <p:spPr>
                <a:xfrm>
                  <a:off x="5009" y="4426"/>
                  <a:ext cx="421" cy="3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4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14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12" name="文本框 111"/>
              <p:cNvSpPr txBox="1"/>
              <p:nvPr/>
            </p:nvSpPr>
            <p:spPr>
              <a:xfrm>
                <a:off x="8051" y="9297"/>
                <a:ext cx="52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Z</a:t>
                </a:r>
                <a:endPara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7483" y="6381"/>
                <a:ext cx="1112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Softmax</a:t>
                </a:r>
                <a:endParaRPr lang="en-US" altLang="zh-CN" sz="1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16" name="组合 115"/>
              <p:cNvGrpSpPr/>
              <p:nvPr/>
            </p:nvGrpSpPr>
            <p:grpSpPr>
              <a:xfrm rot="0">
                <a:off x="2826" y="5027"/>
                <a:ext cx="664" cy="264"/>
                <a:chOff x="4355" y="3983"/>
                <a:chExt cx="664" cy="264"/>
              </a:xfrm>
            </p:grpSpPr>
            <p:sp>
              <p:nvSpPr>
                <p:cNvPr id="114" name="圆角矩形 113"/>
                <p:cNvSpPr/>
                <p:nvPr/>
              </p:nvSpPr>
              <p:spPr>
                <a:xfrm>
                  <a:off x="4450" y="4036"/>
                  <a:ext cx="474" cy="15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29292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5" name="文本框 114"/>
                <p:cNvSpPr txBox="1"/>
                <p:nvPr/>
              </p:nvSpPr>
              <p:spPr>
                <a:xfrm>
                  <a:off x="4355" y="3983"/>
                  <a:ext cx="664" cy="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Weights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17" name="组合 116"/>
              <p:cNvGrpSpPr/>
              <p:nvPr/>
            </p:nvGrpSpPr>
            <p:grpSpPr>
              <a:xfrm rot="0">
                <a:off x="2823" y="6783"/>
                <a:ext cx="664" cy="264"/>
                <a:chOff x="4355" y="3983"/>
                <a:chExt cx="664" cy="264"/>
              </a:xfrm>
            </p:grpSpPr>
            <p:sp>
              <p:nvSpPr>
                <p:cNvPr id="118" name="圆角矩形 117"/>
                <p:cNvSpPr/>
                <p:nvPr/>
              </p:nvSpPr>
              <p:spPr>
                <a:xfrm>
                  <a:off x="4450" y="4036"/>
                  <a:ext cx="474" cy="15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29292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4355" y="3983"/>
                  <a:ext cx="664" cy="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Weights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 rot="0">
                <a:off x="2866" y="8286"/>
                <a:ext cx="664" cy="264"/>
                <a:chOff x="4355" y="3983"/>
                <a:chExt cx="664" cy="264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4450" y="4036"/>
                  <a:ext cx="474" cy="15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29292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4355" y="3983"/>
                  <a:ext cx="664" cy="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Weights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26" name="组合 125"/>
              <p:cNvGrpSpPr/>
              <p:nvPr/>
            </p:nvGrpSpPr>
            <p:grpSpPr>
              <a:xfrm rot="0">
                <a:off x="1013" y="7012"/>
                <a:ext cx="645" cy="265"/>
                <a:chOff x="4367" y="3983"/>
                <a:chExt cx="645" cy="265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4450" y="4036"/>
                  <a:ext cx="474" cy="15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5E5E5E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8" name="文本框 127"/>
                <p:cNvSpPr txBox="1"/>
                <p:nvPr/>
              </p:nvSpPr>
              <p:spPr>
                <a:xfrm>
                  <a:off x="4367" y="3983"/>
                  <a:ext cx="645" cy="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Inputs2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32" name="组合 131"/>
              <p:cNvGrpSpPr/>
              <p:nvPr/>
            </p:nvGrpSpPr>
            <p:grpSpPr>
              <a:xfrm rot="0">
                <a:off x="6417" y="7039"/>
                <a:ext cx="726" cy="386"/>
                <a:chOff x="4257" y="3568"/>
                <a:chExt cx="726" cy="386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4343" y="3594"/>
                  <a:ext cx="557" cy="316"/>
                </a:xfrm>
                <a:prstGeom prst="roundRect">
                  <a:avLst>
                    <a:gd name="adj" fmla="val 38801"/>
                  </a:avLst>
                </a:prstGeom>
                <a:solidFill>
                  <a:srgbClr val="929292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文本框 133"/>
                <p:cNvSpPr txBox="1"/>
                <p:nvPr/>
              </p:nvSpPr>
              <p:spPr>
                <a:xfrm>
                  <a:off x="4257" y="3568"/>
                  <a:ext cx="726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Attention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500" b="1">
                      <a:solidFill>
                        <a:schemeClr val="bg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matrix</a:t>
                  </a:r>
                  <a:endPara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cxnSp>
            <p:nvCxnSpPr>
              <p:cNvPr id="6" name="直接箭头连接符 5"/>
              <p:cNvCxnSpPr/>
              <p:nvPr/>
            </p:nvCxnSpPr>
            <p:spPr>
              <a:xfrm flipV="1">
                <a:off x="1609" y="6575"/>
                <a:ext cx="1066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-354" y="6192"/>
                <a:ext cx="118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number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of tokens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29" y="5158"/>
                <a:ext cx="122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Embedding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size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 rot="0">
              <a:off x="8473" y="10502"/>
              <a:ext cx="645" cy="265"/>
              <a:chOff x="4367" y="3983"/>
              <a:chExt cx="645" cy="265"/>
            </a:xfrm>
          </p:grpSpPr>
          <p:sp>
            <p:nvSpPr>
              <p:cNvPr id="139" name="圆角矩形 138"/>
              <p:cNvSpPr/>
              <p:nvPr/>
            </p:nvSpPr>
            <p:spPr>
              <a:xfrm>
                <a:off x="4450" y="4036"/>
                <a:ext cx="474" cy="159"/>
              </a:xfrm>
              <a:prstGeom prst="roundRect">
                <a:avLst>
                  <a:gd name="adj" fmla="val 50000"/>
                </a:avLst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0" name="文本框 139"/>
              <p:cNvSpPr txBox="1"/>
              <p:nvPr/>
            </p:nvSpPr>
            <p:spPr>
              <a:xfrm>
                <a:off x="4367" y="3983"/>
                <a:ext cx="645" cy="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00" b="1">
                    <a:solidFill>
                      <a:schemeClr val="bg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Outputs</a:t>
                </a:r>
                <a:endParaRPr lang="en-US" altLang="zh-CN" sz="5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831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稀疏注意力机制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533130" y="166243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583565"/>
            <a:ext cx="121227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Wang J, Shao H, Peng Y, et al. PSparseFormer: Enhancing fault feature extraction based on parallel sparse self-attention and multiscale broadcast feed-forward block[J]. IEEE Internet of Things Journal, 2024, 11(13): 22982-22991.</a:t>
            </a:r>
            <a:endParaRPr lang="zh-CN" alt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97167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2469515"/>
            <a:ext cx="6115050" cy="4174490"/>
          </a:xfrm>
          <a:prstGeom prst="rect">
            <a:avLst/>
          </a:prstGeom>
        </p:spPr>
      </p:pic>
      <p:grpSp>
        <p:nvGrpSpPr>
          <p:cNvPr id="211" name="组合 210"/>
          <p:cNvGrpSpPr/>
          <p:nvPr/>
        </p:nvGrpSpPr>
        <p:grpSpPr>
          <a:xfrm>
            <a:off x="-343535" y="2369185"/>
            <a:ext cx="6045200" cy="4095750"/>
            <a:chOff x="9645" y="3731"/>
            <a:chExt cx="9520" cy="6450"/>
          </a:xfrm>
        </p:grpSpPr>
        <p:grpSp>
          <p:nvGrpSpPr>
            <p:cNvPr id="207" name="组合 206"/>
            <p:cNvGrpSpPr/>
            <p:nvPr/>
          </p:nvGrpSpPr>
          <p:grpSpPr>
            <a:xfrm>
              <a:off x="9645" y="3731"/>
              <a:ext cx="9521" cy="6450"/>
              <a:chOff x="9645" y="3731"/>
              <a:chExt cx="9521" cy="6450"/>
            </a:xfrm>
          </p:grpSpPr>
          <p:grpSp>
            <p:nvGrpSpPr>
              <p:cNvPr id="197" name="组合 196"/>
              <p:cNvGrpSpPr/>
              <p:nvPr/>
            </p:nvGrpSpPr>
            <p:grpSpPr>
              <a:xfrm>
                <a:off x="9645" y="3889"/>
                <a:ext cx="3457" cy="5638"/>
                <a:chOff x="9645" y="3889"/>
                <a:chExt cx="3457" cy="5638"/>
              </a:xfrm>
            </p:grpSpPr>
            <p:grpSp>
              <p:nvGrpSpPr>
                <p:cNvPr id="169" name="组合 168"/>
                <p:cNvGrpSpPr/>
                <p:nvPr/>
              </p:nvGrpSpPr>
              <p:grpSpPr>
                <a:xfrm>
                  <a:off x="9645" y="3889"/>
                  <a:ext cx="3302" cy="5638"/>
                  <a:chOff x="9645" y="3889"/>
                  <a:chExt cx="3302" cy="5638"/>
                </a:xfrm>
              </p:grpSpPr>
              <p:sp>
                <p:nvSpPr>
                  <p:cNvPr id="2" name="圆角矩形 1"/>
                  <p:cNvSpPr/>
                  <p:nvPr/>
                </p:nvSpPr>
                <p:spPr>
                  <a:xfrm>
                    <a:off x="9645" y="3889"/>
                    <a:ext cx="3303" cy="5638"/>
                  </a:xfrm>
                  <a:prstGeom prst="roundRect">
                    <a:avLst>
                      <a:gd name="adj" fmla="val 10263"/>
                    </a:avLst>
                  </a:prstGeom>
                  <a:solidFill>
                    <a:srgbClr val="E4EFF7"/>
                  </a:solidFill>
                  <a:ln w="15875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矩形 9"/>
                  <p:cNvSpPr/>
                  <p:nvPr/>
                </p:nvSpPr>
                <p:spPr>
                  <a:xfrm>
                    <a:off x="10812" y="5285"/>
                    <a:ext cx="1914" cy="321"/>
                  </a:xfrm>
                  <a:prstGeom prst="rect">
                    <a:avLst/>
                  </a:prstGeom>
                  <a:solidFill>
                    <a:srgbClr val="C5E0B3">
                      <a:alpha val="30000"/>
                    </a:srgb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矩形 8"/>
                  <p:cNvSpPr/>
                  <p:nvPr/>
                </p:nvSpPr>
                <p:spPr>
                  <a:xfrm>
                    <a:off x="10621" y="5178"/>
                    <a:ext cx="1914" cy="321"/>
                  </a:xfrm>
                  <a:prstGeom prst="rect">
                    <a:avLst/>
                  </a:prstGeom>
                  <a:solidFill>
                    <a:srgbClr val="C5E0B3">
                      <a:alpha val="70000"/>
                    </a:srgbClr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矩形 7"/>
                  <p:cNvSpPr/>
                  <p:nvPr/>
                </p:nvSpPr>
                <p:spPr>
                  <a:xfrm>
                    <a:off x="10361" y="5056"/>
                    <a:ext cx="1914" cy="321"/>
                  </a:xfrm>
                  <a:prstGeom prst="rect">
                    <a:avLst/>
                  </a:prstGeom>
                  <a:solidFill>
                    <a:srgbClr val="C5E0B3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MatMul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15" name="矩形 14"/>
                  <p:cNvSpPr/>
                  <p:nvPr/>
                </p:nvSpPr>
                <p:spPr>
                  <a:xfrm>
                    <a:off x="10271" y="6079"/>
                    <a:ext cx="1518" cy="321"/>
                  </a:xfrm>
                  <a:prstGeom prst="rect">
                    <a:avLst/>
                  </a:prstGeom>
                  <a:solidFill>
                    <a:srgbClr val="C5E0B3">
                      <a:alpha val="3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矩形 13"/>
                  <p:cNvSpPr/>
                  <p:nvPr/>
                </p:nvSpPr>
                <p:spPr>
                  <a:xfrm>
                    <a:off x="10128" y="5972"/>
                    <a:ext cx="1518" cy="321"/>
                  </a:xfrm>
                  <a:prstGeom prst="rect">
                    <a:avLst/>
                  </a:prstGeom>
                  <a:solidFill>
                    <a:srgbClr val="C5E0B3">
                      <a:alpha val="7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矩形 12"/>
                  <p:cNvSpPr/>
                  <p:nvPr/>
                </p:nvSpPr>
                <p:spPr>
                  <a:xfrm>
                    <a:off x="9997" y="5865"/>
                    <a:ext cx="1518" cy="321"/>
                  </a:xfrm>
                  <a:prstGeom prst="rect">
                    <a:avLst/>
                  </a:prstGeom>
                  <a:solidFill>
                    <a:srgbClr val="C5E0B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SoftMax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16" name="圆角矩形 15"/>
                  <p:cNvSpPr/>
                  <p:nvPr/>
                </p:nvSpPr>
                <p:spPr>
                  <a:xfrm>
                    <a:off x="10493" y="4146"/>
                    <a:ext cx="1758" cy="452"/>
                  </a:xfrm>
                  <a:prstGeom prst="roundRect">
                    <a:avLst>
                      <a:gd name="adj" fmla="val 31194"/>
                    </a:avLst>
                  </a:prstGeom>
                  <a:solidFill>
                    <a:srgbClr val="3AC564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Concat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19" name="矩形 18"/>
                  <p:cNvSpPr/>
                  <p:nvPr/>
                </p:nvSpPr>
                <p:spPr>
                  <a:xfrm>
                    <a:off x="10271" y="7028"/>
                    <a:ext cx="1320" cy="321"/>
                  </a:xfrm>
                  <a:prstGeom prst="rect">
                    <a:avLst/>
                  </a:prstGeom>
                  <a:solidFill>
                    <a:srgbClr val="F7CBAC">
                      <a:alpha val="3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0140" y="6873"/>
                    <a:ext cx="1320" cy="321"/>
                  </a:xfrm>
                  <a:prstGeom prst="rect">
                    <a:avLst/>
                  </a:prstGeom>
                  <a:solidFill>
                    <a:srgbClr val="F7CBAC">
                      <a:alpha val="7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矩形 21"/>
                  <p:cNvSpPr/>
                  <p:nvPr/>
                </p:nvSpPr>
                <p:spPr>
                  <a:xfrm>
                    <a:off x="10293" y="7794"/>
                    <a:ext cx="1411" cy="321"/>
                  </a:xfrm>
                  <a:prstGeom prst="rect">
                    <a:avLst/>
                  </a:prstGeom>
                  <a:solidFill>
                    <a:srgbClr val="CBFFFF">
                      <a:alpha val="3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9997" y="6776"/>
                    <a:ext cx="1320" cy="321"/>
                  </a:xfrm>
                  <a:prstGeom prst="rect">
                    <a:avLst/>
                  </a:prstGeom>
                  <a:solidFill>
                    <a:srgbClr val="F7CBA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Scale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21" name="矩形 20"/>
                  <p:cNvSpPr/>
                  <p:nvPr/>
                </p:nvSpPr>
                <p:spPr>
                  <a:xfrm>
                    <a:off x="10180" y="7687"/>
                    <a:ext cx="1411" cy="321"/>
                  </a:xfrm>
                  <a:prstGeom prst="rect">
                    <a:avLst/>
                  </a:prstGeom>
                  <a:solidFill>
                    <a:srgbClr val="CBFFFF">
                      <a:alpha val="7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20" name="矩形 19"/>
                  <p:cNvSpPr/>
                  <p:nvPr/>
                </p:nvSpPr>
                <p:spPr>
                  <a:xfrm>
                    <a:off x="10049" y="7580"/>
                    <a:ext cx="1411" cy="321"/>
                  </a:xfrm>
                  <a:prstGeom prst="rect">
                    <a:avLst/>
                  </a:prstGeom>
                  <a:solidFill>
                    <a:srgbClr val="CB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MatMul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grpSp>
                <p:nvGrpSpPr>
                  <p:cNvPr id="53" name="组合 52"/>
                  <p:cNvGrpSpPr/>
                  <p:nvPr/>
                </p:nvGrpSpPr>
                <p:grpSpPr>
                  <a:xfrm>
                    <a:off x="10168" y="8701"/>
                    <a:ext cx="602" cy="398"/>
                    <a:chOff x="9143" y="9420"/>
                    <a:chExt cx="602" cy="398"/>
                  </a:xfrm>
                </p:grpSpPr>
                <p:sp>
                  <p:nvSpPr>
                    <p:cNvPr id="44" name="矩形 43"/>
                    <p:cNvSpPr/>
                    <p:nvPr/>
                  </p:nvSpPr>
                  <p:spPr>
                    <a:xfrm>
                      <a:off x="9143" y="9420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3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" name="矩形 44"/>
                    <p:cNvSpPr/>
                    <p:nvPr/>
                  </p:nvSpPr>
                  <p:spPr>
                    <a:xfrm>
                      <a:off x="9143" y="9477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" name="矩形 45"/>
                    <p:cNvSpPr/>
                    <p:nvPr/>
                  </p:nvSpPr>
                  <p:spPr>
                    <a:xfrm>
                      <a:off x="9143" y="9534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3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" name="矩形 46"/>
                    <p:cNvSpPr/>
                    <p:nvPr/>
                  </p:nvSpPr>
                  <p:spPr>
                    <a:xfrm>
                      <a:off x="9143" y="9591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3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" name="矩形 47"/>
                    <p:cNvSpPr/>
                    <p:nvPr/>
                  </p:nvSpPr>
                  <p:spPr>
                    <a:xfrm>
                      <a:off x="9143" y="9648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3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矩形 48"/>
                    <p:cNvSpPr/>
                    <p:nvPr/>
                  </p:nvSpPr>
                  <p:spPr>
                    <a:xfrm>
                      <a:off x="9143" y="9705"/>
                      <a:ext cx="602" cy="57"/>
                    </a:xfrm>
                    <a:prstGeom prst="rect">
                      <a:avLst/>
                    </a:prstGeom>
                    <a:solidFill>
                      <a:srgbClr val="D2AAD9">
                        <a:alpha val="3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0" name="矩形 49"/>
                    <p:cNvSpPr/>
                    <p:nvPr/>
                  </p:nvSpPr>
                  <p:spPr>
                    <a:xfrm>
                      <a:off x="9143" y="976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3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2" name="组合 51"/>
                  <p:cNvGrpSpPr/>
                  <p:nvPr/>
                </p:nvGrpSpPr>
                <p:grpSpPr>
                  <a:xfrm>
                    <a:off x="10025" y="8510"/>
                    <a:ext cx="602" cy="398"/>
                    <a:chOff x="8859" y="8935"/>
                    <a:chExt cx="602" cy="398"/>
                  </a:xfrm>
                </p:grpSpPr>
                <p:sp>
                  <p:nvSpPr>
                    <p:cNvPr id="37" name="矩形 36"/>
                    <p:cNvSpPr/>
                    <p:nvPr/>
                  </p:nvSpPr>
                  <p:spPr>
                    <a:xfrm>
                      <a:off x="8859" y="8935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" name="矩形 37"/>
                    <p:cNvSpPr/>
                    <p:nvPr/>
                  </p:nvSpPr>
                  <p:spPr>
                    <a:xfrm>
                      <a:off x="8859" y="899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" name="矩形 38"/>
                    <p:cNvSpPr/>
                    <p:nvPr/>
                  </p:nvSpPr>
                  <p:spPr>
                    <a:xfrm>
                      <a:off x="8859" y="9049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" name="矩形 39"/>
                    <p:cNvSpPr/>
                    <p:nvPr/>
                  </p:nvSpPr>
                  <p:spPr>
                    <a:xfrm>
                      <a:off x="8859" y="9106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" name="矩形 40"/>
                    <p:cNvSpPr/>
                    <p:nvPr/>
                  </p:nvSpPr>
                  <p:spPr>
                    <a:xfrm>
                      <a:off x="8859" y="9163"/>
                      <a:ext cx="602" cy="57"/>
                    </a:xfrm>
                    <a:prstGeom prst="rect">
                      <a:avLst/>
                    </a:prstGeom>
                    <a:solidFill>
                      <a:srgbClr val="D2AAD9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2" name="矩形 41"/>
                    <p:cNvSpPr/>
                    <p:nvPr/>
                  </p:nvSpPr>
                  <p:spPr>
                    <a:xfrm>
                      <a:off x="8859" y="9220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3" name="矩形 42"/>
                    <p:cNvSpPr/>
                    <p:nvPr/>
                  </p:nvSpPr>
                  <p:spPr>
                    <a:xfrm>
                      <a:off x="8859" y="9277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1" name="组合 50"/>
                  <p:cNvGrpSpPr/>
                  <p:nvPr/>
                </p:nvGrpSpPr>
                <p:grpSpPr>
                  <a:xfrm>
                    <a:off x="9914" y="8396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30" name="矩形 29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" name="矩形 30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" name="矩形 31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rgbClr val="D2AAD9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" name="矩形 32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5" name="矩形 34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70" name="组合 69"/>
                  <p:cNvGrpSpPr/>
                  <p:nvPr/>
                </p:nvGrpSpPr>
                <p:grpSpPr>
                  <a:xfrm rot="5400000">
                    <a:off x="11155" y="8669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71" name="矩形 70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" name="矩形 71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" name="矩形 72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" name="矩形 73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" name="矩形 76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62" name="组合 61"/>
                  <p:cNvGrpSpPr/>
                  <p:nvPr/>
                </p:nvGrpSpPr>
                <p:grpSpPr>
                  <a:xfrm rot="5400000">
                    <a:off x="10984" y="8555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63" name="矩形 62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" name="矩形 63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" name="矩形 64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" name="矩形 65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" name="矩形 66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" name="矩形 67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rgbClr val="9DE02B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" name="矩形 68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4" name="组合 53"/>
                  <p:cNvGrpSpPr/>
                  <p:nvPr/>
                </p:nvGrpSpPr>
                <p:grpSpPr>
                  <a:xfrm rot="5400000">
                    <a:off x="10818" y="8429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55" name="矩形 54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rgbClr val="9DE02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" name="矩形 55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" name="矩形 56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rgbClr val="9DE02B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" name="矩形 57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" name="矩形 58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rgbClr val="9DE02B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" name="矩形 59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94" name="组合 93"/>
                  <p:cNvGrpSpPr/>
                  <p:nvPr/>
                </p:nvGrpSpPr>
                <p:grpSpPr>
                  <a:xfrm>
                    <a:off x="12032" y="8681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95" name="矩形 94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6" name="矩形 95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7" name="矩形 96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8" name="矩形 97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9" name="矩形 98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0" name="矩形 99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20000"/>
                      </a:scheme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1" name="矩形 100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20000"/>
                      </a:srgbClr>
                    </a:solidFill>
                    <a:ln>
                      <a:solidFill>
                        <a:schemeClr val="tx1">
                          <a:alpha val="2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86" name="组合 85"/>
                  <p:cNvGrpSpPr/>
                  <p:nvPr/>
                </p:nvGrpSpPr>
                <p:grpSpPr>
                  <a:xfrm>
                    <a:off x="11901" y="8510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87" name="矩形 86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" name="矩形 87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" name="矩形 88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0" name="矩形 89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1" name="矩形 90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2" name="矩形 91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rgbClr val="F3CDB3">
                        <a:alpha val="60000"/>
                      </a:srgb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3" name="矩形 92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chemeClr val="bg1">
                        <a:alpha val="60000"/>
                      </a:schemeClr>
                    </a:solidFill>
                    <a:ln>
                      <a:solidFill>
                        <a:schemeClr val="tx1">
                          <a:alpha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78" name="组合 77"/>
                  <p:cNvGrpSpPr/>
                  <p:nvPr/>
                </p:nvGrpSpPr>
                <p:grpSpPr>
                  <a:xfrm>
                    <a:off x="11789" y="8362"/>
                    <a:ext cx="602" cy="398"/>
                    <a:chOff x="8993" y="8432"/>
                    <a:chExt cx="602" cy="398"/>
                  </a:xfrm>
                </p:grpSpPr>
                <p:sp>
                  <p:nvSpPr>
                    <p:cNvPr id="79" name="矩形 78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solidFill>
                      <a:srgbClr val="F3CDB3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" name="矩形 79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" name="矩形 80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solidFill>
                      <a:srgbClr val="F3CDB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" name="矩形 81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" name="矩形 82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solidFill>
                      <a:srgbClr val="F3CDB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4" name="矩形 83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" name="矩形 84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39" name="直接箭头连接符 138"/>
                  <p:cNvCxnSpPr/>
                  <p:nvPr/>
                </p:nvCxnSpPr>
                <p:spPr>
                  <a:xfrm flipV="1">
                    <a:off x="10985" y="4604"/>
                    <a:ext cx="0" cy="44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箭头连接符 139"/>
                  <p:cNvCxnSpPr/>
                  <p:nvPr/>
                </p:nvCxnSpPr>
                <p:spPr>
                  <a:xfrm flipV="1">
                    <a:off x="11370" y="4604"/>
                    <a:ext cx="0" cy="442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箭头连接符 140"/>
                  <p:cNvCxnSpPr/>
                  <p:nvPr/>
                </p:nvCxnSpPr>
                <p:spPr>
                  <a:xfrm flipV="1">
                    <a:off x="11762" y="4604"/>
                    <a:ext cx="0" cy="442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箭头连接符 147"/>
                  <p:cNvCxnSpPr/>
                  <p:nvPr/>
                </p:nvCxnSpPr>
                <p:spPr>
                  <a:xfrm flipV="1">
                    <a:off x="10812" y="5378"/>
                    <a:ext cx="0" cy="48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箭头连接符 148"/>
                  <p:cNvCxnSpPr/>
                  <p:nvPr/>
                </p:nvCxnSpPr>
                <p:spPr>
                  <a:xfrm flipV="1">
                    <a:off x="11090" y="5502"/>
                    <a:ext cx="0" cy="369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直接箭头连接符 149"/>
                  <p:cNvCxnSpPr/>
                  <p:nvPr/>
                </p:nvCxnSpPr>
                <p:spPr>
                  <a:xfrm flipV="1">
                    <a:off x="11342" y="5612"/>
                    <a:ext cx="0" cy="25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箭头连接符 150"/>
                  <p:cNvCxnSpPr/>
                  <p:nvPr/>
                </p:nvCxnSpPr>
                <p:spPr>
                  <a:xfrm flipV="1">
                    <a:off x="10580" y="6188"/>
                    <a:ext cx="0" cy="59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直接箭头连接符 151"/>
                  <p:cNvCxnSpPr/>
                  <p:nvPr/>
                </p:nvCxnSpPr>
                <p:spPr>
                  <a:xfrm flipV="1">
                    <a:off x="10872" y="6298"/>
                    <a:ext cx="0" cy="476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箭头连接符 152"/>
                  <p:cNvCxnSpPr/>
                  <p:nvPr/>
                </p:nvCxnSpPr>
                <p:spPr>
                  <a:xfrm flipV="1">
                    <a:off x="11154" y="6405"/>
                    <a:ext cx="0" cy="380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直接箭头连接符 153"/>
                  <p:cNvCxnSpPr/>
                  <p:nvPr/>
                </p:nvCxnSpPr>
                <p:spPr>
                  <a:xfrm flipV="1">
                    <a:off x="10627" y="7102"/>
                    <a:ext cx="0" cy="4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直接箭头连接符 154"/>
                  <p:cNvCxnSpPr/>
                  <p:nvPr/>
                </p:nvCxnSpPr>
                <p:spPr>
                  <a:xfrm flipV="1">
                    <a:off x="10867" y="7204"/>
                    <a:ext cx="0" cy="369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接箭头连接符 156"/>
                  <p:cNvCxnSpPr/>
                  <p:nvPr/>
                </p:nvCxnSpPr>
                <p:spPr>
                  <a:xfrm flipV="1">
                    <a:off x="11085" y="7355"/>
                    <a:ext cx="0" cy="21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接箭头连接符 157"/>
                  <p:cNvCxnSpPr/>
                  <p:nvPr/>
                </p:nvCxnSpPr>
                <p:spPr>
                  <a:xfrm flipV="1">
                    <a:off x="10293" y="7901"/>
                    <a:ext cx="0" cy="48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直接箭头连接符 159"/>
                  <p:cNvCxnSpPr/>
                  <p:nvPr/>
                </p:nvCxnSpPr>
                <p:spPr>
                  <a:xfrm flipV="1">
                    <a:off x="10580" y="8015"/>
                    <a:ext cx="0" cy="493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直接箭头连接符 160"/>
                  <p:cNvCxnSpPr/>
                  <p:nvPr/>
                </p:nvCxnSpPr>
                <p:spPr>
                  <a:xfrm flipV="1">
                    <a:off x="10751" y="8127"/>
                    <a:ext cx="0" cy="567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直接箭头连接符 161"/>
                  <p:cNvCxnSpPr/>
                  <p:nvPr/>
                </p:nvCxnSpPr>
                <p:spPr>
                  <a:xfrm flipV="1">
                    <a:off x="11085" y="7905"/>
                    <a:ext cx="0" cy="41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直接箭头连接符 162"/>
                  <p:cNvCxnSpPr/>
                  <p:nvPr/>
                </p:nvCxnSpPr>
                <p:spPr>
                  <a:xfrm flipV="1">
                    <a:off x="11412" y="8017"/>
                    <a:ext cx="0" cy="42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直接箭头连接符 163"/>
                  <p:cNvCxnSpPr/>
                  <p:nvPr/>
                </p:nvCxnSpPr>
                <p:spPr>
                  <a:xfrm flipV="1">
                    <a:off x="11598" y="8126"/>
                    <a:ext cx="0" cy="442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直接箭头连接符 165"/>
                  <p:cNvCxnSpPr/>
                  <p:nvPr/>
                </p:nvCxnSpPr>
                <p:spPr>
                  <a:xfrm flipV="1">
                    <a:off x="12090" y="5382"/>
                    <a:ext cx="0" cy="297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直接箭头连接符 166"/>
                  <p:cNvCxnSpPr/>
                  <p:nvPr/>
                </p:nvCxnSpPr>
                <p:spPr>
                  <a:xfrm flipV="1">
                    <a:off x="12451" y="5505"/>
                    <a:ext cx="0" cy="2999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直接箭头连接符 167"/>
                  <p:cNvCxnSpPr/>
                  <p:nvPr/>
                </p:nvCxnSpPr>
                <p:spPr>
                  <a:xfrm flipV="1">
                    <a:off x="12586" y="5610"/>
                    <a:ext cx="0" cy="3073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4" name="左大括号 193"/>
                <p:cNvSpPr/>
                <p:nvPr/>
              </p:nvSpPr>
              <p:spPr>
                <a:xfrm rot="7080000">
                  <a:off x="12446" y="4790"/>
                  <a:ext cx="205" cy="511"/>
                </a:xfrm>
                <a:prstGeom prst="leftBrace">
                  <a:avLst>
                    <a:gd name="adj1" fmla="val 25000"/>
                    <a:gd name="adj2" fmla="val 5128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5" name="矩形 194"/>
                <p:cNvSpPr/>
                <p:nvPr/>
              </p:nvSpPr>
              <p:spPr>
                <a:xfrm rot="1620000">
                  <a:off x="12520" y="4850"/>
                  <a:ext cx="186" cy="135"/>
                </a:xfrm>
                <a:prstGeom prst="rect">
                  <a:avLst/>
                </a:prstGeom>
                <a:solidFill>
                  <a:srgbClr val="E4EFF7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6" name="文本框 195"/>
                <p:cNvSpPr txBox="1"/>
                <p:nvPr/>
              </p:nvSpPr>
              <p:spPr>
                <a:xfrm rot="1800000">
                  <a:off x="12238" y="4626"/>
                  <a:ext cx="864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N</a:t>
                  </a:r>
                  <a:endParaRPr lang="en-US" altLang="zh-CN" sz="12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201" name="组合 200"/>
              <p:cNvGrpSpPr/>
              <p:nvPr/>
            </p:nvGrpSpPr>
            <p:grpSpPr>
              <a:xfrm>
                <a:off x="13556" y="3731"/>
                <a:ext cx="5610" cy="6450"/>
                <a:chOff x="13556" y="3731"/>
                <a:chExt cx="5610" cy="6450"/>
              </a:xfrm>
            </p:grpSpPr>
            <p:grpSp>
              <p:nvGrpSpPr>
                <p:cNvPr id="170" name="组合 169"/>
                <p:cNvGrpSpPr/>
                <p:nvPr/>
              </p:nvGrpSpPr>
              <p:grpSpPr>
                <a:xfrm>
                  <a:off x="13556" y="3731"/>
                  <a:ext cx="5302" cy="5236"/>
                  <a:chOff x="13556" y="3731"/>
                  <a:chExt cx="5302" cy="5236"/>
                </a:xfrm>
              </p:grpSpPr>
              <p:sp>
                <p:nvSpPr>
                  <p:cNvPr id="7" name="圆角矩形 6"/>
                  <p:cNvSpPr/>
                  <p:nvPr/>
                </p:nvSpPr>
                <p:spPr>
                  <a:xfrm>
                    <a:off x="13556" y="5830"/>
                    <a:ext cx="4943" cy="2716"/>
                  </a:xfrm>
                  <a:prstGeom prst="roundRect">
                    <a:avLst>
                      <a:gd name="adj" fmla="val 17047"/>
                    </a:avLst>
                  </a:prstGeom>
                  <a:solidFill>
                    <a:srgbClr val="EEF5F2"/>
                  </a:solidFill>
                  <a:ln w="15875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" name="圆角矩形 2"/>
                  <p:cNvSpPr/>
                  <p:nvPr/>
                </p:nvSpPr>
                <p:spPr>
                  <a:xfrm>
                    <a:off x="13716" y="6042"/>
                    <a:ext cx="4943" cy="2716"/>
                  </a:xfrm>
                  <a:prstGeom prst="roundRect">
                    <a:avLst>
                      <a:gd name="adj" fmla="val 17047"/>
                    </a:avLst>
                  </a:prstGeom>
                  <a:solidFill>
                    <a:srgbClr val="DFEDE3"/>
                  </a:solidFill>
                  <a:ln w="15875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圆角矩形 5"/>
                  <p:cNvSpPr/>
                  <p:nvPr/>
                </p:nvSpPr>
                <p:spPr>
                  <a:xfrm>
                    <a:off x="13916" y="6251"/>
                    <a:ext cx="4943" cy="2716"/>
                  </a:xfrm>
                  <a:prstGeom prst="roundRect">
                    <a:avLst>
                      <a:gd name="adj" fmla="val 17047"/>
                    </a:avLst>
                  </a:prstGeom>
                  <a:solidFill>
                    <a:srgbClr val="E2EFD9"/>
                  </a:solidFill>
                  <a:ln w="15875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圆角矩形 22"/>
                  <p:cNvSpPr/>
                  <p:nvPr/>
                </p:nvSpPr>
                <p:spPr>
                  <a:xfrm>
                    <a:off x="14710" y="4694"/>
                    <a:ext cx="3086" cy="515"/>
                  </a:xfrm>
                  <a:prstGeom prst="roundRect">
                    <a:avLst>
                      <a:gd name="adj" fmla="val 43883"/>
                    </a:avLst>
                  </a:prstGeom>
                  <a:solidFill>
                    <a:srgbClr val="3AC564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Concat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4" name="圆角矩形 23"/>
                  <p:cNvSpPr/>
                  <p:nvPr/>
                </p:nvSpPr>
                <p:spPr>
                  <a:xfrm>
                    <a:off x="15356" y="3731"/>
                    <a:ext cx="1794" cy="520"/>
                  </a:xfrm>
                  <a:prstGeom prst="roundRect">
                    <a:avLst>
                      <a:gd name="adj" fmla="val 34615"/>
                    </a:avLst>
                  </a:prstGeom>
                  <a:solidFill>
                    <a:srgbClr val="FFC000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Linear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6" name="圆角矩形 25"/>
                  <p:cNvSpPr/>
                  <p:nvPr/>
                </p:nvSpPr>
                <p:spPr>
                  <a:xfrm>
                    <a:off x="14172" y="6460"/>
                    <a:ext cx="4419" cy="515"/>
                  </a:xfrm>
                  <a:prstGeom prst="roundRect">
                    <a:avLst>
                      <a:gd name="adj" fmla="val 43883"/>
                    </a:avLst>
                  </a:prstGeom>
                  <a:solidFill>
                    <a:srgbClr val="C5E0B3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4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Sparse attention (s=2)</a:t>
                    </a:r>
                    <a:endParaRPr lang="en-US" altLang="zh-CN" sz="14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27" name="圆角矩形 26"/>
                  <p:cNvSpPr/>
                  <p:nvPr/>
                </p:nvSpPr>
                <p:spPr>
                  <a:xfrm>
                    <a:off x="14226" y="8362"/>
                    <a:ext cx="1303" cy="436"/>
                  </a:xfrm>
                  <a:prstGeom prst="roundRect">
                    <a:avLst>
                      <a:gd name="adj" fmla="val 30963"/>
                    </a:avLst>
                  </a:prstGeom>
                  <a:solidFill>
                    <a:srgbClr val="FFD965"/>
                  </a:solidFill>
                  <a:ln>
                    <a:solidFill>
                      <a:srgbClr val="D2DAD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Linear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28" name="圆角矩形 27"/>
                  <p:cNvSpPr/>
                  <p:nvPr/>
                </p:nvSpPr>
                <p:spPr>
                  <a:xfrm>
                    <a:off x="15733" y="8362"/>
                    <a:ext cx="1303" cy="436"/>
                  </a:xfrm>
                  <a:prstGeom prst="roundRect">
                    <a:avLst>
                      <a:gd name="adj" fmla="val 30963"/>
                    </a:avLst>
                  </a:prstGeom>
                  <a:solidFill>
                    <a:srgbClr val="FFD965"/>
                  </a:solidFill>
                  <a:ln>
                    <a:solidFill>
                      <a:srgbClr val="D2DAD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Linear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sp>
                <p:nvSpPr>
                  <p:cNvPr id="29" name="圆角矩形 28"/>
                  <p:cNvSpPr/>
                  <p:nvPr/>
                </p:nvSpPr>
                <p:spPr>
                  <a:xfrm>
                    <a:off x="17244" y="8362"/>
                    <a:ext cx="1303" cy="436"/>
                  </a:xfrm>
                  <a:prstGeom prst="roundRect">
                    <a:avLst>
                      <a:gd name="adj" fmla="val 30963"/>
                    </a:avLst>
                  </a:prstGeom>
                  <a:solidFill>
                    <a:srgbClr val="FFD965"/>
                  </a:solidFill>
                  <a:ln>
                    <a:solidFill>
                      <a:srgbClr val="D2DAD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Linear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  <p:grpSp>
                <p:nvGrpSpPr>
                  <p:cNvPr id="102" name="组合 101"/>
                  <p:cNvGrpSpPr/>
                  <p:nvPr/>
                </p:nvGrpSpPr>
                <p:grpSpPr>
                  <a:xfrm>
                    <a:off x="14397" y="7428"/>
                    <a:ext cx="959" cy="514"/>
                    <a:chOff x="8993" y="8432"/>
                    <a:chExt cx="602" cy="398"/>
                  </a:xfrm>
                  <a:solidFill>
                    <a:schemeClr val="bg1"/>
                  </a:solidFill>
                </p:grpSpPr>
                <p:sp>
                  <p:nvSpPr>
                    <p:cNvPr id="103" name="矩形 102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矩形 103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" name="矩形 104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" name="矩形 105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" name="矩形 106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" name="矩形 107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" name="矩形 108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10" name="组合 109"/>
                  <p:cNvGrpSpPr/>
                  <p:nvPr/>
                </p:nvGrpSpPr>
                <p:grpSpPr>
                  <a:xfrm>
                    <a:off x="15926" y="7428"/>
                    <a:ext cx="959" cy="514"/>
                    <a:chOff x="8993" y="8432"/>
                    <a:chExt cx="602" cy="398"/>
                  </a:xfrm>
                  <a:solidFill>
                    <a:schemeClr val="bg1"/>
                  </a:solidFill>
                </p:grpSpPr>
                <p:sp>
                  <p:nvSpPr>
                    <p:cNvPr id="111" name="矩形 110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" name="矩形 111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3" name="矩形 112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4" name="矩形 113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5" name="矩形 114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6" name="矩形 115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7" name="矩形 116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26" name="组合 125"/>
                  <p:cNvGrpSpPr/>
                  <p:nvPr/>
                </p:nvGrpSpPr>
                <p:grpSpPr>
                  <a:xfrm>
                    <a:off x="17416" y="7428"/>
                    <a:ext cx="959" cy="514"/>
                    <a:chOff x="8993" y="8432"/>
                    <a:chExt cx="602" cy="398"/>
                  </a:xfrm>
                  <a:solidFill>
                    <a:schemeClr val="bg1"/>
                  </a:solidFill>
                </p:grpSpPr>
                <p:sp>
                  <p:nvSpPr>
                    <p:cNvPr id="127" name="矩形 126"/>
                    <p:cNvSpPr/>
                    <p:nvPr/>
                  </p:nvSpPr>
                  <p:spPr>
                    <a:xfrm>
                      <a:off x="8993" y="8432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8" name="矩形 127"/>
                    <p:cNvSpPr/>
                    <p:nvPr/>
                  </p:nvSpPr>
                  <p:spPr>
                    <a:xfrm>
                      <a:off x="8993" y="8489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9" name="矩形 128"/>
                    <p:cNvSpPr/>
                    <p:nvPr/>
                  </p:nvSpPr>
                  <p:spPr>
                    <a:xfrm>
                      <a:off x="8993" y="8546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0" name="矩形 129"/>
                    <p:cNvSpPr/>
                    <p:nvPr/>
                  </p:nvSpPr>
                  <p:spPr>
                    <a:xfrm>
                      <a:off x="8993" y="8603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1" name="矩形 130"/>
                    <p:cNvSpPr/>
                    <p:nvPr/>
                  </p:nvSpPr>
                  <p:spPr>
                    <a:xfrm>
                      <a:off x="8993" y="8660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3CDB3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2" name="矩形 131"/>
                    <p:cNvSpPr/>
                    <p:nvPr/>
                  </p:nvSpPr>
                  <p:spPr>
                    <a:xfrm>
                      <a:off x="8993" y="8717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3" name="矩形 132"/>
                    <p:cNvSpPr/>
                    <p:nvPr/>
                  </p:nvSpPr>
                  <p:spPr>
                    <a:xfrm>
                      <a:off x="8993" y="8774"/>
                      <a:ext cx="602" cy="5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34" name="直接箭头连接符 133"/>
                  <p:cNvCxnSpPr>
                    <a:stCxn id="23" idx="0"/>
                    <a:endCxn id="24" idx="2"/>
                  </p:cNvCxnSpPr>
                  <p:nvPr/>
                </p:nvCxnSpPr>
                <p:spPr>
                  <a:xfrm flipV="1">
                    <a:off x="16253" y="4251"/>
                    <a:ext cx="0" cy="44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直接箭头连接符 134"/>
                  <p:cNvCxnSpPr/>
                  <p:nvPr/>
                </p:nvCxnSpPr>
                <p:spPr>
                  <a:xfrm flipV="1">
                    <a:off x="16541" y="5215"/>
                    <a:ext cx="0" cy="104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直接箭头连接符 135"/>
                  <p:cNvCxnSpPr/>
                  <p:nvPr/>
                </p:nvCxnSpPr>
                <p:spPr>
                  <a:xfrm flipV="1">
                    <a:off x="16109" y="5212"/>
                    <a:ext cx="0" cy="822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7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直接箭头连接符 136"/>
                  <p:cNvCxnSpPr/>
                  <p:nvPr/>
                </p:nvCxnSpPr>
                <p:spPr>
                  <a:xfrm flipV="1">
                    <a:off x="15681" y="5215"/>
                    <a:ext cx="0" cy="624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alpha val="40000"/>
                      </a:schemeClr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箭头连接符 141"/>
                  <p:cNvCxnSpPr/>
                  <p:nvPr/>
                </p:nvCxnSpPr>
                <p:spPr>
                  <a:xfrm flipV="1">
                    <a:off x="14876" y="6985"/>
                    <a:ext cx="0" cy="44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箭头连接符 142"/>
                  <p:cNvCxnSpPr/>
                  <p:nvPr/>
                </p:nvCxnSpPr>
                <p:spPr>
                  <a:xfrm flipV="1">
                    <a:off x="16406" y="6978"/>
                    <a:ext cx="0" cy="44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143"/>
                  <p:cNvCxnSpPr/>
                  <p:nvPr/>
                </p:nvCxnSpPr>
                <p:spPr>
                  <a:xfrm flipV="1">
                    <a:off x="17896" y="6982"/>
                    <a:ext cx="0" cy="44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箭头连接符 144"/>
                  <p:cNvCxnSpPr/>
                  <p:nvPr/>
                </p:nvCxnSpPr>
                <p:spPr>
                  <a:xfrm flipV="1">
                    <a:off x="14876" y="7951"/>
                    <a:ext cx="0" cy="42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接箭头连接符 145"/>
                  <p:cNvCxnSpPr/>
                  <p:nvPr/>
                </p:nvCxnSpPr>
                <p:spPr>
                  <a:xfrm flipV="1">
                    <a:off x="16406" y="7951"/>
                    <a:ext cx="0" cy="42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接箭头连接符 146"/>
                  <p:cNvCxnSpPr/>
                  <p:nvPr/>
                </p:nvCxnSpPr>
                <p:spPr>
                  <a:xfrm flipV="1">
                    <a:off x="17896" y="7951"/>
                    <a:ext cx="0" cy="42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none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1" name="文本框 170"/>
                <p:cNvSpPr txBox="1"/>
                <p:nvPr/>
              </p:nvSpPr>
              <p:spPr>
                <a:xfrm>
                  <a:off x="16338" y="7015"/>
                  <a:ext cx="493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k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2" name="文本框 171"/>
                <p:cNvSpPr txBox="1"/>
                <p:nvPr/>
              </p:nvSpPr>
              <p:spPr>
                <a:xfrm>
                  <a:off x="14812" y="7015"/>
                  <a:ext cx="493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q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3" name="文本框 172"/>
                <p:cNvSpPr txBox="1"/>
                <p:nvPr/>
              </p:nvSpPr>
              <p:spPr>
                <a:xfrm>
                  <a:off x="17837" y="7015"/>
                  <a:ext cx="493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v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4" name="文本框 173"/>
                <p:cNvSpPr txBox="1"/>
                <p:nvPr/>
              </p:nvSpPr>
              <p:spPr>
                <a:xfrm>
                  <a:off x="14809" y="7982"/>
                  <a:ext cx="541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ω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5" name="文本框 174"/>
                <p:cNvSpPr txBox="1"/>
                <p:nvPr/>
              </p:nvSpPr>
              <p:spPr>
                <a:xfrm>
                  <a:off x="15001" y="7982"/>
                  <a:ext cx="377" cy="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 baseline="30000">
                      <a:latin typeface="Times New Roman" panose="02020603050405020304" charset="0"/>
                      <a:cs typeface="Times New Roman" panose="02020603050405020304" charset="0"/>
                    </a:rPr>
                    <a:t>q</a:t>
                  </a:r>
                  <a:endParaRPr lang="en-US" altLang="zh-CN" sz="1200" i="1" baseline="30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6" name="文本框 175"/>
                <p:cNvSpPr txBox="1"/>
                <p:nvPr/>
              </p:nvSpPr>
              <p:spPr>
                <a:xfrm>
                  <a:off x="16346" y="7982"/>
                  <a:ext cx="541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ω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7" name="文本框 176"/>
                <p:cNvSpPr txBox="1"/>
                <p:nvPr/>
              </p:nvSpPr>
              <p:spPr>
                <a:xfrm>
                  <a:off x="16538" y="7982"/>
                  <a:ext cx="377" cy="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 baseline="30000">
                      <a:latin typeface="Times New Roman" panose="02020603050405020304" charset="0"/>
                      <a:cs typeface="Times New Roman" panose="02020603050405020304" charset="0"/>
                    </a:rPr>
                    <a:t>k</a:t>
                  </a:r>
                  <a:endParaRPr lang="en-US" altLang="zh-CN" sz="1200" i="1" baseline="30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8" name="文本框 177"/>
                <p:cNvSpPr txBox="1"/>
                <p:nvPr/>
              </p:nvSpPr>
              <p:spPr>
                <a:xfrm>
                  <a:off x="17838" y="7982"/>
                  <a:ext cx="541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ω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18030" y="7982"/>
                  <a:ext cx="377" cy="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 baseline="30000">
                      <a:latin typeface="Times New Roman" panose="02020603050405020304" charset="0"/>
                      <a:cs typeface="Times New Roman" panose="02020603050405020304" charset="0"/>
                    </a:rPr>
                    <a:t>v</a:t>
                  </a:r>
                  <a:endParaRPr lang="en-US" altLang="zh-CN" sz="1200" i="1" baseline="30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181" name="直接箭头连接符 180"/>
                <p:cNvCxnSpPr/>
                <p:nvPr/>
              </p:nvCxnSpPr>
              <p:spPr>
                <a:xfrm flipV="1">
                  <a:off x="14876" y="8798"/>
                  <a:ext cx="0" cy="7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连接符 181"/>
                <p:cNvCxnSpPr/>
                <p:nvPr/>
              </p:nvCxnSpPr>
              <p:spPr>
                <a:xfrm>
                  <a:off x="14670" y="8966"/>
                  <a:ext cx="0" cy="2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接连接符 183"/>
                <p:cNvCxnSpPr/>
                <p:nvPr/>
              </p:nvCxnSpPr>
              <p:spPr>
                <a:xfrm>
                  <a:off x="14664" y="9180"/>
                  <a:ext cx="216" cy="2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箭头连接符 184"/>
                <p:cNvCxnSpPr/>
                <p:nvPr/>
              </p:nvCxnSpPr>
              <p:spPr>
                <a:xfrm flipV="1">
                  <a:off x="16406" y="8798"/>
                  <a:ext cx="0" cy="7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接连接符 185"/>
                <p:cNvCxnSpPr/>
                <p:nvPr/>
              </p:nvCxnSpPr>
              <p:spPr>
                <a:xfrm>
                  <a:off x="16200" y="8966"/>
                  <a:ext cx="0" cy="2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连接符 186"/>
                <p:cNvCxnSpPr/>
                <p:nvPr/>
              </p:nvCxnSpPr>
              <p:spPr>
                <a:xfrm>
                  <a:off x="16194" y="9180"/>
                  <a:ext cx="216" cy="2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箭头连接符 187"/>
                <p:cNvCxnSpPr/>
                <p:nvPr/>
              </p:nvCxnSpPr>
              <p:spPr>
                <a:xfrm flipV="1">
                  <a:off x="17896" y="8798"/>
                  <a:ext cx="0" cy="7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/>
                <p:cNvCxnSpPr/>
                <p:nvPr/>
              </p:nvCxnSpPr>
              <p:spPr>
                <a:xfrm>
                  <a:off x="17690" y="8966"/>
                  <a:ext cx="0" cy="2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/>
                <p:cNvCxnSpPr/>
                <p:nvPr/>
              </p:nvCxnSpPr>
              <p:spPr>
                <a:xfrm>
                  <a:off x="17684" y="9180"/>
                  <a:ext cx="216" cy="2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91" name="文本框 190"/>
                <p:cNvSpPr txBox="1"/>
                <p:nvPr/>
              </p:nvSpPr>
              <p:spPr>
                <a:xfrm>
                  <a:off x="14421" y="9553"/>
                  <a:ext cx="86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000" i="1">
                      <a:latin typeface="Times New Roman" panose="02020603050405020304" charset="0"/>
                      <a:cs typeface="Times New Roman" panose="02020603050405020304" charset="0"/>
                    </a:rPr>
                    <a:t>Q</a:t>
                  </a:r>
                  <a:endParaRPr lang="en-US" altLang="zh-CN" sz="20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92" name="文本框 191"/>
                <p:cNvSpPr txBox="1"/>
                <p:nvPr/>
              </p:nvSpPr>
              <p:spPr>
                <a:xfrm>
                  <a:off x="15956" y="9553"/>
                  <a:ext cx="86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000" i="1">
                      <a:latin typeface="Times New Roman" panose="02020603050405020304" charset="0"/>
                      <a:cs typeface="Times New Roman" panose="02020603050405020304" charset="0"/>
                    </a:rPr>
                    <a:t>K</a:t>
                  </a:r>
                  <a:endParaRPr lang="en-US" altLang="zh-CN" sz="20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93" name="文本框 192"/>
                <p:cNvSpPr txBox="1"/>
                <p:nvPr/>
              </p:nvSpPr>
              <p:spPr>
                <a:xfrm>
                  <a:off x="17457" y="9553"/>
                  <a:ext cx="86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000" i="1">
                      <a:latin typeface="Times New Roman" panose="02020603050405020304" charset="0"/>
                      <a:cs typeface="Times New Roman" panose="02020603050405020304" charset="0"/>
                    </a:rPr>
                    <a:t>V</a:t>
                  </a:r>
                  <a:endParaRPr lang="en-US" altLang="zh-CN" sz="20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98" name="左大括号 197"/>
                <p:cNvSpPr/>
                <p:nvPr/>
              </p:nvSpPr>
              <p:spPr>
                <a:xfrm rot="8220000">
                  <a:off x="18580" y="5539"/>
                  <a:ext cx="205" cy="1117"/>
                </a:xfrm>
                <a:prstGeom prst="leftBrace">
                  <a:avLst>
                    <a:gd name="adj1" fmla="val 25000"/>
                    <a:gd name="adj2" fmla="val 5128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9" name="矩形 198"/>
                <p:cNvSpPr/>
                <p:nvPr/>
              </p:nvSpPr>
              <p:spPr>
                <a:xfrm rot="2940000">
                  <a:off x="18637" y="5905"/>
                  <a:ext cx="266" cy="1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0" name="文本框 199"/>
                <p:cNvSpPr txBox="1"/>
                <p:nvPr/>
              </p:nvSpPr>
              <p:spPr>
                <a:xfrm>
                  <a:off x="18626" y="5752"/>
                  <a:ext cx="54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H</a:t>
                  </a:r>
                  <a:endParaRPr lang="en-US" altLang="zh-CN" sz="1200" i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cxnSp>
            <p:nvCxnSpPr>
              <p:cNvPr id="202" name="直接连接符 201"/>
              <p:cNvCxnSpPr>
                <a:endCxn id="26" idx="1"/>
              </p:cNvCxnSpPr>
              <p:nvPr/>
            </p:nvCxnSpPr>
            <p:spPr>
              <a:xfrm>
                <a:off x="12879" y="4028"/>
                <a:ext cx="1293" cy="269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V="1">
                <a:off x="12879" y="6718"/>
                <a:ext cx="1293" cy="269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4" name="左大括号 203"/>
              <p:cNvSpPr/>
              <p:nvPr/>
            </p:nvSpPr>
            <p:spPr>
              <a:xfrm>
                <a:off x="15765" y="7428"/>
                <a:ext cx="145" cy="516"/>
              </a:xfrm>
              <a:prstGeom prst="leftBrace">
                <a:avLst>
                  <a:gd name="adj1" fmla="val 32921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15605" y="7567"/>
                <a:ext cx="162" cy="216"/>
              </a:xfrm>
              <a:prstGeom prst="rect">
                <a:avLst/>
              </a:prstGeom>
              <a:solidFill>
                <a:srgbClr val="E2EFD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15393" y="7486"/>
                <a:ext cx="493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i="1"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  <a:endParaRPr lang="en-US" altLang="zh-CN" sz="1000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08" name="文本框 207"/>
            <p:cNvSpPr txBox="1"/>
            <p:nvPr/>
          </p:nvSpPr>
          <p:spPr>
            <a:xfrm>
              <a:off x="10205" y="9044"/>
              <a:ext cx="5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r>
                <a: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endParaRPr lang="en-US" altLang="zh-CN" sz="1400" b="1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11173" y="9080"/>
              <a:ext cx="5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endParaRPr lang="en-US" altLang="zh-CN" sz="1400" b="1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12069" y="9080"/>
              <a:ext cx="5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endParaRPr lang="en-US" altLang="zh-CN" sz="1400" b="1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65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66.xml><?xml version="1.0" encoding="utf-8"?>
<p:tagLst xmlns:p="http://schemas.openxmlformats.org/presentationml/2006/main">
  <p:tag name="KSO_WM_DIAGRAM_VIRTUALLY_FRAME" val="{&quot;height&quot;:204.2,&quot;left&quot;:122.95,&quot;top&quot;:316.2,&quot;width&quot;:554.15}"/>
</p:tagLst>
</file>

<file path=ppt/tags/tag67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68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69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0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1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2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73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4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5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6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7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8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79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0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1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2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3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4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5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6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7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88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89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0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1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92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3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4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95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6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7.xml><?xml version="1.0" encoding="utf-8"?>
<p:tagLst xmlns:p="http://schemas.openxmlformats.org/presentationml/2006/main">
  <p:tag name="KSO_WM_DIAGRAM_VIRTUALLY_FRAME" val="{&quot;height&quot;:119.8,&quot;left&quot;:150.8,&quot;top&quot;:361.4,&quot;width&quot;:469}"/>
</p:tagLst>
</file>

<file path=ppt/tags/tag98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99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0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1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2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3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4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5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6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7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8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09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10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11.xml><?xml version="1.0" encoding="utf-8"?>
<p:tagLst xmlns:p="http://schemas.openxmlformats.org/presentationml/2006/main">
  <p:tag name="KSO_WM_DIAGRAM_VIRTUALLY_FRAME" val="{&quot;height&quot;:176,&quot;left&quot;:248.1,&quot;top&quot;:321.05,&quot;width&quot;:516}"/>
</p:tagLst>
</file>

<file path=ppt/tags/tag11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1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1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15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16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17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18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19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0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1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22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3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4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5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6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7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8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29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0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1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32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3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4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5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6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7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8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39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0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1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2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3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4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5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6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7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8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49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0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1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2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3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4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5.xml><?xml version="1.0" encoding="utf-8"?>
<p:tagLst xmlns:p="http://schemas.openxmlformats.org/presentationml/2006/main">
  <p:tag name="KSO_WM_DIAGRAM_VIRTUALLY_FRAME" val="{&quot;height&quot;:165.35,&quot;left&quot;:-38.1,&quot;top&quot;:158.1,&quot;width&quot;:991.65}"/>
</p:tagLst>
</file>

<file path=ppt/tags/tag156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57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58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59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0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1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2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3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4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5.xml><?xml version="1.0" encoding="utf-8"?>
<p:tagLst xmlns:p="http://schemas.openxmlformats.org/presentationml/2006/main">
  <p:tag name="KSO_WM_DIAGRAM_VIRTUALLY_FRAME" val="{&quot;height&quot;:142.65,&quot;left&quot;:491.6,&quot;top&quot;:159.15,&quot;width&quot;:299.86298828125}"/>
</p:tagLst>
</file>

<file path=ppt/tags/tag166.xml><?xml version="1.0" encoding="utf-8"?>
<p:tagLst xmlns:p="http://schemas.openxmlformats.org/presentationml/2006/main">
  <p:tag name="KSO_WM_DIAGRAM_VIRTUALLY_FRAME" val="{&quot;height&quot;:156,&quot;left&quot;:-14.85,&quot;top&quot;:159.15,&quot;width&quot;:968.4}"/>
</p:tagLst>
</file>

<file path=ppt/tags/tag167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6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6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7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8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19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0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1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2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3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3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4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5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6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7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0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1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2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3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4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5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6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7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8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89.xml><?xml version="1.0" encoding="utf-8"?>
<p:tagLst xmlns:p="http://schemas.openxmlformats.org/presentationml/2006/main">
  <p:tag name="KSO_WM_DIAGRAM_VIRTUALLY_FRAME" val="{&quot;height&quot;:251.8,&quot;left&quot;:334.4,&quot;top&quot;:230.55,&quot;width&quot;:581.123228263855}"/>
</p:tagLst>
</file>

<file path=ppt/tags/tag290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91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9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9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9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2970</Words>
  <Application>WPS 演示</Application>
  <PresentationFormat>宽屏</PresentationFormat>
  <Paragraphs>703</Paragraphs>
  <Slides>14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14</vt:i4>
      </vt:variant>
    </vt:vector>
  </HeadingPairs>
  <TitlesOfParts>
    <vt:vector size="48" baseType="lpstr">
      <vt:lpstr>Arial</vt:lpstr>
      <vt:lpstr>宋体</vt:lpstr>
      <vt:lpstr>Wingdings</vt:lpstr>
      <vt:lpstr>Wingdings</vt:lpstr>
      <vt:lpstr>微软雅黑</vt:lpstr>
      <vt:lpstr>Times New Roman</vt:lpstr>
      <vt:lpstr>Microsoft YaHei UI</vt:lpstr>
      <vt:lpstr>Arial</vt:lpstr>
      <vt:lpstr>Arial Unicode MS</vt:lpstr>
      <vt:lpstr>Calibri</vt:lpstr>
      <vt:lpstr>BatangChe</vt:lpstr>
      <vt:lpstr>Dolce Vita Light</vt:lpstr>
      <vt:lpstr>黑体</vt:lpstr>
      <vt:lpstr>华文琥珀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M771</cp:lastModifiedBy>
  <cp:revision>196</cp:revision>
  <dcterms:created xsi:type="dcterms:W3CDTF">2019-06-19T02:08:00Z</dcterms:created>
  <dcterms:modified xsi:type="dcterms:W3CDTF">2025-11-21T15:12:26Z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15851ED93F3E48D6B8D16D4C1F742E19_11</vt:lpwstr>
  </property>
</Properties>
</file>